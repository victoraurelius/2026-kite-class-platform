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lớp CNTT1-K63, dưới hướng dẫn của thầy Nguyễn Đức Dư. Em xin trình bày khóa luận: Xây dựng hệ thống SaaS cung cấp dịch vụ đào tạo —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bám bốn chương: tổng quan, thiết kế kiến trúc, cài đặt và triển khai, đánh giá kết quả; khép lại bằng demo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Bối cảnh: thị trường lớn, pháp luật hợp pháp hóa dạy thêm, đa số trung tâm nhỏ quản lý thủ công. Ba quan sát hội tụ: nhu cầu, mốc pháp lý cứng, AI vừa đủ chín. (~60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5 hệ thống tham khảo (thêm MISA AMIS). Hầu hết đơn-tenant, không AI. KiteHub khai thác khoảng trống đa-tenant gốc + AI Branding phân khúc giá thấp. (~70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nhóm mục tiêu: chức năng, phi chức năng đo được, pháp lý, phương pháp luận. Phạm vi tập trung mức sẵn sàng cho tenant thực tế. (~60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Đóng góp thứ nhất: tự động hóa nhận diện thương hiệu, dùng API thương mại thay vì tự host GPU. Pipeline bất đồng bộ không chặn giao diện, có quality gate và dự phòng provider. Bên phải là wizard thực tế. (~80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tích hợp từ thiết kế. PDPL mốc cứng 07/2026, với consent_record, quy trình DSAR và audit log bất biến cho Điều 11. Luật An ninh mạng có ngưỡng chưa chạm, có lộ trình. Thông tư 78 dùng đối tác MISA. (~70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trụ cột có cơ sở lý thuyết. Trụ cột bốn: mỗi sai sót thành quy tắc có kiểm tra. Kim tự tháp kiểm thử minh họa phân bố ba tầng test. (~50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tổng thể chia hai mặt phẳng: KiteHub control-plane quản lý vòng đời tenant; KiteClass data-plane phục vụ giáo dục. Chia sẻ một PostgreSQL cô lập bằng RLS. (~70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KiteHub 6 microservice vì vòng đời khác nhau (branding bất đồng bộ, email hàng đợi, subscription giao dịch); KiteClass modular monolith vì domain giáo dục gắn kết chặt. (~60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bốn mô hình. Chọn RLS vì chi phí thấp nhất và database engine ép buộc, không phụ thuộc lập trình viên nhớ điều kiện lọc. Đóng góp thứ hai. (~70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lớp độc lập. RLS là phòng tuyến cuối: quên kiểm tra tầng ứng dụng, database vẫn ép buộc. Phải thủng cả 5 lớp mới rò dữ liệu chéo tenant. (~60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domain giáo dục. ENROLLMENTS phân giải nhiều-nhiều học viên–lớp; điểm danh, điểm, thanh toán gắn quanh đăng ký. Mọi bảng mang tenant_id phục vụ RLS. (~50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đời tenant: từ chờ duyệt, sang dùng thử khi cấp magic-link, đến hoạt động chính thức. Sự kiện branding.deploy phát song song dựng template mặc định. (~50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AWS Singapore, VPC tách public/private subnet, RDS trong private subnet. Free Tier cho chi phí hạ tầng gần như 0, chi phí chính là AI Branding ~0,19 USD/tenant. Chưa vượt ngưỡng pháp lý, có lộ trình chuyển vùng.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chuẩn hiện đại: artifact bất biến, OIDC thay key tĩnh, xác nhận thủ công. Giám sát ba lớp; CloudTrail bật trước khi tạo tài nguyên để có audit baseline. (~50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giao diện thực tế: trang chủ thương hiệu riêng (minh chứng phân giải Tenant→Domain→Landing), dashboard, quản lý học viên. Sản phẩm chạy thật, không phải mô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Minh chứng giá trị AI Branding: bên trái gói Miễn phí mẫu dựng sẵn; bên phải gói Trả phí bộ nhận diện sinh tự động qua AI cho môn Hóa, tông màu khác hẳn. Hai tenant thật, hai thương hiệu riêng. (~70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chỉ số: hiệu năng 86, bảo mật 93, chất lượng 90/110, đều vượt ngưỡng đạt. Mỗi điểm số có audit report evidence block; trajectory cho thấy cải tiến đo được. (~80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(defense-demo-script.md): khách tham quan, đăng ký onboarding, wizard tạo tenant, chứng minh cô lập bằng 2 tài khoản khác tenant, xem audit log. Dự phòng video.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kèm lộ trình tốt hơn che giấu. Mỗi hạn chế có hướng phát triển: nâng cấp hạ tầng, chuyển vùng,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ba đóng góp: AI Branding, đa-tenant RLS, phương pháp luận hướng chất lượng. Sản phẩm triển khai thực tế, đạt ngưỡng đánh giá. Cảm ơn GVHD và hội đồng, em sẵn sàng nhận câu hỏi. (~40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640080" y="4443984"/>
            <a:ext cx="10881360" cy="914400"/>
          </a:xfrm>
          <a:prstGeom prst="rect">
            <a:avLst/>
          </a:prstGeom>
          <a:noFill/>
        </p:spPr>
        <p:txBody>
          <a:bodyPr wrap="none">
            <a:spAutoFit/>
          </a:bodyPr>
          <a:lstStyle/>
          <a:p>
            <a:pPr algn="ctr"/>
            <a:r>
              <a:rPr sz="2300" b="1">
                <a:solidFill>
                  <a:srgbClr val="1F3A6E"/>
                </a:solidFill>
              </a:rPr>
              <a:t>XÂY DỰNG HỆ THỐNG SAAS CUNG CẤP DỊCH VỤ ĐÀO TẠO</a:t>
            </a:r>
          </a:p>
          <a:p>
            <a:pPr algn="ctr"/>
            <a:r>
              <a:rPr sz="1300" i="1">
                <a:solidFill>
                  <a:srgbClr val="555555"/>
                </a:solidFill>
              </a:rPr>
              <a:t>Nền tảng KiteHub &amp; KiteClass — kiến trúc đa-tenant tích hợp AI</a:t>
            </a:r>
          </a:p>
        </p:txBody>
      </p:sp>
      <p:sp>
        <p:nvSpPr>
          <p:cNvPr id="3" name="TextBox 2"/>
          <p:cNvSpPr txBox="1"/>
          <p:nvPr/>
        </p:nvSpPr>
        <p:spPr>
          <a:xfrm>
            <a:off x="640080" y="5486400"/>
            <a:ext cx="10881360" cy="1188720"/>
          </a:xfrm>
          <a:prstGeom prst="rect">
            <a:avLst/>
          </a:prstGeom>
          <a:noFill/>
        </p:spPr>
        <p:txBody>
          <a:bodyPr wrap="none">
            <a:spAutoFit/>
          </a:bodyPr>
          <a:lstStyle/>
          <a:p/>
          <a:p>
            <a:pPr algn="ctr"/>
            <a:r>
              <a:rPr sz="1300" b="0">
                <a:solidFill>
                  <a:srgbClr val="222222"/>
                </a:solidFill>
              </a:rPr>
              <a:t>Sinh viên: Nguyễn Văn Kiệt — MSSV 221230890 — Lớp CNTT1-K63</a:t>
            </a:r>
          </a:p>
          <a:p>
            <a:pPr algn="ctr"/>
            <a:r>
              <a:rPr sz="1300" b="1">
                <a:solidFill>
                  <a:srgbClr val="222222"/>
                </a:solidFill>
              </a:rPr>
              <a:t>Giảng viên hướng dẫn: TS. Nguyễn Đức Dư</a:t>
            </a:r>
          </a:p>
          <a:p>
            <a:pPr algn="ctr"/>
            <a:r>
              <a:rPr sz="1300" b="0">
                <a:solidFill>
                  <a:srgbClr val="222222"/>
                </a:solidFill>
              </a:rPr>
              <a:t>Bộ môn Công nghệ phần mềm — Khoa Công nghệ thông tin — UTC,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Nội dung trình bày</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2</a:t>
            </a:r>
          </a:p>
        </p:txBody>
      </p:sp>
      <p:sp>
        <p:nvSpPr>
          <p:cNvPr id="4" name="Oval 3"/>
          <p:cNvSpPr/>
          <p:nvPr/>
        </p:nvSpPr>
        <p:spPr>
          <a:xfrm>
            <a:off x="1005840" y="1920240"/>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rPr>
              <a:t>1</a:t>
            </a:r>
          </a:p>
        </p:txBody>
      </p:sp>
      <p:sp>
        <p:nvSpPr>
          <p:cNvPr id="5" name="Rounded Rectangle 4"/>
          <p:cNvSpPr/>
          <p:nvPr/>
        </p:nvSpPr>
        <p:spPr>
          <a:xfrm>
            <a:off x="1783080" y="1920240"/>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rPr>
              <a:t>Tổng quan: bối cảnh, khảo sát thị trường, mục tiêu  (Chương 1)</a:t>
            </a:r>
          </a:p>
        </p:txBody>
      </p:sp>
      <p:sp>
        <p:nvSpPr>
          <p:cNvPr id="6" name="Oval 5"/>
          <p:cNvSpPr/>
          <p:nvPr/>
        </p:nvSpPr>
        <p:spPr>
          <a:xfrm>
            <a:off x="1005840" y="2798064"/>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rPr>
              <a:t>2</a:t>
            </a:r>
          </a:p>
        </p:txBody>
      </p:sp>
      <p:sp>
        <p:nvSpPr>
          <p:cNvPr id="7" name="Rounded Rectangle 6"/>
          <p:cNvSpPr/>
          <p:nvPr/>
        </p:nvSpPr>
        <p:spPr>
          <a:xfrm>
            <a:off x="1783080" y="2798064"/>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rPr>
              <a:t>Kỹ thuật AI, khung pháp lý, phương pháp luận  (Chương 1)</a:t>
            </a:r>
          </a:p>
        </p:txBody>
      </p:sp>
      <p:sp>
        <p:nvSpPr>
          <p:cNvPr id="8" name="Oval 7"/>
          <p:cNvSpPr/>
          <p:nvPr/>
        </p:nvSpPr>
        <p:spPr>
          <a:xfrm>
            <a:off x="1005840" y="3675887"/>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rPr>
              <a:t>3</a:t>
            </a:r>
          </a:p>
        </p:txBody>
      </p:sp>
      <p:sp>
        <p:nvSpPr>
          <p:cNvPr id="9" name="Rounded Rectangle 8"/>
          <p:cNvSpPr/>
          <p:nvPr/>
        </p:nvSpPr>
        <p:spPr>
          <a:xfrm>
            <a:off x="1783080" y="3675887"/>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rPr>
              <a:t>Phân tích và thiết kế kiến trúc đa-tenant  (Chương 2)</a:t>
            </a:r>
          </a:p>
        </p:txBody>
      </p:sp>
      <p:sp>
        <p:nvSpPr>
          <p:cNvPr id="10" name="Oval 9"/>
          <p:cNvSpPr/>
          <p:nvPr/>
        </p:nvSpPr>
        <p:spPr>
          <a:xfrm>
            <a:off x="1005840" y="4553712"/>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rPr>
              <a:t>4</a:t>
            </a:r>
          </a:p>
        </p:txBody>
      </p:sp>
      <p:sp>
        <p:nvSpPr>
          <p:cNvPr id="11" name="Rounded Rectangle 10"/>
          <p:cNvSpPr/>
          <p:nvPr/>
        </p:nvSpPr>
        <p:spPr>
          <a:xfrm>
            <a:off x="1783080" y="4553712"/>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rPr>
              <a:t>Cài đặt, triển khai AWS và kết quả  (Chương 3 &amp; 4)</a:t>
            </a:r>
          </a:p>
        </p:txBody>
      </p:sp>
      <p:sp>
        <p:nvSpPr>
          <p:cNvPr id="12" name="Oval 11"/>
          <p:cNvSpPr/>
          <p:nvPr/>
        </p:nvSpPr>
        <p:spPr>
          <a:xfrm>
            <a:off x="1005840" y="5431536"/>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rPr>
              <a:t>5</a:t>
            </a:r>
          </a:p>
        </p:txBody>
      </p:sp>
      <p:sp>
        <p:nvSpPr>
          <p:cNvPr id="13" name="Rounded Rectangle 12"/>
          <p:cNvSpPr/>
          <p:nvPr/>
        </p:nvSpPr>
        <p:spPr>
          <a:xfrm>
            <a:off x="1783080" y="5431536"/>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rPr>
              <a:t>Demo trực tiếp, hạn chế và kết luận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Bối cảnh và vấn đề (§1.1)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3</a:t>
            </a:r>
          </a:p>
        </p:txBody>
      </p:sp>
      <p:sp>
        <p:nvSpPr>
          <p:cNvPr id="4" name="TextBox 3"/>
          <p:cNvSpPr txBox="1"/>
          <p:nvPr/>
        </p:nvSpPr>
        <p:spPr>
          <a:xfrm>
            <a:off x="685800" y="1691640"/>
            <a:ext cx="10881360" cy="4206240"/>
          </a:xfrm>
          <a:prstGeom prst="rect">
            <a:avLst/>
          </a:prstGeom>
          <a:noFill/>
        </p:spPr>
        <p:txBody>
          <a:bodyPr wrap="square">
            <a:spAutoFit/>
          </a:bodyPr>
          <a:lstStyle/>
          <a:p>
            <a:pPr>
              <a:spcAft>
                <a:spcPts val="1000"/>
              </a:spcAft>
            </a:pPr>
            <a:r>
              <a:rPr sz="1600" b="0">
                <a:solidFill>
                  <a:srgbClr val="222222"/>
                </a:solidFill>
              </a:rPr>
              <a:t>▸  Thông tư 29/2024/TT-BGDĐT chính thức hóa hoạt động dạy thêm có thu phí</a:t>
            </a:r>
          </a:p>
          <a:p>
            <a:pPr>
              <a:spcAft>
                <a:spcPts val="1000"/>
              </a:spcAft>
            </a:pPr>
            <a:r>
              <a:rPr sz="1600" b="0">
                <a:solidFill>
                  <a:srgbClr val="222222"/>
                </a:solidFill>
              </a:rPr>
              <a:t>▸  Hơn 50.000 trung tâm dạy thêm tư nhân đang hoạt động tại Việt Nam</a:t>
            </a:r>
          </a:p>
          <a:p>
            <a:pPr>
              <a:spcAft>
                <a:spcPts val="1000"/>
              </a:spcAft>
            </a:pPr>
            <a:r>
              <a:rPr sz="1600" b="0">
                <a:solidFill>
                  <a:srgbClr val="222222"/>
                </a:solidFill>
              </a:rPr>
              <a:t>▸  Phần lớn trung tâm vừa và nhỏ vẫn quản lý bằng Excel và nhóm Zalo</a:t>
            </a:r>
          </a:p>
          <a:p>
            <a:pPr>
              <a:spcAft>
                <a:spcPts val="1000"/>
              </a:spcAft>
            </a:pPr>
            <a:r>
              <a:rPr sz="1600" b="1">
                <a:solidFill>
                  <a:srgbClr val="1F3A6E"/>
                </a:solidFill>
              </a:rPr>
              <a:t>▸  Ba quan sát thúc đẩy đề tài:</a:t>
            </a:r>
          </a:p>
          <a:p>
            <a:pPr lvl="1">
              <a:spcAft>
                <a:spcPts val="600"/>
              </a:spcAft>
            </a:pPr>
            <a:r>
              <a:rPr sz="1300" b="0">
                <a:solidFill>
                  <a:srgbClr val="222222"/>
                </a:solidFill>
              </a:rPr>
              <a:t>•  Khoảng trống thị trường: trung tâm 100–2000 học viên cần phần mềm 0,5–1,5 triệu đồng/tháng, đa-tenant gốc</a:t>
            </a:r>
          </a:p>
          <a:p>
            <a:pPr lvl="1">
              <a:spcAft>
                <a:spcPts val="600"/>
              </a:spcAft>
            </a:pPr>
            <a:r>
              <a:rPr sz="1300" b="0">
                <a:solidFill>
                  <a:srgbClr val="222222"/>
                </a:solidFill>
              </a:rPr>
              <a:t>•  Mốc pháp lý: Luật Bảo vệ dữ liệu cá nhân 2023 hiệu lực 07/2026 — tích hợp tuân thủ ngay từ thiết kế</a:t>
            </a:r>
          </a:p>
          <a:p>
            <a:pPr lvl="1">
              <a:spcAft>
                <a:spcPts val="600"/>
              </a:spcAft>
            </a:pPr>
            <a:r>
              <a:rPr sz="1300" b="0">
                <a:solidFill>
                  <a:srgbClr val="222222"/>
                </a:solidFill>
              </a:rPr>
              <a:t>•  Công nghệ AI trưởng thành: API thương mại cho phép tự động hóa nhận diện thương hiệu chi phí thấp</a:t>
            </a:r>
          </a:p>
        </p:txBody>
      </p:sp>
      <p:sp>
        <p:nvSpPr>
          <p:cNvPr id="5" name="TextBox 4"/>
          <p:cNvSpPr txBox="1"/>
          <p:nvPr/>
        </p:nvSpPr>
        <p:spPr>
          <a:xfrm>
            <a:off x="548640" y="5897880"/>
            <a:ext cx="11064240" cy="457200"/>
          </a:xfrm>
          <a:prstGeom prst="rect">
            <a:avLst/>
          </a:prstGeom>
          <a:noFill/>
        </p:spPr>
        <p:txBody>
          <a:bodyPr wrap="none">
            <a:spAutoFit/>
          </a:bodyPr>
          <a:lstStyle/>
          <a:p>
            <a:pPr algn="ctr"/>
            <a:r>
              <a:rPr sz="1100" i="1">
                <a:solidFill>
                  <a:srgbClr val="555555"/>
                </a:solidFill>
              </a:rPr>
              <a:t>Nguồn: Magenest EdTech 2024; 6Wresearch 2024–2030; VECITA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Khảo sát hệ thống tương tự (§1.3)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4</a:t>
            </a:r>
          </a:p>
        </p:txBody>
      </p:sp>
      <p:pic>
        <p:nvPicPr>
          <p:cNvPr id="4" name="Picture 3" descr="fig-1.1-beeclass.png"/>
          <p:cNvPicPr>
            <a:picLocks noChangeAspect="1"/>
          </p:cNvPicPr>
          <p:nvPr/>
        </p:nvPicPr>
        <p:blipFill>
          <a:blip r:embed="rId3"/>
          <a:stretch>
            <a:fillRect/>
          </a:stretch>
        </p:blipFill>
        <p:spPr>
          <a:xfrm>
            <a:off x="1600200" y="1691640"/>
            <a:ext cx="3291840" cy="2057400"/>
          </a:xfrm>
          <a:prstGeom prst="rect">
            <a:avLst/>
          </a:prstGeom>
          <a:ln w="9525">
            <a:solidFill>
              <a:srgbClr val="C8D2E0"/>
            </a:solidFill>
          </a:ln>
        </p:spPr>
      </p:pic>
      <p:pic>
        <p:nvPicPr>
          <p:cNvPr id="5" name="Picture 4" descr="fig-1.2-mona.png"/>
          <p:cNvPicPr>
            <a:picLocks noChangeAspect="1"/>
          </p:cNvPicPr>
          <p:nvPr/>
        </p:nvPicPr>
        <p:blipFill>
          <a:blip r:embed="rId4"/>
          <a:stretch>
            <a:fillRect/>
          </a:stretch>
        </p:blipFill>
        <p:spPr>
          <a:xfrm>
            <a:off x="7269480" y="1691640"/>
            <a:ext cx="3291840" cy="2057400"/>
          </a:xfrm>
          <a:prstGeom prst="rect">
            <a:avLst/>
          </a:prstGeom>
          <a:ln w="9525">
            <a:solidFill>
              <a:srgbClr val="C8D2E0"/>
            </a:solidFill>
          </a:ln>
        </p:spPr>
      </p:pic>
      <p:pic>
        <p:nvPicPr>
          <p:cNvPr id="6" name="Picture 5" descr="fig-1.3-easyedu.png"/>
          <p:cNvPicPr>
            <a:picLocks noChangeAspect="1"/>
          </p:cNvPicPr>
          <p:nvPr/>
        </p:nvPicPr>
        <p:blipFill>
          <a:blip r:embed="rId5"/>
          <a:stretch>
            <a:fillRect/>
          </a:stretch>
        </p:blipFill>
        <p:spPr>
          <a:xfrm>
            <a:off x="1673352" y="3840480"/>
            <a:ext cx="3145536" cy="1965960"/>
          </a:xfrm>
          <a:prstGeom prst="rect">
            <a:avLst/>
          </a:prstGeom>
          <a:ln w="9525">
            <a:solidFill>
              <a:srgbClr val="C8D2E0"/>
            </a:solidFill>
          </a:ln>
        </p:spPr>
      </p:pic>
      <p:pic>
        <p:nvPicPr>
          <p:cNvPr id="7" name="Picture 6" descr="fig-1.4-dotb.png"/>
          <p:cNvPicPr>
            <a:picLocks noChangeAspect="1"/>
          </p:cNvPicPr>
          <p:nvPr/>
        </p:nvPicPr>
        <p:blipFill>
          <a:blip r:embed="rId6"/>
          <a:stretch>
            <a:fillRect/>
          </a:stretch>
        </p:blipFill>
        <p:spPr>
          <a:xfrm>
            <a:off x="7342632" y="3840480"/>
            <a:ext cx="3145536" cy="1965960"/>
          </a:xfrm>
          <a:prstGeom prst="rect">
            <a:avLst/>
          </a:prstGeom>
          <a:ln w="9525">
            <a:solidFill>
              <a:srgbClr val="C8D2E0"/>
            </a:solidFill>
          </a:ln>
        </p:spPr>
      </p:pic>
      <p:sp>
        <p:nvSpPr>
          <p:cNvPr id="8" name="TextBox 7"/>
          <p:cNvSpPr txBox="1"/>
          <p:nvPr/>
        </p:nvSpPr>
        <p:spPr>
          <a:xfrm>
            <a:off x="548640" y="5989320"/>
            <a:ext cx="11064240" cy="457200"/>
          </a:xfrm>
          <a:prstGeom prst="rect">
            <a:avLst/>
          </a:prstGeom>
          <a:noFill/>
        </p:spPr>
        <p:txBody>
          <a:bodyPr wrap="none">
            <a:spAutoFit/>
          </a:bodyPr>
          <a:lstStyle/>
          <a:p>
            <a:pPr algn="ctr"/>
            <a:r>
              <a:rPr sz="1100" i="1">
                <a:solidFill>
                  <a:srgbClr val="555555"/>
                </a:solidFill>
              </a:rPr>
              <a:t>Hình 1.1–1.4: BeeClass, Mona eLMS, Easy Edu, DotB — đều đơn-tenant, không AI. KiteHub khác biệt: đa-tenant RLS gốc + AI Branding.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Mục tiêu và phạm vi đề tài (§1.7)</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5</a:t>
            </a:r>
          </a:p>
        </p:txBody>
      </p:sp>
      <p:sp>
        <p:nvSpPr>
          <p:cNvPr id="4" name="TextBox 3"/>
          <p:cNvSpPr txBox="1"/>
          <p:nvPr/>
        </p:nvSpPr>
        <p:spPr>
          <a:xfrm>
            <a:off x="685800" y="1691640"/>
            <a:ext cx="10881360" cy="4206240"/>
          </a:xfrm>
          <a:prstGeom prst="rect">
            <a:avLst/>
          </a:prstGeom>
          <a:noFill/>
        </p:spPr>
        <p:txBody>
          <a:bodyPr wrap="square">
            <a:spAutoFit/>
          </a:bodyPr>
          <a:lstStyle/>
          <a:p>
            <a:pPr>
              <a:spcAft>
                <a:spcPts val="1000"/>
              </a:spcAft>
            </a:pPr>
            <a:r>
              <a:rPr sz="1600" b="1">
                <a:solidFill>
                  <a:srgbClr val="1F3A6E"/>
                </a:solidFill>
              </a:rPr>
              <a:t>▸  Bốn nhóm mục tiêu:</a:t>
            </a:r>
          </a:p>
          <a:p>
            <a:pPr lvl="1">
              <a:spcAft>
                <a:spcPts val="600"/>
              </a:spcAft>
            </a:pPr>
            <a:r>
              <a:rPr sz="1300" b="0">
                <a:solidFill>
                  <a:srgbClr val="222222"/>
                </a:solidFill>
              </a:rPr>
              <a:t>•  Chức năng: onboarding wizard, AI Branding, vòng đời tenant, tuân thủ tích hợp sẵn</a:t>
            </a:r>
          </a:p>
          <a:p>
            <a:pPr lvl="1">
              <a:spcAft>
                <a:spcPts val="600"/>
              </a:spcAft>
            </a:pPr>
            <a:r>
              <a:rPr sz="1300" b="0">
                <a:solidFill>
                  <a:srgbClr val="222222"/>
                </a:solidFill>
              </a:rPr>
              <a:t>•  Phi chức năng: p95 ≤ 500ms (API đọc), cô lập cấp database, OWASP Top 10, ≥100 tenant/instance</a:t>
            </a:r>
          </a:p>
          <a:p>
            <a:pPr lvl="1">
              <a:spcAft>
                <a:spcPts val="600"/>
              </a:spcAft>
            </a:pPr>
            <a:r>
              <a:rPr sz="1300" b="0">
                <a:solidFill>
                  <a:srgbClr val="222222"/>
                </a:solidFill>
              </a:rPr>
              <a:t>•  Pháp lý: PDPL 2023 + Luật An ninh mạng 2018 + Thông tư 78/2021/TT-BTC</a:t>
            </a:r>
          </a:p>
          <a:p>
            <a:pPr lvl="1">
              <a:spcAft>
                <a:spcPts val="600"/>
              </a:spcAft>
            </a:pPr>
            <a:r>
              <a:rPr sz="1300" b="0">
                <a:solidFill>
                  <a:srgbClr val="222222"/>
                </a:solidFill>
              </a:rPr>
              <a:t>•  Phương pháp luận: phát triển hướng chất lượng — kiểm thử trước, vòng lặp ngắn 1–3 ngày</a:t>
            </a:r>
          </a:p>
          <a:p>
            <a:pPr>
              <a:spcAft>
                <a:spcPts val="1000"/>
              </a:spcAft>
            </a:pPr>
            <a:r>
              <a:rPr sz="1600" b="1">
                <a:solidFill>
                  <a:srgbClr val="1F3A6E"/>
                </a:solidFill>
              </a:rPr>
              <a:t>▸  Phạm vi thực hiện: wizard tự phục vụ, AI Branding, cô lập RLS, tuân thủ pháp lý, triển khai AWS</a:t>
            </a:r>
          </a:p>
          <a:p>
            <a:pPr>
              <a:spcAft>
                <a:spcPts val="1000"/>
              </a:spcAft>
            </a:pPr>
            <a:r>
              <a:rPr sz="1600" b="1">
                <a:solidFill>
                  <a:srgbClr val="555555"/>
                </a:solidFill>
              </a:rPr>
              <a:t>▸  Phát triển sau: thanh toán đa cổng, hóa đơn điện tử, ứng dụng di động, mở rộng khối K-12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Đóng góp 1 — Kỹ thuật AI Branding (§1.4)</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6</a:t>
            </a:r>
          </a:p>
        </p:txBody>
      </p:sp>
      <p:sp>
        <p:nvSpPr>
          <p:cNvPr id="4" name="TextBox 3"/>
          <p:cNvSpPr txBox="1"/>
          <p:nvPr/>
        </p:nvSpPr>
        <p:spPr>
          <a:xfrm>
            <a:off x="502920" y="1691640"/>
            <a:ext cx="6126480" cy="4206240"/>
          </a:xfrm>
          <a:prstGeom prst="rect">
            <a:avLst/>
          </a:prstGeom>
          <a:noFill/>
        </p:spPr>
        <p:txBody>
          <a:bodyPr wrap="square">
            <a:spAutoFit/>
          </a:bodyPr>
          <a:lstStyle/>
          <a:p>
            <a:pPr>
              <a:spcAft>
                <a:spcPts val="1000"/>
              </a:spcAft>
            </a:pPr>
            <a:r>
              <a:rPr sz="1500" b="0">
                <a:solidFill>
                  <a:srgbClr val="222222"/>
                </a:solidFill>
              </a:rPr>
              <a:t>▸  Sinh logo + ảnh bìa + banner tự động khi tenant đăng ký (Stable Diffusion XL qua Replicate)</a:t>
            </a:r>
          </a:p>
          <a:p>
            <a:pPr>
              <a:spcAft>
                <a:spcPts val="1000"/>
              </a:spcAft>
            </a:pPr>
            <a:r>
              <a:rPr sz="1500" b="0">
                <a:solidFill>
                  <a:srgbClr val="222222"/>
                </a:solidFill>
              </a:rPr>
              <a:t>▸  Pipeline bất đồng bộ: Form → Gateway → Orchestrator → RabbitMQ → Worker → AI → Quality Gate → S3</a:t>
            </a:r>
          </a:p>
          <a:p>
            <a:pPr>
              <a:spcAft>
                <a:spcPts val="1000"/>
              </a:spcAft>
            </a:pPr>
            <a:r>
              <a:rPr sz="1500" b="0">
                <a:solidFill>
                  <a:srgbClr val="222222"/>
                </a:solidFill>
              </a:rPr>
              <a:t>▸  Quality Gate lọc NSFW + brand-fit; dự phòng Hugging Face; retry tối đa 3 lần</a:t>
            </a:r>
          </a:p>
          <a:p>
            <a:pPr>
              <a:spcAft>
                <a:spcPts val="1000"/>
              </a:spcAft>
            </a:pPr>
            <a:r>
              <a:rPr sz="1500" b="1">
                <a:solidFill>
                  <a:srgbClr val="1E7E34"/>
                </a:solidFill>
              </a:rPr>
              <a:t>▸  Chi phí ~0,0036 USD/3 ảnh; thời gian 30–60 giây</a:t>
            </a:r>
          </a:p>
        </p:txBody>
      </p:sp>
      <p:sp>
        <p:nvSpPr>
          <p:cNvPr id="5" name="Rounded Rectangle 4"/>
          <p:cNvSpPr/>
          <p:nvPr/>
        </p:nvSpPr>
        <p:spPr>
          <a:xfrm>
            <a:off x="6583680" y="1645920"/>
            <a:ext cx="53492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4-ai-wizard.png"/>
          <p:cNvPicPr>
            <a:picLocks noChangeAspect="1"/>
          </p:cNvPicPr>
          <p:nvPr/>
        </p:nvPicPr>
        <p:blipFill>
          <a:blip r:embed="rId3"/>
          <a:stretch>
            <a:fillRect/>
          </a:stretch>
        </p:blipFill>
        <p:spPr>
          <a:xfrm>
            <a:off x="6784848" y="2248853"/>
            <a:ext cx="4946903" cy="3091814"/>
          </a:xfrm>
          <a:prstGeom prst="rect">
            <a:avLst/>
          </a:prstGeom>
        </p:spPr>
      </p:pic>
      <p:sp>
        <p:nvSpPr>
          <p:cNvPr id="7" name="TextBox 6"/>
          <p:cNvSpPr txBox="1"/>
          <p:nvPr/>
        </p:nvSpPr>
        <p:spPr>
          <a:xfrm>
            <a:off x="6400800" y="5989320"/>
            <a:ext cx="5486400" cy="457200"/>
          </a:xfrm>
          <a:prstGeom prst="rect">
            <a:avLst/>
          </a:prstGeom>
          <a:noFill/>
        </p:spPr>
        <p:txBody>
          <a:bodyPr wrap="none">
            <a:spAutoFit/>
          </a:bodyPr>
          <a:lstStyle/>
          <a:p>
            <a:pPr algn="ctr"/>
            <a:r>
              <a:rPr sz="1100" i="1">
                <a:solidFill>
                  <a:srgbClr val="555555"/>
                </a:solidFill>
              </a:rPr>
              <a:t>Hình 3.4 — Trình hướng dẫn AI Branding cho chủ trung tâm.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Tuân thủ pháp luật Việt Nam (§1.5)</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7</a:t>
            </a:r>
          </a:p>
        </p:txBody>
      </p:sp>
      <p:graphicFrame>
        <p:nvGraphicFramePr>
          <p:cNvPr id="4" name="Table 3"/>
          <p:cNvGraphicFramePr>
            <a:graphicFrameLocks noGrp="1"/>
          </p:cNvGraphicFramePr>
          <p:nvPr/>
        </p:nvGraphicFramePr>
        <p:xfrm>
          <a:off x="502920" y="1828800"/>
          <a:ext cx="11155680" cy="1463040"/>
        </p:xfrm>
        <a:graphic>
          <a:graphicData uri="http://schemas.openxmlformats.org/drawingml/2006/table">
            <a:tbl>
              <a:tblPr firstRow="1" bandRow="1">
                <a:tableStyleId>{5C22544A-7EE6-4342-B048-85BDC9FD1C3A}</a:tableStyleId>
              </a:tblPr>
              <a:tblGrid>
                <a:gridCol w="2834640"/>
                <a:gridCol w="4297680"/>
                <a:gridCol w="4023360"/>
              </a:tblGrid>
              <a:tr h="365760">
                <a:tc>
                  <a:txBody>
                    <a:bodyPr/>
                    <a:lstStyle/>
                    <a:p>
                      <a:r>
                        <a:rPr sz="1200" b="1">
                          <a:solidFill>
                            <a:srgbClr val="FFFFFF"/>
                          </a:solidFill>
                        </a:rPr>
                        <a:t>Văn bản</a:t>
                      </a:r>
                    </a:p>
                  </a:txBody>
                  <a:tcPr marL="64008" marR="64008" marT="18288" marB="18288" anchor="ctr">
                    <a:solidFill>
                      <a:srgbClr val="2E2C7E"/>
                    </a:solidFill>
                  </a:tcPr>
                </a:tc>
                <a:tc>
                  <a:txBody>
                    <a:bodyPr/>
                    <a:lstStyle/>
                    <a:p>
                      <a:r>
                        <a:rPr sz="1200" b="1">
                          <a:solidFill>
                            <a:srgbClr val="FFFFFF"/>
                          </a:solidFill>
                        </a:rPr>
                        <a:t>Yêu cầu chính</a:t>
                      </a:r>
                    </a:p>
                  </a:txBody>
                  <a:tcPr marL="64008" marR="64008" marT="18288" marB="18288" anchor="ctr">
                    <a:solidFill>
                      <a:srgbClr val="2E2C7E"/>
                    </a:solidFill>
                  </a:tcPr>
                </a:tc>
                <a:tc>
                  <a:txBody>
                    <a:bodyPr/>
                    <a:lstStyle/>
                    <a:p>
                      <a:r>
                        <a:rPr sz="1200" b="1">
                          <a:solidFill>
                            <a:srgbClr val="FFFFFF"/>
                          </a:solidFill>
                        </a:rPr>
                        <a:t>Cách hiện thực</a:t>
                      </a:r>
                    </a:p>
                  </a:txBody>
                  <a:tcPr marL="64008" marR="64008" marT="18288" marB="18288" anchor="ctr">
                    <a:solidFill>
                      <a:srgbClr val="2E2C7E"/>
                    </a:solidFill>
                  </a:tcPr>
                </a:tc>
              </a:tr>
              <a:tr h="365760">
                <a:tc>
                  <a:txBody>
                    <a:bodyPr/>
                    <a:lstStyle/>
                    <a:p>
                      <a:r>
                        <a:rPr sz="1200"/>
                        <a:t>PDPL 2023</a:t>
                      </a:r>
                    </a:p>
                  </a:txBody>
                  <a:tcPr marL="64008" marR="64008" marT="18288" marB="18288" anchor="ctr">
                    <a:solidFill>
                      <a:srgbClr val="FFFFFF"/>
                    </a:solidFill>
                  </a:tcPr>
                </a:tc>
                <a:tc>
                  <a:txBody>
                    <a:bodyPr/>
                    <a:lstStyle/>
                    <a:p>
                      <a:r>
                        <a:rPr sz="1200"/>
                        <a:t>Consent cụ thể; quyền truy cập/xóa; DPO khi &gt;10k chủ thể; báo vi phạm 72h</a:t>
                      </a:r>
                    </a:p>
                  </a:txBody>
                  <a:tcPr marL="64008" marR="64008" marT="18288" marB="18288" anchor="ctr">
                    <a:solidFill>
                      <a:srgbClr val="FFFFFF"/>
                    </a:solidFill>
                  </a:tcPr>
                </a:tc>
                <a:tc>
                  <a:txBody>
                    <a:bodyPr/>
                    <a:lstStyle/>
                    <a:p>
                      <a:r>
                        <a:rPr sz="1200"/>
                        <a:t>consent_record; quy trình DSAR; audit log bất biến V60 (Điều 11)</a:t>
                      </a:r>
                    </a:p>
                  </a:txBody>
                  <a:tcPr marL="64008" marR="64008" marT="18288" marB="18288" anchor="ctr">
                    <a:solidFill>
                      <a:srgbClr val="FFFFFF"/>
                    </a:solidFill>
                  </a:tcPr>
                </a:tc>
              </a:tr>
              <a:tr h="365760">
                <a:tc>
                  <a:txBody>
                    <a:bodyPr/>
                    <a:lstStyle/>
                    <a:p>
                      <a:r>
                        <a:rPr sz="1200"/>
                        <a:t>Luật An ninh mạng 2018</a:t>
                      </a:r>
                    </a:p>
                    <a:p>
                      <a:r>
                        <a:rPr sz="1200"/>
                        <a:t>+ Nghị định 53/2022</a:t>
                      </a:r>
                    </a:p>
                  </a:txBody>
                  <a:tcPr marL="64008" marR="64008" marT="18288" marB="18288" anchor="ctr">
                    <a:solidFill>
                      <a:srgbClr val="ECEFF6"/>
                    </a:solidFill>
                  </a:tcPr>
                </a:tc>
                <a:tc>
                  <a:txBody>
                    <a:bodyPr/>
                    <a:lstStyle/>
                    <a:p>
                      <a:r>
                        <a:rPr sz="1200"/>
                        <a:t>Lưu trữ dữ liệu tại VN khi vượt 1 triệu người dùng</a:t>
                      </a:r>
                    </a:p>
                  </a:txBody>
                  <a:tcPr marL="64008" marR="64008" marT="18288" marB="18288" anchor="ctr">
                    <a:solidFill>
                      <a:srgbClr val="ECEFF6"/>
                    </a:solidFill>
                  </a:tcPr>
                </a:tc>
                <a:tc>
                  <a:txBody>
                    <a:bodyPr/>
                    <a:lstStyle/>
                    <a:p>
                      <a:r>
                        <a:rPr sz="1200"/>
                        <a:t>Lộ trình chuyển AWS Hà Nội Local Zone / Viettel / VNG</a:t>
                      </a:r>
                    </a:p>
                  </a:txBody>
                  <a:tcPr marL="64008" marR="64008" marT="18288" marB="18288" anchor="ctr">
                    <a:solidFill>
                      <a:srgbClr val="ECEFF6"/>
                    </a:solidFill>
                  </a:tcPr>
                </a:tc>
              </a:tr>
              <a:tr h="365760">
                <a:tc>
                  <a:txBody>
                    <a:bodyPr/>
                    <a:lstStyle/>
                    <a:p>
                      <a:r>
                        <a:rPr sz="1200"/>
                        <a:t>Thông tư 78/2021/TT-BTC</a:t>
                      </a:r>
                    </a:p>
                  </a:txBody>
                  <a:tcPr marL="64008" marR="64008" marT="18288" marB="18288" anchor="ctr">
                    <a:solidFill>
                      <a:srgbClr val="FFFFFF"/>
                    </a:solidFill>
                  </a:tcPr>
                </a:tc>
                <a:tc>
                  <a:txBody>
                    <a:bodyPr/>
                    <a:lstStyle/>
                    <a:p>
                      <a:r>
                        <a:rPr sz="1200"/>
                        <a:t>Hóa đơn điện tử, kết nối cơ quan thuế</a:t>
                      </a:r>
                    </a:p>
                  </a:txBody>
                  <a:tcPr marL="64008" marR="64008" marT="18288" marB="18288" anchor="ctr">
                    <a:solidFill>
                      <a:srgbClr val="FFFFFF"/>
                    </a:solidFill>
                  </a:tcPr>
                </a:tc>
                <a:tc>
                  <a:txBody>
                    <a:bodyPr/>
                    <a:lstStyle/>
                    <a:p>
                      <a:r>
                        <a:rPr sz="1200"/>
                        <a:t>Tích hợp đối tác MISA MeInvoice</a:t>
                      </a:r>
                    </a:p>
                  </a:txBody>
                  <a:tcPr marL="64008" marR="64008" marT="18288" marB="18288" anchor="ctr">
                    <a:solidFill>
                      <a:srgbClr val="FFFFFF"/>
                    </a:solidFill>
                  </a:tcPr>
                </a:tc>
              </a:tr>
            </a:tbl>
          </a:graphicData>
        </a:graphic>
      </p:graphicFrame>
      <p:sp>
        <p:nvSpPr>
          <p:cNvPr id="5" name="TextBox 4"/>
          <p:cNvSpPr txBox="1"/>
          <p:nvPr/>
        </p:nvSpPr>
        <p:spPr>
          <a:xfrm>
            <a:off x="548640" y="5669280"/>
            <a:ext cx="11064240" cy="457200"/>
          </a:xfrm>
          <a:prstGeom prst="rect">
            <a:avLst/>
          </a:prstGeom>
          <a:noFill/>
        </p:spPr>
        <p:txBody>
          <a:bodyPr wrap="none">
            <a:spAutoFit/>
          </a:bodyPr>
          <a:lstStyle/>
          <a:p>
            <a:pPr algn="ctr"/>
            <a:r>
              <a:rPr sz="1100" i="1">
                <a:solidFill>
                  <a:srgbClr val="555555"/>
                </a:solidFill>
              </a:rPr>
              <a:t>Tuân thủ ngay từ thiết kế (compliance-by-design): consent, DSAR, audit log bất biến tích hợp từ 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Phương pháp luận hướng chất lượng (§1.6)</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8</a:t>
            </a:r>
          </a:p>
        </p:txBody>
      </p:sp>
      <p:sp>
        <p:nvSpPr>
          <p:cNvPr id="4" name="TextBox 3"/>
          <p:cNvSpPr txBox="1"/>
          <p:nvPr/>
        </p:nvSpPr>
        <p:spPr>
          <a:xfrm>
            <a:off x="502920" y="1691640"/>
            <a:ext cx="6309360" cy="4206240"/>
          </a:xfrm>
          <a:prstGeom prst="rect">
            <a:avLst/>
          </a:prstGeom>
          <a:noFill/>
        </p:spPr>
        <p:txBody>
          <a:bodyPr wrap="square">
            <a:spAutoFit/>
          </a:bodyPr>
          <a:lstStyle/>
          <a:p>
            <a:pPr>
              <a:spcAft>
                <a:spcPts val="1000"/>
              </a:spcAft>
            </a:pPr>
            <a:r>
              <a:rPr sz="1600" b="0">
                <a:solidFill>
                  <a:srgbClr val="222222"/>
                </a:solidFill>
              </a:rPr>
              <a:t>▸  Vòng lặp ngắn 1–3 ngày, phạm vi + tiêu chí nghiệm thu rõ ràng</a:t>
            </a:r>
          </a:p>
          <a:p>
            <a:pPr>
              <a:spcAft>
                <a:spcPts val="1000"/>
              </a:spcAft>
            </a:pPr>
            <a:r>
              <a:rPr sz="1600" b="0">
                <a:solidFill>
                  <a:srgbClr val="222222"/>
                </a:solidFill>
              </a:rPr>
              <a:t>▸  Kiểm thử trước (test-first), coverage ≥ 70%</a:t>
            </a:r>
          </a:p>
          <a:p>
            <a:pPr>
              <a:spcAft>
                <a:spcPts val="1000"/>
              </a:spcAft>
            </a:pPr>
            <a:r>
              <a:rPr sz="1600" b="0">
                <a:solidFill>
                  <a:srgbClr val="222222"/>
                </a:solidFill>
              </a:rPr>
              <a:t>▸  Đánh giá theo kỳ (audit): bảo mật / hiệu năng / nghiệp vụ / giao diện / vận hành</a:t>
            </a:r>
          </a:p>
          <a:p>
            <a:pPr>
              <a:spcAft>
                <a:spcPts val="1000"/>
              </a:spcAft>
            </a:pPr>
            <a:r>
              <a:rPr sz="1600" b="0">
                <a:solidFill>
                  <a:srgbClr val="222222"/>
                </a:solidFill>
              </a:rPr>
              <a:t>▸  Chuẩn hóa quy tắc: mỗi sai sót → quy tắc + kiểm tra tự động</a:t>
            </a:r>
          </a:p>
          <a:p>
            <a:pPr>
              <a:spcAft>
                <a:spcPts val="1000"/>
              </a:spcAft>
            </a:pPr>
            <a:r>
              <a:rPr sz="1600" b="1">
                <a:solidFill>
                  <a:srgbClr val="555555"/>
                </a:solidFill>
              </a:rPr>
              <a:t>▸  Cơ sở: Deming PDCA, Beck TDD, Poppendieck Lean, IEEE 730</a:t>
            </a:r>
          </a:p>
        </p:txBody>
      </p:sp>
      <p:sp>
        <p:nvSpPr>
          <p:cNvPr id="5" name="Rounded Rectangle 4"/>
          <p:cNvSpPr/>
          <p:nvPr/>
        </p:nvSpPr>
        <p:spPr>
          <a:xfrm>
            <a:off x="6766560" y="1691640"/>
            <a:ext cx="5120640" cy="420624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6-test-pyramid.png"/>
          <p:cNvPicPr>
            <a:picLocks noChangeAspect="1"/>
          </p:cNvPicPr>
          <p:nvPr/>
        </p:nvPicPr>
        <p:blipFill>
          <a:blip r:embed="rId3"/>
          <a:stretch>
            <a:fillRect/>
          </a:stretch>
        </p:blipFill>
        <p:spPr>
          <a:xfrm>
            <a:off x="8209989" y="1892808"/>
            <a:ext cx="2233781" cy="3803903"/>
          </a:xfrm>
          <a:prstGeom prst="rect">
            <a:avLst/>
          </a:prstGeom>
        </p:spPr>
      </p:pic>
      <p:sp>
        <p:nvSpPr>
          <p:cNvPr id="7" name="TextBox 6"/>
          <p:cNvSpPr txBox="1"/>
          <p:nvPr/>
        </p:nvSpPr>
        <p:spPr>
          <a:xfrm>
            <a:off x="6583680" y="5943600"/>
            <a:ext cx="5120640" cy="457200"/>
          </a:xfrm>
          <a:prstGeom prst="rect">
            <a:avLst/>
          </a:prstGeom>
          <a:noFill/>
        </p:spPr>
        <p:txBody>
          <a:bodyPr wrap="none">
            <a:spAutoFit/>
          </a:bodyPr>
          <a:lstStyle/>
          <a:p>
            <a:pPr algn="ctr"/>
            <a:r>
              <a:rPr sz="1100" i="1">
                <a:solidFill>
                  <a:srgbClr val="555555"/>
                </a:solidFill>
              </a:rPr>
              <a:t>Hình 3.6 — Kim tự tháp kiểm thử áp dụng cho KiteHub.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Kiến trúc tổng thể — C4 Level 1 (Hình 2.1)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9</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1-c4-context.png"/>
          <p:cNvPicPr>
            <a:picLocks noChangeAspect="1"/>
          </p:cNvPicPr>
          <p:nvPr/>
        </p:nvPicPr>
        <p:blipFill>
          <a:blip r:embed="rId3"/>
          <a:stretch>
            <a:fillRect/>
          </a:stretch>
        </p:blipFill>
        <p:spPr>
          <a:xfrm>
            <a:off x="3544235" y="1792224"/>
            <a:ext cx="510048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2.1 — Sơ đồ ngữ cảnh: KiteHub (control-plane) + KiteClass (data-plane) chia sẻ PostgreSQL RLS.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Phân rã container — C4 Level 2 (Hình 2.2)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10</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2-c4-container.png"/>
          <p:cNvPicPr>
            <a:picLocks noChangeAspect="1"/>
          </p:cNvPicPr>
          <p:nvPr/>
        </p:nvPicPr>
        <p:blipFill>
          <a:blip r:embed="rId3"/>
          <a:stretch>
            <a:fillRect/>
          </a:stretch>
        </p:blipFill>
        <p:spPr>
          <a:xfrm>
            <a:off x="4251344" y="1792224"/>
            <a:ext cx="3686263" cy="3968495"/>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2.2 — KiteHub: 6 microservice (vòng đời khác nhau); KiteClass: modular monolith.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Đóng góp 2 — Cô lập đa-tenant bằng RLS</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11</a:t>
            </a:r>
          </a:p>
        </p:txBody>
      </p:sp>
      <p:graphicFrame>
        <p:nvGraphicFramePr>
          <p:cNvPr id="4" name="Table 3"/>
          <p:cNvGraphicFramePr>
            <a:graphicFrameLocks noGrp="1"/>
          </p:cNvGraphicFramePr>
          <p:nvPr/>
        </p:nvGraphicFramePr>
        <p:xfrm>
          <a:off x="502920" y="1783080"/>
          <a:ext cx="11155680" cy="1828800"/>
        </p:xfrm>
        <a:graphic>
          <a:graphicData uri="http://schemas.openxmlformats.org/drawingml/2006/table">
            <a:tbl>
              <a:tblPr firstRow="1" bandRow="1">
                <a:tableStyleId>{5C22544A-7EE6-4342-B048-85BDC9FD1C3A}</a:tableStyleId>
              </a:tblPr>
              <a:tblGrid>
                <a:gridCol w="2651760"/>
                <a:gridCol w="1737360"/>
                <a:gridCol w="2468880"/>
                <a:gridCol w="2103120"/>
                <a:gridCol w="2194560"/>
              </a:tblGrid>
              <a:tr h="365760">
                <a:tc>
                  <a:txBody>
                    <a:bodyPr/>
                    <a:lstStyle/>
                    <a:p>
                      <a:r>
                        <a:rPr sz="1300" b="1">
                          <a:solidFill>
                            <a:srgbClr val="FFFFFF"/>
                          </a:solidFill>
                        </a:rPr>
                        <a:t>Mô hình</a:t>
                      </a:r>
                    </a:p>
                  </a:txBody>
                  <a:tcPr marL="64008" marR="64008" marT="18288" marB="18288" anchor="ctr">
                    <a:solidFill>
                      <a:srgbClr val="2E2C7E"/>
                    </a:solidFill>
                  </a:tcPr>
                </a:tc>
                <a:tc>
                  <a:txBody>
                    <a:bodyPr/>
                    <a:lstStyle/>
                    <a:p>
                      <a:r>
                        <a:rPr sz="1300" b="1">
                          <a:solidFill>
                            <a:srgbClr val="FFFFFF"/>
                          </a:solidFill>
                        </a:rPr>
                        <a:t>Chi phí</a:t>
                      </a:r>
                    </a:p>
                  </a:txBody>
                  <a:tcPr marL="64008" marR="64008" marT="18288" marB="18288" anchor="ctr">
                    <a:solidFill>
                      <a:srgbClr val="2E2C7E"/>
                    </a:solidFill>
                  </a:tcPr>
                </a:tc>
                <a:tc>
                  <a:txBody>
                    <a:bodyPr/>
                    <a:lstStyle/>
                    <a:p>
                      <a:r>
                        <a:rPr sz="1300" b="1">
                          <a:solidFill>
                            <a:srgbClr val="FFFFFF"/>
                          </a:solidFill>
                        </a:rPr>
                        <a:t>Cô lập</a:t>
                      </a:r>
                    </a:p>
                  </a:txBody>
                  <a:tcPr marL="64008" marR="64008" marT="18288" marB="18288" anchor="ctr">
                    <a:solidFill>
                      <a:srgbClr val="2E2C7E"/>
                    </a:solidFill>
                  </a:tcPr>
                </a:tc>
                <a:tc>
                  <a:txBody>
                    <a:bodyPr/>
                    <a:lstStyle/>
                    <a:p>
                      <a:r>
                        <a:rPr sz="1300" b="1">
                          <a:solidFill>
                            <a:srgbClr val="FFFFFF"/>
                          </a:solidFill>
                        </a:rPr>
                        <a:t>Quy mô</a:t>
                      </a:r>
                    </a:p>
                  </a:txBody>
                  <a:tcPr marL="64008" marR="64008" marT="18288" marB="18288" anchor="ctr">
                    <a:solidFill>
                      <a:srgbClr val="2E2C7E"/>
                    </a:solidFill>
                  </a:tcPr>
                </a:tc>
                <a:tc>
                  <a:txBody>
                    <a:bodyPr/>
                    <a:lstStyle/>
                    <a:p>
                      <a:r>
                        <a:rPr sz="1300" b="1">
                          <a:solidFill>
                            <a:srgbClr val="FFFFFF"/>
                          </a:solidFill>
                        </a:rPr>
                        <a:t>Quyết định</a:t>
                      </a:r>
                    </a:p>
                  </a:txBody>
                  <a:tcPr marL="64008" marR="64008" marT="18288" marB="18288" anchor="ctr">
                    <a:solidFill>
                      <a:srgbClr val="2E2C7E"/>
                    </a:solidFill>
                  </a:tcPr>
                </a:tc>
              </a:tr>
              <a:tr h="365760">
                <a:tc>
                  <a:txBody>
                    <a:bodyPr/>
                    <a:lstStyle/>
                    <a:p>
                      <a:r>
                        <a:rPr sz="1300"/>
                        <a:t>Instance mỗi tenant</a:t>
                      </a:r>
                    </a:p>
                  </a:txBody>
                  <a:tcPr marL="64008" marR="64008" marT="18288" marB="18288" anchor="ctr">
                    <a:solidFill>
                      <a:srgbClr val="FFFFFF"/>
                    </a:solidFill>
                  </a:tcPr>
                </a:tc>
                <a:tc>
                  <a:txBody>
                    <a:bodyPr/>
                    <a:lstStyle/>
                    <a:p>
                      <a:r>
                        <a:rPr sz="1300"/>
                        <a:t>Rất cao</a:t>
                      </a:r>
                    </a:p>
                  </a:txBody>
                  <a:tcPr marL="64008" marR="64008" marT="18288" marB="18288" anchor="ctr">
                    <a:solidFill>
                      <a:srgbClr val="FFFFFF"/>
                    </a:solidFill>
                  </a:tcPr>
                </a:tc>
                <a:tc>
                  <a:txBody>
                    <a:bodyPr/>
                    <a:lstStyle/>
                    <a:p>
                      <a:r>
                        <a:rPr sz="1300"/>
                        <a:t>Tuyệt đối</a:t>
                      </a:r>
                    </a:p>
                  </a:txBody>
                  <a:tcPr marL="64008" marR="64008" marT="18288" marB="18288" anchor="ctr">
                    <a:solidFill>
                      <a:srgbClr val="FFFFFF"/>
                    </a:solidFill>
                  </a:tcPr>
                </a:tc>
                <a:tc>
                  <a:txBody>
                    <a:bodyPr/>
                    <a:lstStyle/>
                    <a:p>
                      <a:r>
                        <a:rPr sz="1300"/>
                        <a:t>≤10</a:t>
                      </a:r>
                    </a:p>
                  </a:txBody>
                  <a:tcPr marL="64008" marR="64008" marT="18288" marB="18288" anchor="ctr">
                    <a:solidFill>
                      <a:srgbClr val="FFFFFF"/>
                    </a:solidFill>
                  </a:tcPr>
                </a:tc>
                <a:tc>
                  <a:txBody>
                    <a:bodyPr/>
                    <a:lstStyle/>
                    <a:p>
                      <a:r>
                        <a:rPr sz="1300"/>
                        <a:t>Loại</a:t>
                      </a:r>
                    </a:p>
                  </a:txBody>
                  <a:tcPr marL="64008" marR="64008" marT="18288" marB="18288" anchor="ctr">
                    <a:solidFill>
                      <a:srgbClr val="FFFFFF"/>
                    </a:solidFill>
                  </a:tcPr>
                </a:tc>
              </a:tr>
              <a:tr h="365760">
                <a:tc>
                  <a:txBody>
                    <a:bodyPr/>
                    <a:lstStyle/>
                    <a:p>
                      <a:r>
                        <a:rPr sz="1300"/>
                        <a:t>Database mỗi tenant</a:t>
                      </a:r>
                    </a:p>
                  </a:txBody>
                  <a:tcPr marL="64008" marR="64008" marT="18288" marB="18288" anchor="ctr">
                    <a:solidFill>
                      <a:srgbClr val="ECEFF6"/>
                    </a:solidFill>
                  </a:tcPr>
                </a:tc>
                <a:tc>
                  <a:txBody>
                    <a:bodyPr/>
                    <a:lstStyle/>
                    <a:p>
                      <a:r>
                        <a:rPr sz="1300"/>
                        <a:t>Cao</a:t>
                      </a:r>
                    </a:p>
                  </a:txBody>
                  <a:tcPr marL="64008" marR="64008" marT="18288" marB="18288" anchor="ctr">
                    <a:solidFill>
                      <a:srgbClr val="ECEFF6"/>
                    </a:solidFill>
                  </a:tcPr>
                </a:tc>
                <a:tc>
                  <a:txBody>
                    <a:bodyPr/>
                    <a:lstStyle/>
                    <a:p>
                      <a:r>
                        <a:rPr sz="1300"/>
                        <a:t>Mạnh</a:t>
                      </a:r>
                    </a:p>
                  </a:txBody>
                  <a:tcPr marL="64008" marR="64008" marT="18288" marB="18288" anchor="ctr">
                    <a:solidFill>
                      <a:srgbClr val="ECEFF6"/>
                    </a:solidFill>
                  </a:tcPr>
                </a:tc>
                <a:tc>
                  <a:txBody>
                    <a:bodyPr/>
                    <a:lstStyle/>
                    <a:p>
                      <a:r>
                        <a:rPr sz="1300"/>
                        <a:t>10–100</a:t>
                      </a:r>
                    </a:p>
                  </a:txBody>
                  <a:tcPr marL="64008" marR="64008" marT="18288" marB="18288" anchor="ctr">
                    <a:solidFill>
                      <a:srgbClr val="ECEFF6"/>
                    </a:solidFill>
                  </a:tcPr>
                </a:tc>
                <a:tc>
                  <a:txBody>
                    <a:bodyPr/>
                    <a:lstStyle/>
                    <a:p>
                      <a:r>
                        <a:rPr sz="1300"/>
                        <a:t>Loại</a:t>
                      </a:r>
                    </a:p>
                  </a:txBody>
                  <a:tcPr marL="64008" marR="64008" marT="18288" marB="18288" anchor="ctr">
                    <a:solidFill>
                      <a:srgbClr val="ECEFF6"/>
                    </a:solidFill>
                  </a:tcPr>
                </a:tc>
              </a:tr>
              <a:tr h="365760">
                <a:tc>
                  <a:txBody>
                    <a:bodyPr/>
                    <a:lstStyle/>
                    <a:p>
                      <a:r>
                        <a:rPr sz="1300"/>
                        <a:t>Schema mỗi tenant</a:t>
                      </a:r>
                    </a:p>
                  </a:txBody>
                  <a:tcPr marL="64008" marR="64008" marT="18288" marB="18288" anchor="ctr">
                    <a:solidFill>
                      <a:srgbClr val="FFFFFF"/>
                    </a:solidFill>
                  </a:tcPr>
                </a:tc>
                <a:tc>
                  <a:txBody>
                    <a:bodyPr/>
                    <a:lstStyle/>
                    <a:p>
                      <a:r>
                        <a:rPr sz="1300"/>
                        <a:t>Trung bình</a:t>
                      </a:r>
                    </a:p>
                  </a:txBody>
                  <a:tcPr marL="64008" marR="64008" marT="18288" marB="18288" anchor="ctr">
                    <a:solidFill>
                      <a:srgbClr val="FFFFFF"/>
                    </a:solidFill>
                  </a:tcPr>
                </a:tc>
                <a:tc>
                  <a:txBody>
                    <a:bodyPr/>
                    <a:lstStyle/>
                    <a:p>
                      <a:r>
                        <a:rPr sz="1300"/>
                        <a:t>Khá</a:t>
                      </a:r>
                    </a:p>
                  </a:txBody>
                  <a:tcPr marL="64008" marR="64008" marT="18288" marB="18288" anchor="ctr">
                    <a:solidFill>
                      <a:srgbClr val="FFFFFF"/>
                    </a:solidFill>
                  </a:tcPr>
                </a:tc>
                <a:tc>
                  <a:txBody>
                    <a:bodyPr/>
                    <a:lstStyle/>
                    <a:p>
                      <a:r>
                        <a:rPr sz="1300"/>
                        <a:t>100–1000</a:t>
                      </a:r>
                    </a:p>
                  </a:txBody>
                  <a:tcPr marL="64008" marR="64008" marT="18288" marB="18288" anchor="ctr">
                    <a:solidFill>
                      <a:srgbClr val="FFFFFF"/>
                    </a:solidFill>
                  </a:tcPr>
                </a:tc>
                <a:tc>
                  <a:txBody>
                    <a:bodyPr/>
                    <a:lstStyle/>
                    <a:p>
                      <a:r>
                        <a:rPr sz="1300"/>
                        <a:t>Cân nhắc sau</a:t>
                      </a:r>
                    </a:p>
                  </a:txBody>
                  <a:tcPr marL="64008" marR="64008" marT="18288" marB="18288" anchor="ctr">
                    <a:solidFill>
                      <a:srgbClr val="FFFFFF"/>
                    </a:solidFill>
                  </a:tcPr>
                </a:tc>
              </a:tr>
              <a:tr h="365760">
                <a:tc>
                  <a:txBody>
                    <a:bodyPr/>
                    <a:lstStyle/>
                    <a:p>
                      <a:r>
                        <a:rPr sz="1300"/>
                        <a:t>Row-Level Security</a:t>
                      </a:r>
                    </a:p>
                  </a:txBody>
                  <a:tcPr marL="64008" marR="64008" marT="18288" marB="18288" anchor="ctr">
                    <a:solidFill>
                      <a:srgbClr val="ECEFF6"/>
                    </a:solidFill>
                  </a:tcPr>
                </a:tc>
                <a:tc>
                  <a:txBody>
                    <a:bodyPr/>
                    <a:lstStyle/>
                    <a:p>
                      <a:r>
                        <a:rPr sz="1300"/>
                        <a:t>Thấp</a:t>
                      </a:r>
                    </a:p>
                  </a:txBody>
                  <a:tcPr marL="64008" marR="64008" marT="18288" marB="18288" anchor="ctr">
                    <a:solidFill>
                      <a:srgbClr val="ECEFF6"/>
                    </a:solidFill>
                  </a:tcPr>
                </a:tc>
                <a:tc>
                  <a:txBody>
                    <a:bodyPr/>
                    <a:lstStyle/>
                    <a:p>
                      <a:r>
                        <a:rPr sz="1300"/>
                        <a:t>DB engine ép buộc</a:t>
                      </a:r>
                    </a:p>
                  </a:txBody>
                  <a:tcPr marL="64008" marR="64008" marT="18288" marB="18288" anchor="ctr">
                    <a:solidFill>
                      <a:srgbClr val="ECEFF6"/>
                    </a:solidFill>
                  </a:tcPr>
                </a:tc>
                <a:tc>
                  <a:txBody>
                    <a:bodyPr/>
                    <a:lstStyle/>
                    <a:p>
                      <a:r>
                        <a:rPr sz="1300"/>
                        <a:t>≥1000</a:t>
                      </a:r>
                    </a:p>
                  </a:txBody>
                  <a:tcPr marL="64008" marR="64008" marT="18288" marB="18288" anchor="ctr">
                    <a:solidFill>
                      <a:srgbClr val="ECEFF6"/>
                    </a:solidFill>
                  </a:tcPr>
                </a:tc>
                <a:tc>
                  <a:txBody>
                    <a:bodyPr/>
                    <a:lstStyle/>
                    <a:p>
                      <a:r>
                        <a:rPr sz="1300"/>
                        <a:t>Áp dụng</a:t>
                      </a:r>
                    </a:p>
                  </a:txBody>
                  <a:tcPr marL="64008" marR="64008" marT="18288" marB="18288" anchor="ctr">
                    <a:solidFill>
                      <a:srgbClr val="ECEFF6"/>
                    </a:solidFill>
                  </a:tcPr>
                </a:tc>
              </a:tr>
            </a:tbl>
          </a:graphicData>
        </a:graphic>
      </p:graphicFrame>
      <p:sp>
        <p:nvSpPr>
          <p:cNvPr id="5" name="TextBox 4"/>
          <p:cNvSpPr txBox="1"/>
          <p:nvPr/>
        </p:nvSpPr>
        <p:spPr>
          <a:xfrm>
            <a:off x="685800" y="4343400"/>
            <a:ext cx="10881360" cy="1554480"/>
          </a:xfrm>
          <a:prstGeom prst="rect">
            <a:avLst/>
          </a:prstGeom>
          <a:noFill/>
        </p:spPr>
        <p:txBody>
          <a:bodyPr wrap="square">
            <a:spAutoFit/>
          </a:bodyPr>
          <a:lstStyle/>
          <a:p>
            <a:pPr>
              <a:spcAft>
                <a:spcPts val="1000"/>
              </a:spcAft>
            </a:pPr>
            <a:r>
              <a:rPr sz="1500" b="1">
                <a:solidFill>
                  <a:srgbClr val="1F3A6E"/>
                </a:solidFill>
              </a:rPr>
              <a:t>▸  RLS policy + biến phiên app.current_tenant_id (HikariCP) — Postgres ép lọc ở MỖI truy vấn</a:t>
            </a:r>
          </a:p>
          <a:p>
            <a:pPr>
              <a:spcAft>
                <a:spcPts val="1000"/>
              </a:spcAft>
            </a:pPr>
            <a:r>
              <a:rPr sz="1500" b="0">
                <a:solidFill>
                  <a:srgbClr val="222222"/>
                </a:solidFill>
              </a:rPr>
              <a:t>▸  Quên điều kiện lọc vẫn không rò chéo tenant — kiểm chứng tại Salesforce, Shopify, HubSpot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Bảo mật nhiều lớp — Defense-in-depth (Hình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12</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3-defense-5layer.png"/>
          <p:cNvPicPr>
            <a:picLocks noChangeAspect="1"/>
          </p:cNvPicPr>
          <p:nvPr/>
        </p:nvPicPr>
        <p:blipFill>
          <a:blip r:embed="rId3"/>
          <a:stretch>
            <a:fillRect/>
          </a:stretch>
        </p:blipFill>
        <p:spPr>
          <a:xfrm>
            <a:off x="4657607" y="1792224"/>
            <a:ext cx="2873738"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2.3 — JWT → @PreAuthorize → tenant interceptor → bộ lọc repository → PostgreSQL RLS (phòng tuyến cuối).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Mô hình dữ liệu — ERD KiteClass (Hình 2.6b)</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13</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6b-erd-kiteclass.png"/>
          <p:cNvPicPr>
            <a:picLocks noChangeAspect="1"/>
          </p:cNvPicPr>
          <p:nvPr/>
        </p:nvPicPr>
        <p:blipFill>
          <a:blip r:embed="rId3"/>
          <a:stretch>
            <a:fillRect/>
          </a:stretch>
        </p:blipFill>
        <p:spPr>
          <a:xfrm>
            <a:off x="3731555" y="1792224"/>
            <a:ext cx="472584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2.6b — ERD domain giáo dục: ENROLLMENTS phân giải quan hệ nhiều-nhiều STUDENTS ↔ CLASSES.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Vòng đời tenant — máy trạng thái (Hình 2.8)</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14</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8-tenant-state.png"/>
          <p:cNvPicPr>
            <a:picLocks noChangeAspect="1"/>
          </p:cNvPicPr>
          <p:nvPr/>
        </p:nvPicPr>
        <p:blipFill>
          <a:blip r:embed="rId3"/>
          <a:stretch>
            <a:fillRect/>
          </a:stretch>
        </p:blipFill>
        <p:spPr>
          <a:xfrm>
            <a:off x="4431340" y="1792224"/>
            <a:ext cx="332627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2.8 — PENDING → TRIAL → ACTIVE → SUSPEND; cấp phát tenant + magic-link kích hoạt.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Triển khai thực tế — AWS Singapore (Hình 4.1a)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15</a:t>
            </a:r>
          </a:p>
        </p:txBody>
      </p:sp>
      <p:sp>
        <p:nvSpPr>
          <p:cNvPr id="4" name="Rounded Rectangle 3"/>
          <p:cNvSpPr/>
          <p:nvPr/>
        </p:nvSpPr>
        <p:spPr>
          <a:xfrm>
            <a:off x="457200" y="1645920"/>
            <a:ext cx="704088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1a-vpc-topology.png"/>
          <p:cNvPicPr>
            <a:picLocks noChangeAspect="1"/>
          </p:cNvPicPr>
          <p:nvPr/>
        </p:nvPicPr>
        <p:blipFill>
          <a:blip r:embed="rId3"/>
          <a:stretch>
            <a:fillRect/>
          </a:stretch>
        </p:blipFill>
        <p:spPr>
          <a:xfrm>
            <a:off x="2996032" y="1847088"/>
            <a:ext cx="1963215" cy="3895343"/>
          </a:xfrm>
          <a:prstGeom prst="rect">
            <a:avLst/>
          </a:prstGeom>
        </p:spPr>
      </p:pic>
      <p:sp>
        <p:nvSpPr>
          <p:cNvPr id="6" name="TextBox 5"/>
          <p:cNvSpPr txBox="1"/>
          <p:nvPr/>
        </p:nvSpPr>
        <p:spPr>
          <a:xfrm>
            <a:off x="7635240" y="1783080"/>
            <a:ext cx="4297680" cy="4206240"/>
          </a:xfrm>
          <a:prstGeom prst="rect">
            <a:avLst/>
          </a:prstGeom>
          <a:noFill/>
        </p:spPr>
        <p:txBody>
          <a:bodyPr wrap="square">
            <a:spAutoFit/>
          </a:bodyPr>
          <a:lstStyle/>
          <a:p>
            <a:pPr>
              <a:spcAft>
                <a:spcPts val="1000"/>
              </a:spcAft>
            </a:pPr>
            <a:r>
              <a:rPr sz="1400" b="1">
                <a:solidFill>
                  <a:srgbClr val="1F3A6E"/>
                </a:solidFill>
              </a:rPr>
              <a:t>▸  Vùng ap-southeast-1</a:t>
            </a:r>
          </a:p>
          <a:p>
            <a:pPr lvl="1">
              <a:spcAft>
                <a:spcPts val="600"/>
              </a:spcAft>
            </a:pPr>
            <a:r>
              <a:rPr sz="1100" b="0">
                <a:solidFill>
                  <a:srgbClr val="222222"/>
                </a:solidFill>
              </a:rPr>
              <a:t>•  Public subnet: ALB + 2× EC2 t3.micro</a:t>
            </a:r>
          </a:p>
          <a:p>
            <a:pPr lvl="1">
              <a:spcAft>
                <a:spcPts val="600"/>
              </a:spcAft>
            </a:pPr>
            <a:r>
              <a:rPr sz="1100" b="0">
                <a:solidFill>
                  <a:srgbClr val="222222"/>
                </a:solidFill>
              </a:rPr>
              <a:t>•  Private subnet: RDS PostgreSQL cô lập</a:t>
            </a:r>
          </a:p>
          <a:p>
            <a:pPr lvl="1">
              <a:spcAft>
                <a:spcPts val="600"/>
              </a:spcAft>
            </a:pPr>
            <a:r>
              <a:rPr sz="1100" b="0">
                <a:solidFill>
                  <a:srgbClr val="222222"/>
                </a:solidFill>
              </a:rPr>
              <a:t>•  Phụ trợ: S3, SES, Secrets Manager, ECR, CloudWatch</a:t>
            </a:r>
          </a:p>
          <a:p>
            <a:pPr>
              <a:spcAft>
                <a:spcPts val="1000"/>
              </a:spcAft>
            </a:pPr>
            <a:r>
              <a:rPr sz="1400" b="1">
                <a:solidFill>
                  <a:srgbClr val="1E7E34"/>
                </a:solidFill>
              </a:rPr>
              <a:t>▸  Free Tier 12 tháng → hạ tầng ~0; AI Branding ~0,19 USD/tenant onboard</a:t>
            </a:r>
          </a:p>
          <a:p>
            <a:pPr>
              <a:spcAft>
                <a:spcPts val="1000"/>
              </a:spcAft>
            </a:pPr>
            <a:r>
              <a:rPr sz="1400" b="0">
                <a:solidFill>
                  <a:srgbClr val="555555"/>
                </a:solidFill>
              </a:rPr>
              <a:t>▸  Chưa chạm ngưỡng PDPL Đ28 / NĐ53; có lộ trình chuyển vùng trong nước</a:t>
            </a:r>
          </a:p>
        </p:txBody>
      </p:sp>
      <p:sp>
        <p:nvSpPr>
          <p:cNvPr id="7" name="TextBox 6"/>
          <p:cNvSpPr txBox="1"/>
          <p:nvPr/>
        </p:nvSpPr>
        <p:spPr>
          <a:xfrm>
            <a:off x="502920" y="5989320"/>
            <a:ext cx="6949440" cy="457200"/>
          </a:xfrm>
          <a:prstGeom prst="rect">
            <a:avLst/>
          </a:prstGeom>
          <a:noFill/>
        </p:spPr>
        <p:txBody>
          <a:bodyPr wrap="none">
            <a:spAutoFit/>
          </a:bodyPr>
          <a:lstStyle/>
          <a:p>
            <a:pPr algn="ctr"/>
            <a:r>
              <a:rPr sz="1100" i="1">
                <a:solidFill>
                  <a:srgbClr val="555555"/>
                </a:solidFill>
              </a:rPr>
              <a:t>Hình 4.1a — Topology VPC (10.0.0.0/16).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CI/CD và giám sát vận hành (Hình 4.2a)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16</a:t>
            </a:r>
          </a:p>
        </p:txBody>
      </p:sp>
      <p:sp>
        <p:nvSpPr>
          <p:cNvPr id="4" name="Rounded Rectangle 3"/>
          <p:cNvSpPr/>
          <p:nvPr/>
        </p:nvSpPr>
        <p:spPr>
          <a:xfrm>
            <a:off x="457200" y="1645920"/>
            <a:ext cx="69494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2a-ci-build.png"/>
          <p:cNvPicPr>
            <a:picLocks noChangeAspect="1"/>
          </p:cNvPicPr>
          <p:nvPr/>
        </p:nvPicPr>
        <p:blipFill>
          <a:blip r:embed="rId3"/>
          <a:stretch>
            <a:fillRect/>
          </a:stretch>
        </p:blipFill>
        <p:spPr>
          <a:xfrm>
            <a:off x="658368" y="2197404"/>
            <a:ext cx="6547103" cy="3194712"/>
          </a:xfrm>
          <a:prstGeom prst="rect">
            <a:avLst/>
          </a:prstGeom>
        </p:spPr>
      </p:pic>
      <p:sp>
        <p:nvSpPr>
          <p:cNvPr id="6" name="TextBox 5"/>
          <p:cNvSpPr txBox="1"/>
          <p:nvPr/>
        </p:nvSpPr>
        <p:spPr>
          <a:xfrm>
            <a:off x="7543800" y="1783080"/>
            <a:ext cx="4389120" cy="4206240"/>
          </a:xfrm>
          <a:prstGeom prst="rect">
            <a:avLst/>
          </a:prstGeom>
          <a:noFill/>
        </p:spPr>
        <p:txBody>
          <a:bodyPr wrap="square">
            <a:spAutoFit/>
          </a:bodyPr>
          <a:lstStyle/>
          <a:p>
            <a:pPr>
              <a:spcAft>
                <a:spcPts val="1000"/>
              </a:spcAft>
            </a:pPr>
            <a:r>
              <a:rPr sz="1400" b="0">
                <a:solidFill>
                  <a:srgbClr val="222222"/>
                </a:solidFill>
              </a:rPr>
              <a:t>▸  GitHub Actions + OIDC — không lưu access key tĩnh</a:t>
            </a:r>
          </a:p>
          <a:p>
            <a:pPr>
              <a:spcAft>
                <a:spcPts val="1000"/>
              </a:spcAft>
            </a:pPr>
            <a:r>
              <a:rPr sz="1400" b="0">
                <a:solidFill>
                  <a:srgbClr val="222222"/>
                </a:solidFill>
              </a:rPr>
              <a:t>▸  Docker tag bất biến theo SHA; Terraform plan-trước-apply + xác nhận thủ công</a:t>
            </a:r>
          </a:p>
          <a:p>
            <a:pPr>
              <a:spcAft>
                <a:spcPts val="1000"/>
              </a:spcAft>
            </a:pPr>
            <a:r>
              <a:rPr sz="1400" b="1">
                <a:solidFill>
                  <a:srgbClr val="1F3A6E"/>
                </a:solidFill>
              </a:rPr>
              <a:t>▸  Giám sát 3 lớp:</a:t>
            </a:r>
          </a:p>
          <a:p>
            <a:pPr lvl="1">
              <a:spcAft>
                <a:spcPts val="600"/>
              </a:spcAft>
            </a:pPr>
            <a:r>
              <a:rPr sz="1100" b="0">
                <a:solidFill>
                  <a:srgbClr val="222222"/>
                </a:solidFill>
              </a:rPr>
              <a:t>•  CloudTrail — audit mọi AWS API call</a:t>
            </a:r>
          </a:p>
          <a:p>
            <a:pPr lvl="1">
              <a:spcAft>
                <a:spcPts val="600"/>
              </a:spcAft>
            </a:pPr>
            <a:r>
              <a:rPr sz="1100" b="0">
                <a:solidFill>
                  <a:srgbClr val="222222"/>
                </a:solidFill>
              </a:rPr>
              <a:t>•  CloudWatch — log JSON + cảnh báo</a:t>
            </a:r>
          </a:p>
          <a:p>
            <a:pPr lvl="1">
              <a:spcAft>
                <a:spcPts val="600"/>
              </a:spcAft>
            </a:pPr>
            <a:r>
              <a:rPr sz="1100" b="0">
                <a:solidFill>
                  <a:srgbClr val="222222"/>
                </a:solidFill>
              </a:rPr>
              <a:t>•  Prometheus + Grafana — metric ứng dụng</a:t>
            </a:r>
          </a:p>
        </p:txBody>
      </p:sp>
      <p:sp>
        <p:nvSpPr>
          <p:cNvPr id="7" name="TextBox 6"/>
          <p:cNvSpPr txBox="1"/>
          <p:nvPr/>
        </p:nvSpPr>
        <p:spPr>
          <a:xfrm>
            <a:off x="502920" y="5989320"/>
            <a:ext cx="6858000" cy="457200"/>
          </a:xfrm>
          <a:prstGeom prst="rect">
            <a:avLst/>
          </a:prstGeom>
          <a:noFill/>
        </p:spPr>
        <p:txBody>
          <a:bodyPr wrap="none">
            <a:spAutoFit/>
          </a:bodyPr>
          <a:lstStyle/>
          <a:p>
            <a:pPr algn="ctr"/>
            <a:r>
              <a:rPr sz="1100" i="1">
                <a:solidFill>
                  <a:srgbClr val="555555"/>
                </a:solidFill>
              </a:rPr>
              <a:t>Hình 4.2a — Pha build: CI verify → OIDC → push ECR.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Sản phẩm thực tế — giao diện (Chương 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17</a:t>
            </a:r>
          </a:p>
        </p:txBody>
      </p:sp>
      <p:pic>
        <p:nvPicPr>
          <p:cNvPr id="4" name="Picture 3" descr="fig-3.1-tenant-landing.png"/>
          <p:cNvPicPr>
            <a:picLocks noChangeAspect="1"/>
          </p:cNvPicPr>
          <p:nvPr/>
        </p:nvPicPr>
        <p:blipFill>
          <a:blip r:embed="rId3"/>
          <a:stretch>
            <a:fillRect/>
          </a:stretch>
        </p:blipFill>
        <p:spPr>
          <a:xfrm>
            <a:off x="457200" y="2531745"/>
            <a:ext cx="3749039" cy="2343149"/>
          </a:xfrm>
          <a:prstGeom prst="rect">
            <a:avLst/>
          </a:prstGeom>
          <a:ln w="9525">
            <a:solidFill>
              <a:srgbClr val="C8D2E0"/>
            </a:solidFill>
          </a:ln>
        </p:spPr>
      </p:pic>
      <p:pic>
        <p:nvPicPr>
          <p:cNvPr id="5" name="Picture 4" descr="fig-3.3-dashboard.png"/>
          <p:cNvPicPr>
            <a:picLocks noChangeAspect="1"/>
          </p:cNvPicPr>
          <p:nvPr/>
        </p:nvPicPr>
        <p:blipFill>
          <a:blip r:embed="rId4"/>
          <a:stretch>
            <a:fillRect/>
          </a:stretch>
        </p:blipFill>
        <p:spPr>
          <a:xfrm>
            <a:off x="4297680" y="2531745"/>
            <a:ext cx="3749039" cy="2343149"/>
          </a:xfrm>
          <a:prstGeom prst="rect">
            <a:avLst/>
          </a:prstGeom>
          <a:ln w="9525">
            <a:solidFill>
              <a:srgbClr val="C8D2E0"/>
            </a:solidFill>
          </a:ln>
        </p:spPr>
      </p:pic>
      <p:pic>
        <p:nvPicPr>
          <p:cNvPr id="6" name="Picture 5" descr="fig-3.5-student-mgmt.png"/>
          <p:cNvPicPr>
            <a:picLocks noChangeAspect="1"/>
          </p:cNvPicPr>
          <p:nvPr/>
        </p:nvPicPr>
        <p:blipFill>
          <a:blip r:embed="rId5"/>
          <a:stretch>
            <a:fillRect/>
          </a:stretch>
        </p:blipFill>
        <p:spPr>
          <a:xfrm>
            <a:off x="8138160" y="2531745"/>
            <a:ext cx="3749039" cy="2343149"/>
          </a:xfrm>
          <a:prstGeom prst="rect">
            <a:avLst/>
          </a:prstGeom>
          <a:ln w="9525">
            <a:solidFill>
              <a:srgbClr val="C8D2E0"/>
            </a:solidFill>
          </a:ln>
        </p:spPr>
      </p:pic>
      <p:sp>
        <p:nvSpPr>
          <p:cNvPr id="7" name="TextBox 6"/>
          <p:cNvSpPr txBox="1"/>
          <p:nvPr/>
        </p:nvSpPr>
        <p:spPr>
          <a:xfrm>
            <a:off x="548640" y="5897880"/>
            <a:ext cx="11064240" cy="457200"/>
          </a:xfrm>
          <a:prstGeom prst="rect">
            <a:avLst/>
          </a:prstGeom>
          <a:noFill/>
        </p:spPr>
        <p:txBody>
          <a:bodyPr wrap="none">
            <a:spAutoFit/>
          </a:bodyPr>
          <a:lstStyle/>
          <a:p>
            <a:pPr algn="ctr"/>
            <a:r>
              <a:rPr sz="1100" i="1">
                <a:solidFill>
                  <a:srgbClr val="555555"/>
                </a:solidFill>
              </a:rPr>
              <a:t>Hình 3.1 / 3.3 / 3.5 — Trang chủ thương hiệu riêng theo tenant · Dashboard tổng quan · Quản lý học viên.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quả AI Branding — gói Miễn phí vs Trả phí</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18</a:t>
            </a:r>
          </a:p>
        </p:txBody>
      </p:sp>
      <p:pic>
        <p:nvPicPr>
          <p:cNvPr id="4" name="Picture 3" descr="fig-4.3-landing-free.png"/>
          <p:cNvPicPr>
            <a:picLocks noChangeAspect="1"/>
          </p:cNvPicPr>
          <p:nvPr/>
        </p:nvPicPr>
        <p:blipFill>
          <a:blip r:embed="rId3"/>
          <a:stretch>
            <a:fillRect/>
          </a:stretch>
        </p:blipFill>
        <p:spPr>
          <a:xfrm>
            <a:off x="548640" y="2034540"/>
            <a:ext cx="5486400" cy="3429000"/>
          </a:xfrm>
          <a:prstGeom prst="rect">
            <a:avLst/>
          </a:prstGeom>
          <a:ln w="9525">
            <a:solidFill>
              <a:srgbClr val="C8D2E0"/>
            </a:solidFill>
          </a:ln>
        </p:spPr>
      </p:pic>
      <p:pic>
        <p:nvPicPr>
          <p:cNvPr id="5" name="Picture 4" descr="fig-4.4-landing-paid.png"/>
          <p:cNvPicPr>
            <a:picLocks noChangeAspect="1"/>
          </p:cNvPicPr>
          <p:nvPr/>
        </p:nvPicPr>
        <p:blipFill>
          <a:blip r:embed="rId4"/>
          <a:stretch>
            <a:fillRect/>
          </a:stretch>
        </p:blipFill>
        <p:spPr>
          <a:xfrm>
            <a:off x="6217920" y="2034540"/>
            <a:ext cx="5486400" cy="3429000"/>
          </a:xfrm>
          <a:prstGeom prst="rect">
            <a:avLst/>
          </a:prstGeom>
          <a:ln w="9525">
            <a:solidFill>
              <a:srgbClr val="C8D2E0"/>
            </a:solidFill>
          </a:ln>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4.3 (Miễn phí — mẫu dựng sẵn, tông xanh dương) vs Hình 4.4 (Trả phí — AI sinh tự động, tông xanh lá).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quả đánh giá — các chỉ số chính (Chương 4)</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19</a:t>
            </a:r>
          </a:p>
        </p:txBody>
      </p:sp>
      <p:sp>
        <p:nvSpPr>
          <p:cNvPr id="4" name="Rounded Rectangle 3"/>
          <p:cNvSpPr/>
          <p:nvPr/>
        </p:nvSpPr>
        <p:spPr>
          <a:xfrm>
            <a:off x="457200"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rPr>
              <a:t>86/100</a:t>
            </a:r>
          </a:p>
          <a:p>
            <a:pPr algn="ctr"/>
            <a:r>
              <a:rPr sz="1500" b="1">
                <a:solidFill>
                  <a:srgbClr val="222222"/>
                </a:solidFill>
              </a:rPr>
              <a:t>Hiệu năng</a:t>
            </a:r>
          </a:p>
          <a:p>
            <a:pPr algn="ctr"/>
            <a:r>
              <a:rPr sz="1100">
                <a:solidFill>
                  <a:srgbClr val="555555"/>
                </a:solidFill>
              </a:rPr>
              <a:t>B+ · từ 81 (+5)</a:t>
            </a:r>
          </a:p>
        </p:txBody>
      </p:sp>
      <p:sp>
        <p:nvSpPr>
          <p:cNvPr id="5" name="Rounded Rectangle 4"/>
          <p:cNvSpPr/>
          <p:nvPr/>
        </p:nvSpPr>
        <p:spPr>
          <a:xfrm>
            <a:off x="3367277"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rPr>
              <a:t>93/100</a:t>
            </a:r>
          </a:p>
          <a:p>
            <a:pPr algn="ctr"/>
            <a:r>
              <a:rPr sz="1500" b="1">
                <a:solidFill>
                  <a:srgbClr val="222222"/>
                </a:solidFill>
              </a:rPr>
              <a:t>Bảo mật</a:t>
            </a:r>
          </a:p>
          <a:p>
            <a:pPr algn="ctr"/>
            <a:r>
              <a:rPr sz="1100">
                <a:solidFill>
                  <a:srgbClr val="555555"/>
                </a:solidFill>
              </a:rPr>
              <a:t>A · từ 76 (+17)</a:t>
            </a:r>
          </a:p>
        </p:txBody>
      </p:sp>
      <p:sp>
        <p:nvSpPr>
          <p:cNvPr id="6" name="Rounded Rectangle 5"/>
          <p:cNvSpPr/>
          <p:nvPr/>
        </p:nvSpPr>
        <p:spPr>
          <a:xfrm>
            <a:off x="6277355"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rPr>
              <a:t>90/110</a:t>
            </a:r>
          </a:p>
          <a:p>
            <a:pPr algn="ctr"/>
            <a:r>
              <a:rPr sz="1500" b="1">
                <a:solidFill>
                  <a:srgbClr val="222222"/>
                </a:solidFill>
              </a:rPr>
              <a:t>Chất lượng</a:t>
            </a:r>
          </a:p>
          <a:p>
            <a:pPr algn="ctr"/>
            <a:r>
              <a:rPr sz="1100">
                <a:solidFill>
                  <a:srgbClr val="555555"/>
                </a:solidFill>
              </a:rPr>
              <a:t>B+ · từ 78 (+12)</a:t>
            </a:r>
          </a:p>
        </p:txBody>
      </p:sp>
      <p:sp>
        <p:nvSpPr>
          <p:cNvPr id="7" name="Rounded Rectangle 6"/>
          <p:cNvSpPr/>
          <p:nvPr/>
        </p:nvSpPr>
        <p:spPr>
          <a:xfrm>
            <a:off x="9187434"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rPr>
              <a:t>≥100k</a:t>
            </a:r>
          </a:p>
          <a:p>
            <a:pPr algn="ctr"/>
            <a:r>
              <a:rPr sz="1500" b="1">
                <a:solidFill>
                  <a:srgbClr val="222222"/>
                </a:solidFill>
              </a:rPr>
              <a:t>Tải (RPS)</a:t>
            </a:r>
          </a:p>
          <a:p>
            <a:pPr algn="ctr"/>
            <a:r>
              <a:rPr sz="1100">
                <a:solidFill>
                  <a:srgbClr val="555555"/>
                </a:solidFill>
              </a:rPr>
              <a:t>Kiểm thử Locust</a:t>
            </a:r>
          </a:p>
        </p:txBody>
      </p:sp>
      <p:sp>
        <p:nvSpPr>
          <p:cNvPr id="8" name="TextBox 7"/>
          <p:cNvSpPr txBox="1"/>
          <p:nvPr/>
        </p:nvSpPr>
        <p:spPr>
          <a:xfrm>
            <a:off x="685800" y="4343400"/>
            <a:ext cx="10881360" cy="1554480"/>
          </a:xfrm>
          <a:prstGeom prst="rect">
            <a:avLst/>
          </a:prstGeom>
          <a:noFill/>
        </p:spPr>
        <p:txBody>
          <a:bodyPr wrap="square">
            <a:spAutoFit/>
          </a:bodyPr>
          <a:lstStyle/>
          <a:p>
            <a:pPr>
              <a:spcAft>
                <a:spcPts val="1000"/>
              </a:spcAft>
            </a:pPr>
            <a:r>
              <a:rPr sz="1600" b="0">
                <a:solidFill>
                  <a:srgbClr val="222222"/>
                </a:solidFill>
              </a:rPr>
              <a:t>▸  Cải tiến đo được qua các kỳ audit: RLS NULL force-fail, audit_logs bất biến (V60), chặn bypass admin, phân trang con trỏ</a:t>
            </a:r>
          </a:p>
          <a:p>
            <a:pPr>
              <a:spcAft>
                <a:spcPts val="1000"/>
              </a:spcAft>
            </a:pPr>
            <a:r>
              <a:rPr sz="1600" b="1">
                <a:solidFill>
                  <a:srgbClr val="1F3A6E"/>
                </a:solidFill>
              </a:rPr>
              <a:t>▸  Mỗi điểm số gắn audit report có evidence block trong Chương 4 — không phải tự nhận định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rPr>
              <a:t>Demo trực tiếp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rPr>
              <a:t>Khách tham quan → đăng ký onboarding → wizard tạo tenant → cô lập đa-tenant · dự phòng video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Hạn chế thừa nhận và hướng phát triển</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21</a:t>
            </a:r>
          </a:p>
        </p:txBody>
      </p:sp>
      <p:sp>
        <p:nvSpPr>
          <p:cNvPr id="4" name="TextBox 3"/>
          <p:cNvSpPr txBox="1"/>
          <p:nvPr/>
        </p:nvSpPr>
        <p:spPr>
          <a:xfrm>
            <a:off x="685800" y="1691640"/>
            <a:ext cx="10881360" cy="4206240"/>
          </a:xfrm>
          <a:prstGeom prst="rect">
            <a:avLst/>
          </a:prstGeom>
          <a:noFill/>
        </p:spPr>
        <p:txBody>
          <a:bodyPr wrap="square">
            <a:spAutoFit/>
          </a:bodyPr>
          <a:lstStyle/>
          <a:p>
            <a:pPr>
              <a:spcAft>
                <a:spcPts val="1000"/>
              </a:spcAft>
            </a:pPr>
            <a:r>
              <a:rPr sz="1600" b="1">
                <a:solidFill>
                  <a:srgbClr val="B03030"/>
                </a:solidFill>
              </a:rPr>
              <a:t>▸  Hạn chế hiện tại:</a:t>
            </a:r>
          </a:p>
          <a:p>
            <a:pPr lvl="1">
              <a:spcAft>
                <a:spcPts val="600"/>
              </a:spcAft>
            </a:pPr>
            <a:r>
              <a:rPr sz="1300" b="0">
                <a:solidFill>
                  <a:srgbClr val="222222"/>
                </a:solidFill>
              </a:rPr>
              <a:t>•  Hạ tầng 2× t3.micro bộ nhớ hạn chế; chưa có failover đa vùng (multi-AZ)</a:t>
            </a:r>
          </a:p>
          <a:p>
            <a:pPr lvl="1">
              <a:spcAft>
                <a:spcPts val="600"/>
              </a:spcAft>
            </a:pPr>
            <a:r>
              <a:rPr sz="1300" b="0">
                <a:solidFill>
                  <a:srgbClr val="222222"/>
                </a:solidFill>
              </a:rPr>
              <a:t>•  Chưa lưu trữ dữ liệu trong nước — kích hoạt chuyển vùng khi vượt ngưỡng</a:t>
            </a:r>
          </a:p>
          <a:p>
            <a:pPr lvl="1">
              <a:spcAft>
                <a:spcPts val="600"/>
              </a:spcAft>
            </a:pPr>
            <a:r>
              <a:rPr sz="1300" b="0">
                <a:solidFill>
                  <a:srgbClr val="222222"/>
                </a:solidFill>
              </a:rPr>
              <a:t>•  Quality gate AI dùng bộ lọc provider; chưa tự huấn luyện bộ phân loại brand-fit</a:t>
            </a:r>
          </a:p>
          <a:p>
            <a:pPr lvl="1">
              <a:spcAft>
                <a:spcPts val="600"/>
              </a:spcAft>
            </a:pPr>
            <a:r>
              <a:rPr sz="1300" b="0">
                <a:solidFill>
                  <a:srgbClr val="222222"/>
                </a:solidFill>
              </a:rPr>
              <a:t>•  Chưa có ứng dụng di động native — người dùng dùng web responsive</a:t>
            </a:r>
          </a:p>
          <a:p>
            <a:pPr>
              <a:spcAft>
                <a:spcPts val="1000"/>
              </a:spcAft>
            </a:pPr>
            <a:r>
              <a:rPr sz="1600" b="1">
                <a:solidFill>
                  <a:srgbClr val="1E7E34"/>
                </a:solidFill>
              </a:rPr>
              <a:t>▸  Hướng phát triển sau:</a:t>
            </a:r>
          </a:p>
          <a:p>
            <a:pPr lvl="1">
              <a:spcAft>
                <a:spcPts val="600"/>
              </a:spcAft>
            </a:pPr>
            <a:r>
              <a:rPr sz="1300" b="0">
                <a:solidFill>
                  <a:srgbClr val="222222"/>
                </a:solidFill>
              </a:rPr>
              <a:t>•  Mở đăng ký công khai, nâng cấp hạ tầng, kích hoạt cổng thanh toán MoMo/VNPay</a:t>
            </a:r>
          </a:p>
          <a:p>
            <a:pPr lvl="1">
              <a:spcAft>
                <a:spcPts val="600"/>
              </a:spcAft>
            </a:pPr>
            <a:r>
              <a:rPr sz="1300" b="0">
                <a:solidFill>
                  <a:srgbClr val="222222"/>
                </a:solidFill>
              </a:rPr>
              <a:t>•  Tích hợp hóa đơn điện tử (MISA MeInvoice), kênh Zalo OA, mở rộng K-12 sau khi có legal counsel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luận</a:t>
            </a:r>
          </a:p>
        </p:txBody>
      </p:sp>
      <p:sp>
        <p:nvSpPr>
          <p:cNvPr id="3" name="TextBox 2"/>
          <p:cNvSpPr txBox="1"/>
          <p:nvPr/>
        </p:nvSpPr>
        <p:spPr>
          <a:xfrm>
            <a:off x="685800" y="1783080"/>
            <a:ext cx="10881360" cy="4206240"/>
          </a:xfrm>
          <a:prstGeom prst="rect">
            <a:avLst/>
          </a:prstGeom>
          <a:noFill/>
        </p:spPr>
        <p:txBody>
          <a:bodyPr wrap="square">
            <a:spAutoFit/>
          </a:bodyPr>
          <a:lstStyle/>
          <a:p>
            <a:pPr>
              <a:spcAft>
                <a:spcPts val="1000"/>
              </a:spcAft>
            </a:pPr>
            <a:r>
              <a:rPr sz="1800" b="1">
                <a:solidFill>
                  <a:srgbClr val="1F3A6E"/>
                </a:solidFill>
              </a:rPr>
              <a:t>▸  Ba đóng góp chính của đề tài:</a:t>
            </a:r>
          </a:p>
          <a:p>
            <a:pPr lvl="1">
              <a:spcAft>
                <a:spcPts val="600"/>
              </a:spcAft>
            </a:pPr>
            <a:r>
              <a:rPr sz="1500" b="0">
                <a:solidFill>
                  <a:srgbClr val="222222"/>
                </a:solidFill>
              </a:rPr>
              <a:t>•  Kỹ thuật AI Branding tự động — sinh bộ nhận diện thương hiệu chi phí thấp, bất đồng bộ</a:t>
            </a:r>
          </a:p>
          <a:p>
            <a:pPr lvl="1">
              <a:spcAft>
                <a:spcPts val="600"/>
              </a:spcAft>
            </a:pPr>
            <a:r>
              <a:rPr sz="1500" b="0">
                <a:solidFill>
                  <a:srgbClr val="222222"/>
                </a:solidFill>
              </a:rPr>
              <a:t>•  Kiến trúc đa-tenant cô lập bằng PostgreSQL RLS — bảo mật nhiều lớp, mở rộng tốt</a:t>
            </a:r>
          </a:p>
          <a:p>
            <a:pPr lvl="1">
              <a:spcAft>
                <a:spcPts val="600"/>
              </a:spcAft>
            </a:pPr>
            <a:r>
              <a:rPr sz="1500" b="0">
                <a:solidFill>
                  <a:srgbClr val="222222"/>
                </a:solidFill>
              </a:rPr>
              <a:t>•  Phương pháp luận phát triển hướng chất lượng — audit có evidence, chuẩn hóa quy tắc</a:t>
            </a:r>
          </a:p>
          <a:p>
            <a:pPr>
              <a:spcAft>
                <a:spcPts val="1000"/>
              </a:spcAft>
            </a:pPr>
            <a:r>
              <a:rPr sz="1800" b="0">
                <a:solidFill>
                  <a:srgbClr val="222222"/>
                </a:solidFill>
              </a:rPr>
              <a:t>▸  Sản phẩm đã triển khai thực tế trên AWS, đạt các ngưỡng hiệu năng/bảo mật/chất lượng</a:t>
            </a:r>
          </a:p>
          <a:p>
            <a:pPr>
              <a:spcAft>
                <a:spcPts val="1000"/>
              </a:spcAft>
            </a:pPr>
            <a:r>
              <a:rPr sz="1800" b="1">
                <a:solidFill>
                  <a:srgbClr val="1F3A6E"/>
                </a:solidFill>
              </a:rPr>
              <a:t>▸  Em xin chân thành cảm ơn thầy Nguyễn Đức Dư và quý hội đồng — sẵn sàng trả lời câu hỏi</a:t>
            </a:r>
          </a:p>
        </p:txBody>
      </p:sp>
      <p:sp>
        <p:nvSpPr>
          <p:cNvPr id="4" name="TextBox 3"/>
          <p:cNvSpPr txBox="1"/>
          <p:nvPr/>
        </p:nvSpPr>
        <p:spPr>
          <a:xfrm>
            <a:off x="411480" y="6437376"/>
            <a:ext cx="1097280" cy="292608"/>
          </a:xfrm>
          <a:prstGeom prst="rect">
            <a:avLst/>
          </a:prstGeom>
          <a:noFill/>
        </p:spPr>
        <p:txBody>
          <a:bodyPr wrap="none">
            <a:spAutoFit/>
          </a:bodyPr>
          <a:lstStyle/>
          <a:p>
            <a:r>
              <a:rPr sz="1000">
                <a:solidFill>
                  <a:srgbClr val="555555"/>
                </a:solidFil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
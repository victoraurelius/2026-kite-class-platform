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741" autoAdjust="0"/>
  </p:normalViewPr>
  <p:slideViewPr>
    <p:cSldViewPr>
      <p:cViewPr varScale="1">
        <p:scale>
          <a:sx n="63" d="100"/>
          <a:sy n="63" d="100"/>
        </p:scale>
        <p:origin x="78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28702-633C-4F70-8B53-8514E3E7250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90163-FAFD-47D6-BE4F-B2E71F8CC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Chào hội đồng. Em là Nguyễn Văn Kiệt, lớp CNTT1-K63, dưới hướng dẫn của thầy Nguyễn Đức Dư. Em xin trình bày khóa luận: Xây dựng hệ thống SaaS cung cấp dịch vụ đào tạo — nền tảng KiteHub. (~30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trình bày bám bốn chương: tổng quan, thiết kế kiến trúc, cài đặt và triển khai, đánh giá kết quả; khép lại bằng demo và kết luận. (~20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Bối cảnh: thị trường lớn, pháp luật hợp pháp hóa dạy thêm, đa số trung tâm nhỏ quản lý thủ công. Ba quan sát hội tụ: nhu cầu, mốc pháp lý cứng, AI vừa đủ chín. (~60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Khảo sát bốn hệ thống tham khảo: BeeClass (gamification nhẹ) + Mona eLMS, Easy Edu, DotB (quản lý trung tâm). Đều đơn-tenant, không AI. KiteHub khai thác khoảng trống đa-tenant gốc + AI Branding phân khúc giá thấp. (~70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Bốn mục tiêu (Mở đầu §2): SaaS đa-tenant, AI Branding, tuân thủ pháp luật, phương pháp luận chất lượng. Phạm vi (§3): AWS Singapore, hai giáo viên thật, ba nhóm người dùng; nhóm K-12 lùi sau do cần DPO/DPIA. (~60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Yếu tố khác biệt thứ hai (§1.3): tự động hóa nhận diện thương hiệu. Vận hành dùng OpenAI GPT-4 Vision + DALL-E 3, phát triển dùng Ollama tự host. Ưu tiên mẫu, chỉ gọi AI khi cần; xem trước bắt buộc đạt WCAG AA + qua bộ phân loại an toàn nội dung. Bên phải là wizard thực tế. (~80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trụ cột pháp luật tích hợp từ thiết kế. PDPL mốc cứng 07/2026, với consent_record, quy trình DSAR và audit log bất biến cho Điều 11. Luật An ninh mạng có ngưỡng chưa chạm, có lộ trình. Thông tư 78 dùng đối tác MISA. (~70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Phương pháp luận kết hợp lý thuyết (so sánh hệ tham khảo) và thực nghiệm. Ba trụ cột có cơ sở: TDD (Beck), DDD (Evans), PDCA (Deming), theo chuẩn SQA IEEE 730. Kim tự tháp kiểm thử minh họa phân bố ba tầng test (~985 test). (~50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Sơ đồ ngữ cảnh C4 Level 1 (Brown): Kite Platform tương tác 8 nhóm actor và 6 hệ thống bên ngoài. Mọi actor truy cập qua HTTPS (TLS 1.2+); hệ thống ngoài cô lập qua adapter pattern (NotificationChannel cho email, PaymentProcessor cho VietQR). Không actor nào chạm DB trực tiếp — đều qua biên trust gateway. (~70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Sơ đồ container C4 Level 2: bốn cụm. Frontend gồm hai Next.js (kitehub cổng 3001 marketing/quản trị, kiteclass cổng 3000 giáo dục, ~85% mobile). Gateway (Spring Cloud Gateway cổng 9000) là điểm vào duy nhất. Cụm dịch vụ: 6 service KiteHub + kiteclass-core. Hạ tầng dùng chung 4 container kite- (Postgres/Redis/RabbitMQ/MinIO). Tổng 17 thành phần. (~60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Đồ án đánh giá 6 pattern multi-tenant, chọn Shared Database + tenant_id + PostgreSQL RLS (mô hình Pool theo AWS SaaS Lens). Lý do: chi phí vận hành thấp nhất + database engine ép lọc, không phụ thuộc lập trình viên nhớ điều kiện. Bảng rút gọn 4 mô hình tiêu biểu. (~70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Nhiều lớp độc lập. RLS là phòng tuyến cuối: quên kiểm tra tầng ứng dụng, database vẫn ép buộc. Phải thủng cả 5 lớp mới rò dữ liệu chéo tenant. (~60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Mô hình dữ liệu domain giáo dục. ENROLLMENTS phân giải nhiều-nhiều học viên–lớp; điểm danh, điểm, thanh toán gắn quanh đăng ký. Mọi bảng mang tenant_id phục vụ RLS. (~50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Vòng đời tenant: từ chờ duyệt, sang dùng thử khi cấp magic-link, đến hoạt động chính thức. Sự kiện branding.deploy phát song song dựng template mặc định. (~50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Triển khai thực tế AWS Singapore (ap-southeast-1), VPC tách public/private subnet, RDS trong private subnet. Free Tier giữ tổng chi phí ~15–30 USD/tháng (EC2 vượt 750h tính ~7,38 USD; AI DALL-E 3 ~0,04 USD/ảnh). Chưa vượt ngưỡng pháp lý, có lộ trình chuyển vùng. (~60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CI/CD chuẩn hiện đại: artifact bất biến, OIDC thay key tĩnh, xác nhận thủ công. Giám sát ba lớp; CloudTrail bật trước khi tạo tài nguyên để có audit baseline. (~50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giao diện thực tế: trang chủ thương hiệu riêng (minh chứng phân giải Tenant→Domain→Landing), dashboard, quản lý học viên. Sản phẩm chạy thật, không phải mô hình. (~60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Minh chứng giá trị AI Branding: bên trái gói Miễn phí mẫu dựng sẵn; bên phải gói Trả phí bộ nhận diện sinh tự động qua AI cho môn Hóa, tông màu khác hẳn. Hai tenant thật, hai thương hiệu riêng. (~70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Tổng ~985 test (850 unit + 120 integration + 15-25 E2E), pass ≥99,5% trên main, coverage ≥75% line module nghiệp vụ. Integration dùng Testcontainers Postgres thật (không H2) cho RLS/GUC. Audit định kỳ 4 chiều theo IEEE 730, vòng cải tiến liên tục. (~80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demo trực tiếp theo kịch bản 6 phase (defense-demo-script.md): khách tham quan, đăng ký onboarding, wizard tạo tenant, chứng minh cô lập bằng 2 tài khoản khác tenant, xem audit log. Dự phòng video. (~30 giây + demo)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Thừa nhận hạn chế kèm lộ trình tốt hơn che giấu. Mỗi hạn chế có hướng phát triển: nâng cấp hạ tầng, chuyển vùng, mở thanh toán, tích hợp Zalo và hóa đơn điện tử qua đối tác. (~70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Tóm kết quả: nền tảng 7 microservice + 2 FE trên AWS Singapore, cô lập đa-tenant RLS, bốn yếu tố khác biệt, đáp ứng PDPL/An ninh mạng/TT78, kiểm chứng qua kiểm thử nhiều tầng, mã nguồn công khai. Cảm ơn GVHD và hội đồng, em sẵn sàng nhận câu hỏi. (~40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8AD7-E71C-4EF3-8479-A49C30280DC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2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8AD7-E71C-4EF3-8479-A49C30280DC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35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8AD7-E71C-4EF3-8479-A49C30280DC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6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8AD7-E71C-4EF3-8479-A49C30280DC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74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8AD7-E71C-4EF3-8479-A49C30280DC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28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8AD7-E71C-4EF3-8479-A49C30280DC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5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8AD7-E71C-4EF3-8479-A49C30280DC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4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8AD7-E71C-4EF3-8479-A49C30280DC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8AD7-E71C-4EF3-8479-A49C30280DC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9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8AD7-E71C-4EF3-8479-A49C30280DC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75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8AD7-E71C-4EF3-8479-A49C30280DC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437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48AD7-E71C-4EF3-8479-A49C30280DC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443984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1F3A6E"/>
                </a:solidFill>
                <a:latin typeface="Arial"/>
              </a:rPr>
              <a:t>XÂY DỰNG HỆ THỐNG SAAS CUNG CẤP DỊCH VỤ ĐÀO TẠO</a:t>
            </a:r>
          </a:p>
          <a:p>
            <a:pPr algn="ctr"/>
            <a:r>
              <a:rPr sz="1300" i="1">
                <a:solidFill>
                  <a:srgbClr val="555555"/>
                </a:solidFill>
                <a:latin typeface="Arial"/>
              </a:rPr>
              <a:t>Nền tảng KiteHub &amp; KiteClass — kiến trúc đa-tenant tích hợp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300" b="0">
                <a:solidFill>
                  <a:srgbClr val="222222"/>
                </a:solidFill>
                <a:latin typeface="Arial"/>
              </a:rPr>
              <a:t>Sinh viên: Nguyễn Văn Kiệt — MSSV 221230890 — Lớp CNTT1-K63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</a:rPr>
              <a:t>Giảng viên hướng dẫn: TS. Nguyễn Đức Dư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</a:rPr>
              <a:t>Bộ môn Công nghệ phần mềm — Khoa Công nghệ thông tin — UTC,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Nội dung trình bày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1920240"/>
            <a:ext cx="566928" cy="566928"/>
          </a:xfrm>
          <a:prstGeom prst="ellipse">
            <a:avLst/>
          </a:prstGeom>
          <a:solidFill>
            <a:srgbClr val="2E2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1920240"/>
            <a:ext cx="9509760" cy="566928"/>
          </a:xfrm>
          <a:prstGeom prst="roundRect">
            <a:avLst>
              <a:gd name="adj" fmla="val 30000"/>
            </a:avLst>
          </a:prstGeom>
          <a:solidFill>
            <a:srgbClr val="F2F6FC"/>
          </a:solidFill>
          <a:ln w="9525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 b="1">
                <a:solidFill>
                  <a:srgbClr val="1F3A6E"/>
                </a:solidFill>
                <a:latin typeface="Arial"/>
              </a:rPr>
              <a:t>Tổng quan: bối cảnh, khảo sát thị trường, mục tiêu  (Chương 1)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798064"/>
            <a:ext cx="566928" cy="566928"/>
          </a:xfrm>
          <a:prstGeom prst="ellipse">
            <a:avLst/>
          </a:prstGeom>
          <a:solidFill>
            <a:srgbClr val="2E2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2798064"/>
            <a:ext cx="9509760" cy="566928"/>
          </a:xfrm>
          <a:prstGeom prst="roundRect">
            <a:avLst>
              <a:gd name="adj" fmla="val 30000"/>
            </a:avLst>
          </a:prstGeom>
          <a:solidFill>
            <a:srgbClr val="F2F6FC"/>
          </a:solidFill>
          <a:ln w="9525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 b="1">
                <a:solidFill>
                  <a:srgbClr val="1F3A6E"/>
                </a:solidFill>
                <a:latin typeface="Arial"/>
              </a:rPr>
              <a:t>Kỹ thuật AI, khung pháp lý, phương pháp luận  (Chương 1)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3675887"/>
            <a:ext cx="566928" cy="566928"/>
          </a:xfrm>
          <a:prstGeom prst="ellipse">
            <a:avLst/>
          </a:prstGeom>
          <a:solidFill>
            <a:srgbClr val="2E2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675887"/>
            <a:ext cx="9509760" cy="566928"/>
          </a:xfrm>
          <a:prstGeom prst="roundRect">
            <a:avLst>
              <a:gd name="adj" fmla="val 30000"/>
            </a:avLst>
          </a:prstGeom>
          <a:solidFill>
            <a:srgbClr val="F2F6FC"/>
          </a:solidFill>
          <a:ln w="9525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 b="1">
                <a:solidFill>
                  <a:srgbClr val="1F3A6E"/>
                </a:solidFill>
                <a:latin typeface="Arial"/>
              </a:rPr>
              <a:t>Phân tích và thiết kế kiến trúc đa-tenant  (Chương 2)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553712"/>
            <a:ext cx="566928" cy="566928"/>
          </a:xfrm>
          <a:prstGeom prst="ellipse">
            <a:avLst/>
          </a:prstGeom>
          <a:solidFill>
            <a:srgbClr val="2E2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4553712"/>
            <a:ext cx="9509760" cy="566928"/>
          </a:xfrm>
          <a:prstGeom prst="roundRect">
            <a:avLst>
              <a:gd name="adj" fmla="val 30000"/>
            </a:avLst>
          </a:prstGeom>
          <a:solidFill>
            <a:srgbClr val="F2F6FC"/>
          </a:solidFill>
          <a:ln w="9525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 b="1">
                <a:solidFill>
                  <a:srgbClr val="1F3A6E"/>
                </a:solidFill>
                <a:latin typeface="Arial"/>
              </a:rPr>
              <a:t>Cài đặt, triển khai AWS và kết quả  (Chương 3 &amp; 4)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5431536"/>
            <a:ext cx="566928" cy="566928"/>
          </a:xfrm>
          <a:prstGeom prst="ellipse">
            <a:avLst/>
          </a:prstGeom>
          <a:solidFill>
            <a:srgbClr val="2E2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3080" y="5431536"/>
            <a:ext cx="9509760" cy="566928"/>
          </a:xfrm>
          <a:prstGeom prst="roundRect">
            <a:avLst>
              <a:gd name="adj" fmla="val 30000"/>
            </a:avLst>
          </a:prstGeom>
          <a:solidFill>
            <a:srgbClr val="F2F6FC"/>
          </a:solidFill>
          <a:ln w="9525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 b="1">
                <a:solidFill>
                  <a:srgbClr val="1F3A6E"/>
                </a:solidFill>
                <a:latin typeface="Arial"/>
              </a:rPr>
              <a:t>Demo trực tiếp, hạn chế và kết luận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Bối cảnh và vấn đề (§1.1)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▸  Thông tư 29/2024/TT-BGDĐT chính thức hóa hoạt động dạy thêm có thu phí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▸  Hơn 50.000 trung tâm dạy thêm tư nhân đang hoạt động tại Việt Nam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▸  Phần lớn trung tâm vừa và nhỏ vẫn quản lý bằng Excel và nhóm Zalo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3A6E"/>
                </a:solidFill>
                <a:latin typeface="Arial"/>
              </a:rPr>
              <a:t>▸  Ba quan sát thúc đẩy đề tài: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Khoảng trống thị trường: trung tâm 100–2000 học viên cần phần mềm 0,5–1,5 triệu đồng/tháng, đa-tenant gốc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Mốc pháp lý: Luật Bảo vệ dữ liệu cá nhân 2023 hiệu lực 07/2026 — tích hợp tuân thủ ngay từ thiết kế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Công nghệ AI trưởng thành: API thương mại cho phép tự động hóa nhận diện thương hiệu chi phí thấp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Nguồn: Magenest EdTech 2024; 6Wresearch 2024–2030; VECITA 2024.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Khảo sát hệ thống tương tự (§1.2)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4</a:t>
            </a:r>
          </a:p>
        </p:txBody>
      </p:sp>
      <p:pic>
        <p:nvPicPr>
          <p:cNvPr id="4" name="Picture 3" descr="fig-1.1-bee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691640"/>
            <a:ext cx="3291840" cy="2057400"/>
          </a:xfrm>
          <a:prstGeom prst="rect">
            <a:avLst/>
          </a:prstGeom>
          <a:ln w="9525">
            <a:solidFill>
              <a:srgbClr val="C8D2E0"/>
            </a:solidFill>
          </a:ln>
        </p:spPr>
      </p:pic>
      <p:pic>
        <p:nvPicPr>
          <p:cNvPr id="5" name="Picture 4" descr="fig-1.2-mo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91640"/>
            <a:ext cx="3291840" cy="2057400"/>
          </a:xfrm>
          <a:prstGeom prst="rect">
            <a:avLst/>
          </a:prstGeom>
          <a:ln w="9525">
            <a:solidFill>
              <a:srgbClr val="C8D2E0"/>
            </a:solidFill>
          </a:ln>
        </p:spPr>
      </p:pic>
      <p:pic>
        <p:nvPicPr>
          <p:cNvPr id="6" name="Picture 5" descr="fig-1.3-easyed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352" y="3840480"/>
            <a:ext cx="3145536" cy="1965960"/>
          </a:xfrm>
          <a:prstGeom prst="rect">
            <a:avLst/>
          </a:prstGeom>
          <a:ln w="9525">
            <a:solidFill>
              <a:srgbClr val="C8D2E0"/>
            </a:solidFill>
          </a:ln>
        </p:spPr>
      </p:pic>
      <p:pic>
        <p:nvPicPr>
          <p:cNvPr id="7" name="Picture 6" descr="fig-1.4-dot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632" y="3840480"/>
            <a:ext cx="3145536" cy="1965960"/>
          </a:xfrm>
          <a:prstGeom prst="rect">
            <a:avLst/>
          </a:prstGeom>
          <a:ln w="9525">
            <a:solidFill>
              <a:srgbClr val="C8D2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Hình 1.1–1.4: BeeClass, Mona eLMS, Easy Edu, DotB — đều đơn-tenant, không AI. KiteHub khác biệt: đa-tenant RLS gốc + AI Branding.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Mục tiêu và phạm vi nghiên cứu (Mở đầu §2–§3)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3A6E"/>
                </a:solidFill>
                <a:latin typeface="Arial"/>
              </a:rPr>
              <a:t>▸  Bốn mục tiêu nghiên cứu: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Nền tảng SaaS đa-tenant — mở rộng 1 → hàng trăm chi nhánh không thiết kế lại kiến trúc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AI Branding tự sinh logo/banner/ảnh chủ đạo — rút ngắn khởi tạo từ vài tuần xuống vài ngày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Tuân thủ pháp luật VN: PDPL 2023, Luật An ninh mạng 2018, Thông tư 78/2021/TT-BTC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Phương pháp luận phát triển hướng chất lượng — TDD, DDD, PDCA xuyên suốt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3A6E"/>
                </a:solidFill>
                <a:latin typeface="Arial"/>
              </a:rPr>
              <a:t>▸  Phạm vi: AWS Singapore Free Tier; 2 giáo viên độc lập thật (Miễn phí + Trả phí)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555555"/>
                </a:solidFill>
                <a:latin typeface="Arial"/>
              </a:rPr>
              <a:t>▸  3 nhóm người dùng: GV độc lập, Chủ trung tâm, Quản lý. Phụ huynh/Học sinh K-12 — phát triển sau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Khác biệt — AI Branding tự động (§1.3 · §3.1.2)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6126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▸  Tự sinh logo + ảnh bìa từ prompt văn bản + màu thương hiệu khi tenant khởi tạo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▸  OpenAI GPT-4 Vision + DALL-E 3 (vận hành) · Ollama tự host (phát triển)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▸  Ưu tiên mẫu (template-first): chỉ gọi AI khi cần; xem trước bắt buộc đạt WCAG AA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▸  Bộ phân loại an toàn nội dung trước khi triển khai; gói FREE tạo lại tối đa 3 lần/ngày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7E34"/>
                </a:solidFill>
                <a:latin typeface="Arial"/>
              </a:rPr>
              <a:t>▸  Chi phí ~0,04 USD/ảnh DALL-E 3 — không hệ tham khảo nào có tính năng này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349240" cy="4297680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2700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-3.4-ai-wi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248853"/>
            <a:ext cx="4946903" cy="30918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989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Hình 3.4 — Trình hướng dẫn AI Branding cho chủ trung tâm.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Khác biệt — Tuân thủ pháp luật VN theo thiết kế (§1.3 · §2.1.2)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28800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297680"/>
                <a:gridCol w="40233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Văn bản</a:t>
                      </a:r>
                    </a:p>
                  </a:txBody>
                  <a:tcPr marL="64008" marR="64008" marT="18288" marB="18288" anchor="ctr">
                    <a:solidFill>
                      <a:srgbClr val="2E2C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Yêu cầu chính</a:t>
                      </a:r>
                    </a:p>
                  </a:txBody>
                  <a:tcPr marL="64008" marR="64008" marT="18288" marB="18288" anchor="ctr">
                    <a:solidFill>
                      <a:srgbClr val="2E2C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Cách hiện thực</a:t>
                      </a:r>
                    </a:p>
                  </a:txBody>
                  <a:tcPr marL="64008" marR="64008" marT="18288" marB="18288" anchor="ctr">
                    <a:solidFill>
                      <a:srgbClr val="2E2C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PDPL 2023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Consent cụ thể; quyền truy cập/xóa; DPO khi &gt;10k chủ thể; báo vi phạm 72h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consent_record; quy trình DSAR; audit log bất biến V60 (Điều 11)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Luật An ninh mạng 2018</a:t>
                      </a:r>
                    </a:p>
                    <a:p>
                      <a:r>
                        <a:rPr sz="1200">
                          <a:latin typeface="Arial"/>
                        </a:rPr>
                        <a:t>+ Nghị định 53/2022</a:t>
                      </a:r>
                    </a:p>
                  </a:txBody>
                  <a:tcPr marL="64008" marR="64008" marT="18288" marB="18288"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Lưu trữ dữ liệu tại VN khi vượt 1 triệu người dùng</a:t>
                      </a:r>
                    </a:p>
                  </a:txBody>
                  <a:tcPr marL="64008" marR="64008" marT="18288" marB="18288"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Lộ trình chuyển AWS Hà Nội Local Zone / Viettel / VNG</a:t>
                      </a:r>
                    </a:p>
                  </a:txBody>
                  <a:tcPr marL="64008" marR="64008" marT="18288" marB="18288" anchor="ctr">
                    <a:solidFill>
                      <a:srgbClr val="ECEF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Thông tư 78/2021/TT-BTC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Hóa đơn điện tử, kết nối cơ quan thuế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Tích hợp đối tác MISA MeInvoice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Tuân thủ ngay từ thiết kế (compliance-by-design): consent, DSAR, audit log bất biến tích hợp từ schema.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Phương pháp luận hướng chất lượng (Mở đầu §4 · §3.2)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6309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▸  Kết hợp nghiên cứu lý thuyết (so sánh 4 hệ thống) + thực nghiệm (thiết kế + hiện thực)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▸  Phát triển hướng kiểm thử (TDD) — coverage ≥ 75% line trên module nghiệp vụ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▸  Thiết kế hướng miền (DDD) tách control-plane / domain-plane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▸  Chu trình cải tiến liên tục Plan-Do-Check-Act (PDCA) duy trì chất lượng mã + tài liệu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555555"/>
                </a:solidFill>
                <a:latin typeface="Arial"/>
              </a:rPr>
              <a:t>▸  Cơ sở: Beck TDD (2002), Evans DDD (2003), Deming PDCA (1986), IEEE 730 SQA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691640"/>
            <a:ext cx="5120640" cy="4206240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2700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-3.6-test-pyra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989" y="1892808"/>
            <a:ext cx="2233781" cy="38039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59436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Hình 3.6 — Kim tự tháp kiểm thử áp dụng cho KiteHub.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Kiến trúc tổng thể — C4 Level 1 (Hình 2.1)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91056"/>
            <a:ext cx="11274552" cy="4370832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2700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2.1-c4-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235" y="1792224"/>
            <a:ext cx="5100482" cy="3968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Hình 2.1 — Ngữ cảnh C4 L1: 8 nhóm actor + 6 hệ thống ngoài; mọi truy cập qua HTTPS, không actor nào chạm DB trực tiếp.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Phân rã container — C4 Level 2 (Hình 2.2)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91056"/>
            <a:ext cx="11274552" cy="4370832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2700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2.2-c4-cont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344" y="1792224"/>
            <a:ext cx="3686263" cy="3968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Hình 2.2 — Container C4 L2: 4 cụm — Frontend (2 Next.js) · Gateway · 6 service KiteHub + KiteClass core · 4 hạ tầng kite-.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Khác biệt — Cô lập đa-tenant bằng RLS (§2.2.3)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8308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737360"/>
                <a:gridCol w="2468880"/>
                <a:gridCol w="2103120"/>
                <a:gridCol w="21945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 marL="64008" marR="64008" marT="18288" marB="18288" anchor="ctr">
                    <a:solidFill>
                      <a:srgbClr val="2E2C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Chi phí</a:t>
                      </a:r>
                    </a:p>
                  </a:txBody>
                  <a:tcPr marL="64008" marR="64008" marT="18288" marB="18288" anchor="ctr">
                    <a:solidFill>
                      <a:srgbClr val="2E2C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Cô lập</a:t>
                      </a:r>
                    </a:p>
                  </a:txBody>
                  <a:tcPr marL="64008" marR="64008" marT="18288" marB="18288" anchor="ctr">
                    <a:solidFill>
                      <a:srgbClr val="2E2C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Quy mô</a:t>
                      </a:r>
                    </a:p>
                  </a:txBody>
                  <a:tcPr marL="64008" marR="64008" marT="18288" marB="18288" anchor="ctr">
                    <a:solidFill>
                      <a:srgbClr val="2E2C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Quyết định</a:t>
                      </a:r>
                    </a:p>
                  </a:txBody>
                  <a:tcPr marL="64008" marR="64008" marT="18288" marB="18288" anchor="ctr">
                    <a:solidFill>
                      <a:srgbClr val="2E2C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Instance mỗi tenant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Rất cao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Tuyệt đối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≤10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Loại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Database mỗi tenant</a:t>
                      </a:r>
                    </a:p>
                  </a:txBody>
                  <a:tcPr marL="64008" marR="64008" marT="18288" marB="18288"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Cao</a:t>
                      </a:r>
                    </a:p>
                  </a:txBody>
                  <a:tcPr marL="64008" marR="64008" marT="18288" marB="18288"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Mạnh</a:t>
                      </a:r>
                    </a:p>
                  </a:txBody>
                  <a:tcPr marL="64008" marR="64008" marT="18288" marB="18288"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10–100</a:t>
                      </a:r>
                    </a:p>
                  </a:txBody>
                  <a:tcPr marL="64008" marR="64008" marT="18288" marB="18288"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Loại</a:t>
                      </a:r>
                    </a:p>
                  </a:txBody>
                  <a:tcPr marL="64008" marR="64008" marT="18288" marB="18288" anchor="ctr">
                    <a:solidFill>
                      <a:srgbClr val="ECEF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Schema mỗi tenant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Trung bình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Khá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100–1000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Cân nhắc sau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Row-Level Security</a:t>
                      </a:r>
                    </a:p>
                  </a:txBody>
                  <a:tcPr marL="64008" marR="64008" marT="18288" marB="18288"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Thấp</a:t>
                      </a:r>
                    </a:p>
                  </a:txBody>
                  <a:tcPr marL="64008" marR="64008" marT="18288" marB="18288"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DB engine ép buộc</a:t>
                      </a:r>
                    </a:p>
                  </a:txBody>
                  <a:tcPr marL="64008" marR="64008" marT="18288" marB="18288"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≥1000</a:t>
                      </a:r>
                    </a:p>
                  </a:txBody>
                  <a:tcPr marL="64008" marR="64008" marT="18288" marB="18288"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Áp dụng</a:t>
                      </a:r>
                    </a:p>
                  </a:txBody>
                  <a:tcPr marL="64008" marR="64008" marT="18288" marB="18288" anchor="ctr">
                    <a:solidFill>
                      <a:srgbClr val="ECEF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34340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3A6E"/>
                </a:solidFill>
                <a:latin typeface="Arial"/>
              </a:rPr>
              <a:t>▸  RLS policy + biến phiên app.current_tenant_id — Postgres ép lọc ở MỖI truy vấn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▸  Mô hình Pool theo AWS Well-Architected SaaS Lens; NULL force-fail + HikariCP GUC reset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Bảo mật nhiều lớp — Defense-in-depth (Hình 2.3)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91056"/>
            <a:ext cx="11274552" cy="4370832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2700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2.3-defense-5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607" y="1792224"/>
            <a:ext cx="2873738" cy="3968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Hình 2.3 — JWT → @PreAuthorize → tenant interceptor → bộ lọc repository → PostgreSQL RLS (phòng tuyến cuối).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Mô hình dữ liệu — ERD KiteClass (Hình 2.6b)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91056"/>
            <a:ext cx="11274552" cy="4370832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2700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2.6b-erd-kite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555" y="1792224"/>
            <a:ext cx="4725842" cy="3968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Hình 2.6b — ERD domain giáo dục: ENROLLMENTS phân giải quan hệ nhiều-nhiều STUDENTS ↔ CLASSES.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Vòng đời tenant — máy trạng thái (Hình 2.8)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91056"/>
            <a:ext cx="11274552" cy="4370832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2700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2.8-tenant-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340" y="1792224"/>
            <a:ext cx="3326272" cy="3968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Hình 2.8 — PENDING → TRIAL → ACTIVE → SUSPEND; cấp phát tenant + magic-link kích hoạt.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Triển khai thực tế — AWS Singapore (Hình 4.1a)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7040880" cy="4297680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2700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4.1a-vpc-top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032" y="1847088"/>
            <a:ext cx="1963215" cy="3895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78308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F3A6E"/>
                </a:solidFill>
                <a:latin typeface="Arial"/>
              </a:rPr>
              <a:t>▸  Vùng ap-southeast-1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Public subnet: ALB + 2× EC2 t3.micro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Private subnet: RDS PostgreSQL cô lập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Phụ trợ: S3, SES, Secrets Manager, ECR, CloudWatch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E7E34"/>
                </a:solidFill>
                <a:latin typeface="Arial"/>
              </a:rPr>
              <a:t>▸  Free Tier 12 tháng → tổng chi phí ~15–30 USD/tháng (≈360–720 nghìn đồng)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  <a:latin typeface="Arial"/>
              </a:rPr>
              <a:t>▸  Chưa chạm ngưỡng PDPL Đ28 (10k) / NĐ53 (1 triệu user); có lộ trình chuyển vùng trong nước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Hình 4.1a — Topology VPC (10.0.0.0/16).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CI/CD và giám sát vận hành (Hình 4.2a)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6949440" cy="4297680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2700">
            <a:solidFill>
              <a:srgbClr val="C5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4.2a-ci-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97404"/>
            <a:ext cx="6547103" cy="31947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7830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▸  GitHub Actions + OIDC — không lưu access key tĩnh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▸  Docker tag bất biến theo SHA; Terraform plan-trước-apply + xác nhận thủ công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F3A6E"/>
                </a:solidFill>
                <a:latin typeface="Arial"/>
              </a:rPr>
              <a:t>▸  Giám sát 3 lớp: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CloudTrail — audit mọi AWS API call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CloudWatch — log JSON + cảnh báo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Prometheus + Grafana — metric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Hình 4.2a — Pha build: CI verify → OIDC → push ECR.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Sản phẩm thực tế — giao diện (Chương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17</a:t>
            </a:r>
          </a:p>
        </p:txBody>
      </p:sp>
      <p:pic>
        <p:nvPicPr>
          <p:cNvPr id="4" name="Picture 3" descr="fig-3.1-tenant-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31745"/>
            <a:ext cx="3749039" cy="2343149"/>
          </a:xfrm>
          <a:prstGeom prst="rect">
            <a:avLst/>
          </a:prstGeom>
          <a:ln w="9525">
            <a:solidFill>
              <a:srgbClr val="C8D2E0"/>
            </a:solidFill>
          </a:ln>
        </p:spPr>
      </p:pic>
      <p:pic>
        <p:nvPicPr>
          <p:cNvPr id="5" name="Picture 4" descr="fig-3.3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531745"/>
            <a:ext cx="3749039" cy="2343149"/>
          </a:xfrm>
          <a:prstGeom prst="rect">
            <a:avLst/>
          </a:prstGeom>
          <a:ln w="9525">
            <a:solidFill>
              <a:srgbClr val="C8D2E0"/>
            </a:solidFill>
          </a:ln>
        </p:spPr>
      </p:pic>
      <p:pic>
        <p:nvPicPr>
          <p:cNvPr id="6" name="Picture 5" descr="fig-3.5-student-mgm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531745"/>
            <a:ext cx="3749039" cy="2343149"/>
          </a:xfrm>
          <a:prstGeom prst="rect">
            <a:avLst/>
          </a:prstGeom>
          <a:ln w="9525">
            <a:solidFill>
              <a:srgbClr val="C8D2E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Hình 3.1 / 3.3 / 3.5 — Trang chủ thương hiệu riêng theo tenant · Dashboard tổng quan · Quản lý học viên.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Kết quả AI Branding — gói Miễn phí vs Trả phí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18</a:t>
            </a:r>
          </a:p>
        </p:txBody>
      </p:sp>
      <p:pic>
        <p:nvPicPr>
          <p:cNvPr id="4" name="Picture 3" descr="fig-4.3-landing-f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34540"/>
            <a:ext cx="5486400" cy="3429000"/>
          </a:xfrm>
          <a:prstGeom prst="rect">
            <a:avLst/>
          </a:prstGeom>
          <a:ln w="9525">
            <a:solidFill>
              <a:srgbClr val="C8D2E0"/>
            </a:solidFill>
          </a:ln>
        </p:spPr>
      </p:pic>
      <p:pic>
        <p:nvPicPr>
          <p:cNvPr id="5" name="Picture 4" descr="fig-4.4-landing-pa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34540"/>
            <a:ext cx="5486400" cy="3429000"/>
          </a:xfrm>
          <a:prstGeom prst="rect">
            <a:avLst/>
          </a:prstGeom>
          <a:ln w="9525">
            <a:solidFill>
              <a:srgbClr val="C8D2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Arial"/>
              </a:rPr>
              <a:t>Hình 4.3 (Miễn phí — mẫu dựng sẵn, tông xanh dương) vs Hình 4.4 (Trả phí — AI sinh tự động, tông xanh lá).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Kết quả kiểm thử và đánh giá chất lượng (§3.2)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2544318" cy="21031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5875">
            <a:solidFill>
              <a:srgbClr val="2E2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/>
            <a:r>
              <a:rPr sz="4000" b="1">
                <a:solidFill>
                  <a:srgbClr val="1F3A6E"/>
                </a:solidFill>
                <a:latin typeface="Arial"/>
              </a:rPr>
              <a:t>~985</a:t>
            </a:r>
          </a:p>
          <a:p>
            <a:pPr algn="ctr"/>
            <a:r>
              <a:rPr sz="1500" b="1">
                <a:solidFill>
                  <a:srgbClr val="222222"/>
                </a:solidFill>
                <a:latin typeface="Arial"/>
              </a:rPr>
              <a:t>Test case</a:t>
            </a:r>
          </a:p>
          <a:p>
            <a:pPr algn="ctr"/>
            <a:r>
              <a:rPr sz="1100">
                <a:solidFill>
                  <a:srgbClr val="555555"/>
                </a:solidFill>
                <a:latin typeface="Arial"/>
              </a:rPr>
              <a:t>850 unit·120 IT·15-25 E2E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7277" y="1920240"/>
            <a:ext cx="2544318" cy="21031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5875">
            <a:solidFill>
              <a:srgbClr val="2E2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/>
            <a:r>
              <a:rPr sz="4000" b="1">
                <a:solidFill>
                  <a:srgbClr val="1F3A6E"/>
                </a:solidFill>
                <a:latin typeface="Arial"/>
              </a:rPr>
              <a:t>≥99,5%</a:t>
            </a:r>
          </a:p>
          <a:p>
            <a:pPr algn="ctr"/>
            <a:r>
              <a:rPr sz="1500" b="1">
                <a:solidFill>
                  <a:srgbClr val="222222"/>
                </a:solidFill>
                <a:latin typeface="Arial"/>
              </a:rPr>
              <a:t>Tỷ lệ pass</a:t>
            </a:r>
          </a:p>
          <a:p>
            <a:pPr algn="ctr"/>
            <a:r>
              <a:rPr sz="1100">
                <a:solidFill>
                  <a:srgbClr val="555555"/>
                </a:solidFill>
                <a:latin typeface="Arial"/>
              </a:rPr>
              <a:t>trên nhánh 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7355" y="1920240"/>
            <a:ext cx="2544318" cy="21031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5875">
            <a:solidFill>
              <a:srgbClr val="2E2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/>
            <a:r>
              <a:rPr sz="4000" b="1">
                <a:solidFill>
                  <a:srgbClr val="1F3A6E"/>
                </a:solidFill>
                <a:latin typeface="Arial"/>
              </a:rPr>
              <a:t>≥75%</a:t>
            </a:r>
          </a:p>
          <a:p>
            <a:pPr algn="ctr"/>
            <a:r>
              <a:rPr sz="1500" b="1">
                <a:solidFill>
                  <a:srgbClr val="222222"/>
                </a:solidFill>
                <a:latin typeface="Arial"/>
              </a:rPr>
              <a:t>Coverage</a:t>
            </a:r>
          </a:p>
          <a:p>
            <a:pPr algn="ctr"/>
            <a:r>
              <a:rPr sz="1100">
                <a:solidFill>
                  <a:srgbClr val="555555"/>
                </a:solidFill>
                <a:latin typeface="Arial"/>
              </a:rPr>
              <a:t>module nghiệp vụ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7434" y="1920240"/>
            <a:ext cx="2544318" cy="21031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5875">
            <a:solidFill>
              <a:srgbClr val="2E2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/>
            <a:r>
              <a:rPr sz="4000" b="1">
                <a:solidFill>
                  <a:srgbClr val="1F3A6E"/>
                </a:solidFill>
                <a:latin typeface="Arial"/>
              </a:rPr>
              <a:t>4 chiều</a:t>
            </a:r>
          </a:p>
          <a:p>
            <a:pPr algn="ctr"/>
            <a:r>
              <a:rPr sz="1500" b="1">
                <a:solidFill>
                  <a:srgbClr val="222222"/>
                </a:solidFill>
                <a:latin typeface="Arial"/>
              </a:rPr>
              <a:t>Audit định kỳ</a:t>
            </a:r>
          </a:p>
          <a:p>
            <a:pPr algn="ctr"/>
            <a:r>
              <a:rPr sz="1100">
                <a:solidFill>
                  <a:srgbClr val="555555"/>
                </a:solidFill>
                <a:latin typeface="Arial"/>
              </a:rPr>
              <a:t>Quality·Security·Perf·API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▸  Kim tự tháp test pyramid (Cohn): đáy unit rộng → integration (Testcontainers Postgres+RabbitMQ) → đỉnh E2E Playwright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3A6E"/>
                </a:solidFill>
                <a:latin typeface="Arial"/>
              </a:rPr>
              <a:t>▸  Audit định kỳ theo SQA IEEE 730 — findings mỗi kỳ track riêng + schedule fix vòng kế tiếp (continuous quality loop)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F3A6E"/>
                </a:solidFill>
                <a:latin typeface="Arial"/>
              </a:rPr>
              <a:t>Demo trực tiếp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55555"/>
                </a:solidFill>
                <a:latin typeface="Arial"/>
              </a:rPr>
              <a:t>Khách tham quan → đăng ký onboarding → wizard tạo tenant → cô lập đa-tenant · dự phòng video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Hạn chế thừa nhận và 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B03030"/>
                </a:solidFill>
                <a:latin typeface="Arial"/>
              </a:rPr>
              <a:t>▸  Hạn chế hiện tại: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Hạ tầng 2× t3.micro bộ nhớ hạn chế; chưa có failover đa vùng (multi-AZ)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Chưa lưu trữ dữ liệu trong nước — kích hoạt chuyển vùng khi vượt ngưỡng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Quality gate AI dùng bộ lọc provider; chưa tự huấn luyện bộ phân loại brand-fit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Chưa có ứng dụng di động native — người dùng dùng web responsive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E7E34"/>
                </a:solidFill>
                <a:latin typeface="Arial"/>
              </a:rPr>
              <a:t>▸  Hướng phát triển sau: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Mở đăng ký công khai, nâng cấp hạ tầng, kích hoạt cổng thanh toán MoMo/VNPay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Tích hợp hóa đơn điện tử (MISA MeInvoice), kênh Zalo OA, mở rộng K-12 sau khi có legal counsel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3A6E"/>
                </a:solidFill>
                <a:latin typeface="Arial"/>
              </a:rPr>
              <a:t>▸  Đồ án hoàn thành các mục tiêu đặt ra trong phạm vi triển khai hiện tại: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Nền tảng KiteHub trên AWS Singapore: 7 microservice + 2 ứng dụng giao diện, cô lập đa-tenant bằng RLS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Bốn khác biệt: đa-tenant RLS gốc · AI Branding tự động · tuân thủ pháp luật theo thiết kế · UX Vietnamese-first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Đáp ứng PDPL 2023, Luật An ninh mạng 2018, Thông tư 78/2021/TT-BTC; kiểm chứng qua bộ kiểm thử nhiều tầng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▸  Mã nguồn công khai trên GitHub để hội đồng đối chiếu trực tiếp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A6E"/>
                </a:solidFill>
                <a:latin typeface="Arial"/>
              </a:rPr>
              <a:t>▸  Em xin chân thành cảm ơn thầy Nguyễn Đức Dư và quý hội đồng — sẵn sàng trả lời câu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3737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1383</TotalTime>
  <Words>44</Words>
  <Application>Microsoft Office PowerPoint</Application>
  <PresentationFormat>Widescreen</PresentationFormat>
  <Paragraphs>10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Pham Duy Anh</dc:creator>
  <cp:lastModifiedBy>Administrator</cp:lastModifiedBy>
  <cp:revision>132</cp:revision>
  <dcterms:created xsi:type="dcterms:W3CDTF">2017-10-17T01:43:35Z</dcterms:created>
  <dcterms:modified xsi:type="dcterms:W3CDTF">2022-10-10T01:04:35Z</dcterms:modified>
</cp:coreProperties>
</file>
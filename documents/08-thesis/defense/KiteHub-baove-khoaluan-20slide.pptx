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lớp CNTT1-K63, dưới hướng dẫn của thầy Nguyễn Đức Dư. Em xin trình bày khóa luận: Xây dựng hệ thống SaaS cung cấp dịch vụ đào tạo —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bắt đầu thẳng từ bài toán và cách giải quyết tổng quan, rồi tới khảo sát thị trường và mục tiêu, ba đóng góp chính, thiết kế kiến trúc đa-tenant, triển khai AWS và kết quả; khép lại bằng demo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cốt lõi: hàng chục nghìn trung tâm dạy thêm vừa và nhỏ tại Việt Nam vẫn quản lý thủ công bằng Excel và nhóm Zalo, thiếu một nền tảng số đúng nhu cầu, thiếu thương hiệu số giá rẻ, trong khi phần mềm hiện có hoặc quá đắt, hoặc quá phức tạp, hoặc thiếu trải nghiệm tiếng Việt. Ba yếu tố thị trường hội tụ thúc đẩy đề tài: nhu cầu lớn sau Thông tư 29, mốc pháp lý cứng của Luật Bảo vệ dữ liệu cá nhân, và công nghệ AI vừa đủ chín. (~60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giải bài toán trên, hệ thống được dựng quanh bốn trụ cột, mỗi trụ đáp đúng một khía cạnh của vấn đề. Trụ thứ nhất là nền tảng SaaS đa người thuê chia sẻ hạ tầng, dùng PostgreSQL Row-Level Security theo mô hình Pool, giúp chi phí thấp để giải bài toán phần mềm hiện có quá đắt. Trụ thứ hai là tự động hóa nhận diện thương hiệu bằng AI, cho phép một trung tâm có thương hiệu số mà không cần thuê thiết kế. Trụ thứ ba là tuân thủ pháp luật Việt Nam ngay từ thiết kế, tạo niềm tin từ kiến trúc. Trụ thứ tư là phương pháp luận hướng chất lượng, bảo đảm chất lượng dù phát triển một mình. Bốn trụ này là mạch xuyên suốt phần còn lại của bài trình bày. (~60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bốn hệ thống tham khảo: BeeClass (gamification nhẹ) + Mona eLMS, Easy Edu, DotB (quản lý trung tâm). Đều đơn-tenant, không AI. KiteHub khai thác khoảng trống đa-tenant gốc + AI Branding phân khúc giá thấp. (~70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mục tiêu (Mở đầu §2): SaaS đa-tenant, AI Branding, tuân thủ pháp luật, phương pháp luận chất lượng. Phạm vi (§3): AWS Singapore, hai giáo viên thật, ba nhóm người dùng; nhóm K-12 lùi sau do cần DPO/DPIA. (~60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Yếu tố khác biệt thứ hai (§1.3): tự động hóa nhận diện thương hiệu. Sinh ảnh dùng Stable Diffusion XL qua Replicate (chính), dự phòng SDXL Turbo trên Hugging Face. Ưu tiên mẫu, chỉ gọi AI khi cần; xem trước bắt buộc đạt WCAG AA + qua bộ phân loại an toàn nội dung. Bên phải là wizard thực tế. (~80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tích hợp từ thiết kế. PDPL mốc cứng 07/2026, với consent_record, quy trình DSAR và audit log bất biến cho Điều 11. Luật An ninh mạng có ngưỡng chưa chạm, có lộ trình. Thông tư 78 dùng đối tác MISA. (~70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luận kết hợp lý thuyết (so sánh hệ tham khảo) và thực nghiệm. Ba trụ cột có cơ sở: TDD (Beck), DDD (Evans), PDCA (Deming), theo chuẩn SQA IEEE 730. Kim tự tháp kiểm thử minh họa phân bố ba tầng test (~985 test). (~50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ngữ cảnh C4 Level 1 (Brown): Kite Platform tương tác 8 nhóm actor và 6 hệ thống bên ngoài. Mọi actor truy cập qua HTTPS (TLS 1.2+); hệ thống ngoài cô lập qua adapter pattern (NotificationChannel cho email, PaymentProcessor cho VietQR). Không actor nào chạm DB trực tiếp — đều qua biên trust gateway. (~70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đánh giá 6 pattern multi-tenant, chọn Shared Database + tenant_id + PostgreSQL RLS (mô hình Pool theo AWS SaaS Lens). Lý do: chi phí vận hành thấp nhất + database engine ép lọc, không phụ thuộc lập trình viên nhớ điều kiện. Bảng rút gọn 4 mô hình tiêu biểu. (~70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lớp độc lập. RLS là phòng tuyến cuối: quên kiểm tra tầng ứng dụng, database vẫn ép buộc. Phải thủng cả 5 lớp mới rò dữ liệu chéo tenant. (~60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domain giáo dục. ENROLLMENTS phân giải nhiều-nhiều học viên–lớp; điểm danh, điểm, thanh toán gắn quanh đăng ký. Mọi bảng mang tenant_id phục vụ RLS. (~50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AWS Singapore (ap-southeast-1), VPC tách public/private subnet, RDS trong private subnet. Free Tier giữ tổng chi phí ~15–30 USD/tháng (EC2 vượt 750h tính ~7,38 USD; AI SDXL qua Replicate ~0,0012 USD/ảnh). Chưa vượt ngưỡng pháp lý, có lộ trình chuyển vùng.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phần em muốn nhấn mạnh: sản phẩm chạy thật, không phải mô hình. Hàng trên là ba giao diện vận hành thực tế trên AWS: trang chủ thương hiệu riêng theo tenant — minh chứng cơ chế phân giải Tenant đến Domain đến Landing, dashboard tổng quan, và quản lý học viên với dữ liệu mẫu phong cách Việt Nam. Hàng dưới minh chứng trực tiếp giá trị AI Branding qua hai giáo viên độc lập thật: bên trái cô Nguyễn Thị Hà dùng gói Miễn phí với mẫu dựng sẵn tông xanh dương; bên phải thầy Nguyễn Đình Nhì dùng gói Trả phí với bộ nhận diện tông xanh lá sinh tự động qua AI cho môn Hóa. Hai tenant này dùng chung một mã nguồn và một cơ sở dữ liệu nhưng có hai thương hiệu riêng biệt — vừa chứng minh kiến trúc đa người thuê hoạt động đúng, vừa cho thấy AI Branding tạo giá trị khác biệt thật giữa hai phân khúc. (~90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Tổng ~985 test (850 unit + 120 integration + 15-25 E2E), pass ≥99,5% trên main, coverage ≥75% line module nghiệp vụ. Integration dùng Testcontainers Postgres thật (không H2) cho RLS/GUC. Audit định kỳ 4 chiều theo IEEE 730, vòng cải tiến liên tục. (~80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(defense-demo-script.md): khách tham quan, đăng ký onboarding, wizard tạo tenant, chứng minh cô lập bằng 2 tài khoản khác tenant, xem audit log. Dự phòng video.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kèm lộ trình tốt hơn che giấu. Mỗi hạn chế có hướng phát triển: nâng cấp hạ tầng, chuyển vùng,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kết quả: nền tảng 7 microservice + 2 FE trên AWS Singapore, cô lập đa-tenant RLS, bốn yếu tố khác biệt, đáp ứng PDPL/An ninh mạng/TT78, kiểm chứng qua kiểm thử nhiều tầng, mã nguồn công khai. Cảm ơn GVHD và hội đồng, em sẵn sàng nhận câu hỏi. (~40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chính đã kết thúc. Các slide sau là phụ lục dự phòng, em chỉ bật khi hội đồng muốn đi sâu vào phân rã container, vòng đời tenant, hoặc quy trình CI/CD và giám sát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container C4 Level 2: bốn cụm. Frontend gồm hai Next.js (kitehub cổng 3001 marketing/quản trị, kiteclass cổng 3000 giáo dục, ~85% mobile). Gateway (Spring Cloud Gateway cổng 9000) là điểm vào duy nhất. Cụm dịch vụ: 6 service KiteHub + kiteclass-core. Hạ tầng dùng chung 4 container kite- (Postgres/Redis/RabbitMQ/MinIO). Tổng 17 thành phần. (~60 giây)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đời tenant: từ chờ duyệt, sang dùng thử khi cấp magic-link, đến hoạt động chính thức. Sự kiện branding.deploy phát song song dựng template mặc định. (~50 giây)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chuẩn hiện đại: artifact bất biến, OIDC thay key tĩnh, xác nhận thủ công. Giám sát ba lớp; CloudTrail bật trước khi tạo tài nguyên để có audit baseline. (~50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640080" y="4443984"/>
            <a:ext cx="10881360" cy="914400"/>
          </a:xfrm>
          <a:prstGeom prst="rect">
            <a:avLst/>
          </a:prstGeom>
          <a:noFill/>
        </p:spPr>
        <p:txBody>
          <a:bodyPr wrap="none">
            <a:spAutoFit/>
          </a:bodyPr>
          <a:lstStyle/>
          <a:p>
            <a:pPr algn="ctr"/>
            <a:r>
              <a:rPr sz="2300" b="1">
                <a:solidFill>
                  <a:srgbClr val="1F3A6E"/>
                </a:solidFill>
                <a:latin typeface="Arial"/>
              </a:rPr>
              <a:t>XÂY DỰNG HỆ THỐNG SAAS CUNG CẤP DỊCH VỤ ĐÀO TẠO</a:t>
            </a:r>
          </a:p>
          <a:p>
            <a:pPr algn="ctr"/>
            <a:r>
              <a:rPr sz="1300" i="1">
                <a:solidFill>
                  <a:srgbClr val="555555"/>
                </a:solidFill>
                <a:latin typeface="Arial"/>
              </a:rPr>
              <a:t>Nền tảng KiteHub &amp; KiteClass — kiến trúc đa-tenant tích hợp AI</a:t>
            </a:r>
          </a:p>
        </p:txBody>
      </p:sp>
      <p:sp>
        <p:nvSpPr>
          <p:cNvPr id="3" name="TextBox 2"/>
          <p:cNvSpPr txBox="1"/>
          <p:nvPr/>
        </p:nvSpPr>
        <p:spPr>
          <a:xfrm>
            <a:off x="640080" y="5486400"/>
            <a:ext cx="10881360" cy="1188720"/>
          </a:xfrm>
          <a:prstGeom prst="rect">
            <a:avLst/>
          </a:prstGeom>
          <a:noFill/>
        </p:spPr>
        <p:txBody>
          <a:bodyPr wrap="none">
            <a:spAutoFit/>
          </a:bodyPr>
          <a:lstStyle/>
          <a:p/>
          <a:p>
            <a:pPr algn="ctr"/>
            <a:r>
              <a:rPr sz="1300" b="0">
                <a:solidFill>
                  <a:srgbClr val="222222"/>
                </a:solidFill>
                <a:latin typeface="Arial"/>
              </a:rPr>
              <a:t>Sinh viên: Nguyễn Văn Kiệt — MSSV 221230890 — Lớp CNTT1-K63</a:t>
            </a:r>
          </a:p>
          <a:p>
            <a:pPr algn="ctr"/>
            <a:r>
              <a:rPr sz="1300" b="1">
                <a:solidFill>
                  <a:srgbClr val="222222"/>
                </a:solidFill>
                <a:latin typeface="Arial"/>
              </a:rPr>
              <a:t>Giảng viên hướng dẫn: TS. Nguyễn Đức Dư</a:t>
            </a:r>
          </a:p>
          <a:p>
            <a:pPr algn="ctr"/>
            <a:r>
              <a:rPr sz="1300" b="0">
                <a:solidFill>
                  <a:srgbClr val="222222"/>
                </a:solidFill>
                <a:latin typeface="Arial"/>
              </a:rPr>
              <a:t>Bộ môn Công nghệ phần mềm — Khoa Công nghệ thông tin — UTC,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Nội dung trình bày</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a:t>
            </a:r>
          </a:p>
        </p:txBody>
      </p:sp>
      <p:sp>
        <p:nvSpPr>
          <p:cNvPr id="4" name="Oval 3"/>
          <p:cNvSpPr/>
          <p:nvPr/>
        </p:nvSpPr>
        <p:spPr>
          <a:xfrm>
            <a:off x="1005840" y="1920240"/>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1</a:t>
            </a:r>
          </a:p>
        </p:txBody>
      </p:sp>
      <p:sp>
        <p:nvSpPr>
          <p:cNvPr id="5" name="Rounded Rectangle 4"/>
          <p:cNvSpPr/>
          <p:nvPr/>
        </p:nvSpPr>
        <p:spPr>
          <a:xfrm>
            <a:off x="1783080" y="1920240"/>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Bài toán và cách giải quyết tổng quan  (Chương 1)</a:t>
            </a:r>
          </a:p>
        </p:txBody>
      </p:sp>
      <p:sp>
        <p:nvSpPr>
          <p:cNvPr id="6" name="Oval 5"/>
          <p:cNvSpPr/>
          <p:nvPr/>
        </p:nvSpPr>
        <p:spPr>
          <a:xfrm>
            <a:off x="1005840" y="2798064"/>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2</a:t>
            </a:r>
          </a:p>
        </p:txBody>
      </p:sp>
      <p:sp>
        <p:nvSpPr>
          <p:cNvPr id="7" name="Rounded Rectangle 6"/>
          <p:cNvSpPr/>
          <p:nvPr/>
        </p:nvSpPr>
        <p:spPr>
          <a:xfrm>
            <a:off x="1783080" y="2798064"/>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Khảo sát thị trường, mục tiêu và phạm vi  (Chương 1)</a:t>
            </a:r>
          </a:p>
        </p:txBody>
      </p:sp>
      <p:sp>
        <p:nvSpPr>
          <p:cNvPr id="8" name="Oval 7"/>
          <p:cNvSpPr/>
          <p:nvPr/>
        </p:nvSpPr>
        <p:spPr>
          <a:xfrm>
            <a:off x="1005840" y="3675887"/>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3</a:t>
            </a:r>
          </a:p>
        </p:txBody>
      </p:sp>
      <p:sp>
        <p:nvSpPr>
          <p:cNvPr id="9" name="Rounded Rectangle 8"/>
          <p:cNvSpPr/>
          <p:nvPr/>
        </p:nvSpPr>
        <p:spPr>
          <a:xfrm>
            <a:off x="1783080" y="3675887"/>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Ba đóng góp: AI Branding · pháp luật VN · phương pháp chất lượng</a:t>
            </a:r>
          </a:p>
        </p:txBody>
      </p:sp>
      <p:sp>
        <p:nvSpPr>
          <p:cNvPr id="10" name="Oval 9"/>
          <p:cNvSpPr/>
          <p:nvPr/>
        </p:nvSpPr>
        <p:spPr>
          <a:xfrm>
            <a:off x="1005840" y="4553712"/>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4</a:t>
            </a:r>
          </a:p>
        </p:txBody>
      </p:sp>
      <p:sp>
        <p:nvSpPr>
          <p:cNvPr id="11" name="Rounded Rectangle 10"/>
          <p:cNvSpPr/>
          <p:nvPr/>
        </p:nvSpPr>
        <p:spPr>
          <a:xfrm>
            <a:off x="1783080" y="4553712"/>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Thiết kế kiến trúc đa-tenant và cô lập dữ liệu  (Chương 2)</a:t>
            </a:r>
          </a:p>
        </p:txBody>
      </p:sp>
      <p:sp>
        <p:nvSpPr>
          <p:cNvPr id="12" name="Oval 11"/>
          <p:cNvSpPr/>
          <p:nvPr/>
        </p:nvSpPr>
        <p:spPr>
          <a:xfrm>
            <a:off x="1005840" y="5431536"/>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5</a:t>
            </a:r>
          </a:p>
        </p:txBody>
      </p:sp>
      <p:sp>
        <p:nvSpPr>
          <p:cNvPr id="13" name="Rounded Rectangle 12"/>
          <p:cNvSpPr/>
          <p:nvPr/>
        </p:nvSpPr>
        <p:spPr>
          <a:xfrm>
            <a:off x="1783080" y="5431536"/>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Triển khai AWS, sản phẩm thật, kết quả · demo · kết luận  (Chương 3 &amp;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Bài toán (§1.1)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3</a:t>
            </a:r>
          </a:p>
        </p:txBody>
      </p:sp>
      <p:sp>
        <p:nvSpPr>
          <p:cNvPr id="4" name="TextBox 3"/>
          <p:cNvSpPr txBox="1"/>
          <p:nvPr/>
        </p:nvSpPr>
        <p:spPr>
          <a:xfrm>
            <a:off x="685800" y="1645920"/>
            <a:ext cx="10881360" cy="4572000"/>
          </a:xfrm>
          <a:prstGeom prst="rect">
            <a:avLst/>
          </a:prstGeom>
          <a:noFill/>
        </p:spPr>
        <p:txBody>
          <a:bodyPr wrap="square">
            <a:spAutoFit/>
          </a:bodyPr>
          <a:lstStyle/>
          <a:p>
            <a:pPr>
              <a:spcAft>
                <a:spcPts val="1000"/>
              </a:spcAft>
            </a:pPr>
            <a:r>
              <a:rPr sz="1600" b="1">
                <a:solidFill>
                  <a:srgbClr val="B03030"/>
                </a:solidFill>
                <a:latin typeface="Arial"/>
              </a:rPr>
              <a:t>▸  Vấn đề cốt lõi:</a:t>
            </a:r>
          </a:p>
          <a:p>
            <a:pPr lvl="1">
              <a:spcAft>
                <a:spcPts val="600"/>
              </a:spcAft>
            </a:pPr>
            <a:r>
              <a:rPr sz="1300" b="0">
                <a:solidFill>
                  <a:srgbClr val="222222"/>
                </a:solidFill>
                <a:latin typeface="Arial"/>
              </a:rPr>
              <a:t>•  Hàng chục nghìn trung tâm dạy thêm vừa và nhỏ tại Việt Nam vẫn quản lý bằng Excel và nhóm Zalo — thiếu một nền tảng số đúng nhu cầu</a:t>
            </a:r>
          </a:p>
          <a:p>
            <a:pPr lvl="1">
              <a:spcAft>
                <a:spcPts val="600"/>
              </a:spcAft>
            </a:pPr>
            <a:r>
              <a:rPr sz="1300" b="0">
                <a:solidFill>
                  <a:srgbClr val="222222"/>
                </a:solidFill>
                <a:latin typeface="Arial"/>
              </a:rPr>
              <a:t>•  Thiếu thương hiệu số (logo, trang chủ riêng) vì thuê thiết kế tốn kém và mất thời gian</a:t>
            </a:r>
          </a:p>
          <a:p>
            <a:pPr lvl="1">
              <a:spcAft>
                <a:spcPts val="600"/>
              </a:spcAft>
            </a:pPr>
            <a:r>
              <a:rPr sz="1300" b="0">
                <a:solidFill>
                  <a:srgbClr val="222222"/>
                </a:solidFill>
                <a:latin typeface="Arial"/>
              </a:rPr>
              <a:t>•  Phần mềm quản lý hiện có hoặc quá đắt, hoặc quá phức tạp, hoặc thiếu trải nghiệm tiếng Việt</a:t>
            </a:r>
          </a:p>
          <a:p>
            <a:pPr>
              <a:spcAft>
                <a:spcPts val="1000"/>
              </a:spcAft>
            </a:pPr>
            <a:r>
              <a:rPr sz="1600" b="1">
                <a:solidFill>
                  <a:srgbClr val="1F3A6E"/>
                </a:solidFill>
                <a:latin typeface="Arial"/>
              </a:rPr>
              <a:t>▸  Ba yếu tố thị trường hội tụ thúc đẩy đề tài:</a:t>
            </a:r>
          </a:p>
          <a:p>
            <a:pPr lvl="1">
              <a:spcAft>
                <a:spcPts val="600"/>
              </a:spcAft>
            </a:pPr>
            <a:r>
              <a:rPr sz="1300" b="0">
                <a:solidFill>
                  <a:srgbClr val="222222"/>
                </a:solidFill>
                <a:latin typeface="Arial"/>
              </a:rPr>
              <a:t>•  Nhu cầu: Thông tư 29/2024 hợp pháp hóa dạy thêm có thu phí; hơn 50.000 trung tâm tư nhân đang hoạt động</a:t>
            </a:r>
          </a:p>
          <a:p>
            <a:pPr lvl="1">
              <a:spcAft>
                <a:spcPts val="600"/>
              </a:spcAft>
            </a:pPr>
            <a:r>
              <a:rPr sz="1300" b="0">
                <a:solidFill>
                  <a:srgbClr val="222222"/>
                </a:solidFill>
                <a:latin typeface="Arial"/>
              </a:rPr>
              <a:t>•  Mốc pháp lý cứng: Luật Bảo vệ dữ liệu cá nhân 2023 hiệu lực 07/2026</a:t>
            </a:r>
          </a:p>
          <a:p>
            <a:pPr lvl="1">
              <a:spcAft>
                <a:spcPts val="600"/>
              </a:spcAft>
            </a:pPr>
            <a:r>
              <a:rPr sz="1300" b="0">
                <a:solidFill>
                  <a:srgbClr val="222222"/>
                </a:solidFill>
                <a:latin typeface="Arial"/>
              </a:rPr>
              <a:t>•  AI trưởng thành: API thương mại cho phép tự động hóa nhận diện thương hiệu chi phí thấp</a:t>
            </a:r>
          </a:p>
        </p:txBody>
      </p:sp>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Nguồn: Magenest EdTech 2024; 6Wresearch 2024–2030; VECITA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Cách giải quyết — bốn trụ cột (tổng quan)</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4</a:t>
            </a:r>
          </a:p>
        </p:txBody>
      </p:sp>
      <p:sp>
        <p:nvSpPr>
          <p:cNvPr id="4" name="TextBox 3"/>
          <p:cNvSpPr txBox="1"/>
          <p:nvPr/>
        </p:nvSpPr>
        <p:spPr>
          <a:xfrm>
            <a:off x="685800" y="1417320"/>
            <a:ext cx="10881360" cy="502920"/>
          </a:xfrm>
          <a:prstGeom prst="rect">
            <a:avLst/>
          </a:prstGeom>
          <a:noFill/>
        </p:spPr>
        <p:txBody>
          <a:bodyPr wrap="square">
            <a:spAutoFit/>
          </a:bodyPr>
          <a:lstStyle/>
          <a:p>
            <a:r>
              <a:rPr sz="1700" b="1">
                <a:solidFill>
                  <a:srgbClr val="1F3A6E"/>
                </a:solidFill>
                <a:latin typeface="Arial"/>
              </a:rPr>
              <a:t>Hệ thống giải bài toán trên bằng bốn trụ cột, mỗi trụ đáp đúng một khía cạnh:</a:t>
            </a:r>
          </a:p>
        </p:txBody>
      </p:sp>
      <p:sp>
        <p:nvSpPr>
          <p:cNvPr id="5" name="TextBox 4"/>
          <p:cNvSpPr txBox="1"/>
          <p:nvPr/>
        </p:nvSpPr>
        <p:spPr>
          <a:xfrm>
            <a:off x="685800" y="2011680"/>
            <a:ext cx="10881360" cy="4572000"/>
          </a:xfrm>
          <a:prstGeom prst="rect">
            <a:avLst/>
          </a:prstGeom>
          <a:noFill/>
        </p:spPr>
        <p:txBody>
          <a:bodyPr wrap="square">
            <a:spAutoFit/>
          </a:bodyPr>
          <a:lstStyle/>
          <a:p>
            <a:pPr>
              <a:spcAft>
                <a:spcPts val="1000"/>
              </a:spcAft>
            </a:pPr>
            <a:r>
              <a:rPr sz="1700" b="1">
                <a:solidFill>
                  <a:srgbClr val="1F3A6E"/>
                </a:solidFill>
                <a:latin typeface="Arial"/>
              </a:rPr>
              <a:t>▸  Nền tảng SaaS đa-tenant chia sẻ hạ tầng (PostgreSQL RLS, mô hình Pool)</a:t>
            </a:r>
          </a:p>
          <a:p>
            <a:pPr lvl="1">
              <a:spcAft>
                <a:spcPts val="600"/>
              </a:spcAft>
            </a:pPr>
            <a:r>
              <a:rPr sz="1400" b="0">
                <a:solidFill>
                  <a:srgbClr val="222222"/>
                </a:solidFill>
                <a:latin typeface="Arial"/>
              </a:rPr>
              <a:t>•  Chi phí thấp — giải bài toán phần mềm hiện có quá đắt</a:t>
            </a:r>
          </a:p>
          <a:p>
            <a:pPr>
              <a:spcAft>
                <a:spcPts val="1000"/>
              </a:spcAft>
            </a:pPr>
            <a:r>
              <a:rPr sz="1700" b="1">
                <a:solidFill>
                  <a:srgbClr val="1F3A6E"/>
                </a:solidFill>
                <a:latin typeface="Arial"/>
              </a:rPr>
              <a:t>▸  Tự động hóa nhận diện thương hiệu bằng AI (AI Branding)</a:t>
            </a:r>
          </a:p>
          <a:p>
            <a:pPr lvl="1">
              <a:spcAft>
                <a:spcPts val="600"/>
              </a:spcAft>
            </a:pPr>
            <a:r>
              <a:rPr sz="1400" b="0">
                <a:solidFill>
                  <a:srgbClr val="222222"/>
                </a:solidFill>
                <a:latin typeface="Arial"/>
              </a:rPr>
              <a:t>•  Có thương hiệu số mà không cần thuê thiết kế — giải bài toán thiếu thương hiệu giá rẻ</a:t>
            </a:r>
          </a:p>
          <a:p>
            <a:pPr>
              <a:spcAft>
                <a:spcPts val="1000"/>
              </a:spcAft>
            </a:pPr>
            <a:r>
              <a:rPr sz="1700" b="1">
                <a:solidFill>
                  <a:srgbClr val="1F3A6E"/>
                </a:solidFill>
                <a:latin typeface="Arial"/>
              </a:rPr>
              <a:t>▸  Tuân thủ pháp luật VN theo thiết kế (PDPL 2023, An ninh mạng, Thông tư 78)</a:t>
            </a:r>
          </a:p>
          <a:p>
            <a:pPr lvl="1">
              <a:spcAft>
                <a:spcPts val="600"/>
              </a:spcAft>
            </a:pPr>
            <a:r>
              <a:rPr sz="1400" b="0">
                <a:solidFill>
                  <a:srgbClr val="222222"/>
                </a:solidFill>
                <a:latin typeface="Arial"/>
              </a:rPr>
              <a:t>•  Tin cậy ngay từ kiến trúc, không vá lại về sau</a:t>
            </a:r>
          </a:p>
          <a:p>
            <a:pPr>
              <a:spcAft>
                <a:spcPts val="1000"/>
              </a:spcAft>
            </a:pPr>
            <a:r>
              <a:rPr sz="1700" b="1">
                <a:solidFill>
                  <a:srgbClr val="1F3A6E"/>
                </a:solidFill>
                <a:latin typeface="Arial"/>
              </a:rPr>
              <a:t>▸  Phương pháp luận hướng chất lượng (đánh giá /100, kiểm thử nhiều tầng)</a:t>
            </a:r>
          </a:p>
          <a:p>
            <a:pPr lvl="1">
              <a:spcAft>
                <a:spcPts val="600"/>
              </a:spcAft>
            </a:pPr>
            <a:r>
              <a:rPr sz="1400" b="0">
                <a:solidFill>
                  <a:srgbClr val="222222"/>
                </a:solidFill>
                <a:latin typeface="Arial"/>
              </a:rPr>
              <a:t>•  Đảm bảo chất lượng dù phát triển một mình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Khảo sát hệ thống tương tự (§1.2)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5</a:t>
            </a:r>
          </a:p>
        </p:txBody>
      </p:sp>
      <p:pic>
        <p:nvPicPr>
          <p:cNvPr id="4" name="Picture 3" descr="fig-1.1-beeclass.png"/>
          <p:cNvPicPr>
            <a:picLocks noChangeAspect="1"/>
          </p:cNvPicPr>
          <p:nvPr/>
        </p:nvPicPr>
        <p:blipFill>
          <a:blip r:embed="rId3"/>
          <a:stretch>
            <a:fillRect/>
          </a:stretch>
        </p:blipFill>
        <p:spPr>
          <a:xfrm>
            <a:off x="1600200" y="1691640"/>
            <a:ext cx="3291840" cy="2057400"/>
          </a:xfrm>
          <a:prstGeom prst="rect">
            <a:avLst/>
          </a:prstGeom>
          <a:ln w="9525">
            <a:solidFill>
              <a:srgbClr val="C8D2E0"/>
            </a:solidFill>
          </a:ln>
        </p:spPr>
      </p:pic>
      <p:pic>
        <p:nvPicPr>
          <p:cNvPr id="5" name="Picture 4" descr="fig-1.2-mona.png"/>
          <p:cNvPicPr>
            <a:picLocks noChangeAspect="1"/>
          </p:cNvPicPr>
          <p:nvPr/>
        </p:nvPicPr>
        <p:blipFill>
          <a:blip r:embed="rId4"/>
          <a:stretch>
            <a:fillRect/>
          </a:stretch>
        </p:blipFill>
        <p:spPr>
          <a:xfrm>
            <a:off x="7269480" y="1691640"/>
            <a:ext cx="3291840" cy="2057400"/>
          </a:xfrm>
          <a:prstGeom prst="rect">
            <a:avLst/>
          </a:prstGeom>
          <a:ln w="9525">
            <a:solidFill>
              <a:srgbClr val="C8D2E0"/>
            </a:solidFill>
          </a:ln>
        </p:spPr>
      </p:pic>
      <p:pic>
        <p:nvPicPr>
          <p:cNvPr id="6" name="Picture 5" descr="fig-1.3-easyedu.png"/>
          <p:cNvPicPr>
            <a:picLocks noChangeAspect="1"/>
          </p:cNvPicPr>
          <p:nvPr/>
        </p:nvPicPr>
        <p:blipFill>
          <a:blip r:embed="rId5"/>
          <a:stretch>
            <a:fillRect/>
          </a:stretch>
        </p:blipFill>
        <p:spPr>
          <a:xfrm>
            <a:off x="1673352" y="3840480"/>
            <a:ext cx="3145536" cy="1965960"/>
          </a:xfrm>
          <a:prstGeom prst="rect">
            <a:avLst/>
          </a:prstGeom>
          <a:ln w="9525">
            <a:solidFill>
              <a:srgbClr val="C8D2E0"/>
            </a:solidFill>
          </a:ln>
        </p:spPr>
      </p:pic>
      <p:pic>
        <p:nvPicPr>
          <p:cNvPr id="7" name="Picture 6" descr="fig-1.4-dotb.png"/>
          <p:cNvPicPr>
            <a:picLocks noChangeAspect="1"/>
          </p:cNvPicPr>
          <p:nvPr/>
        </p:nvPicPr>
        <p:blipFill>
          <a:blip r:embed="rId6"/>
          <a:stretch>
            <a:fillRect/>
          </a:stretch>
        </p:blipFill>
        <p:spPr>
          <a:xfrm>
            <a:off x="7342632" y="3840480"/>
            <a:ext cx="3145536" cy="1965960"/>
          </a:xfrm>
          <a:prstGeom prst="rect">
            <a:avLst/>
          </a:prstGeom>
          <a:ln w="9525">
            <a:solidFill>
              <a:srgbClr val="C8D2E0"/>
            </a:solidFill>
          </a:ln>
        </p:spPr>
      </p:pic>
      <p:sp>
        <p:nvSpPr>
          <p:cNvPr id="8" name="TextBox 7"/>
          <p:cNvSpPr txBox="1"/>
          <p:nvPr/>
        </p:nvSpPr>
        <p:spPr>
          <a:xfrm>
            <a:off x="548640" y="5989320"/>
            <a:ext cx="11064240" cy="457200"/>
          </a:xfrm>
          <a:prstGeom prst="rect">
            <a:avLst/>
          </a:prstGeom>
          <a:noFill/>
        </p:spPr>
        <p:txBody>
          <a:bodyPr wrap="none">
            <a:spAutoFit/>
          </a:bodyPr>
          <a:lstStyle/>
          <a:p>
            <a:pPr algn="ctr"/>
            <a:r>
              <a:rPr sz="1100" i="1">
                <a:solidFill>
                  <a:srgbClr val="555555"/>
                </a:solidFill>
                <a:latin typeface="Arial"/>
              </a:rPr>
              <a:t>Hình 1.1–1.4: BeeClass, Mona eLMS, Easy Edu, DotB — đều đơn-tenant, không AI. KiteHub khác biệt: đa-tenant RLS gốc + AI Branding.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Mục tiêu và phạm vi nghiên cứu (Mở đầu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6</a:t>
            </a:r>
          </a:p>
        </p:txBody>
      </p:sp>
      <p:sp>
        <p:nvSpPr>
          <p:cNvPr id="4" name="TextBox 3"/>
          <p:cNvSpPr txBox="1"/>
          <p:nvPr/>
        </p:nvSpPr>
        <p:spPr>
          <a:xfrm>
            <a:off x="685800" y="1691640"/>
            <a:ext cx="10881360" cy="4572000"/>
          </a:xfrm>
          <a:prstGeom prst="rect">
            <a:avLst/>
          </a:prstGeom>
          <a:noFill/>
        </p:spPr>
        <p:txBody>
          <a:bodyPr wrap="square">
            <a:spAutoFit/>
          </a:bodyPr>
          <a:lstStyle/>
          <a:p>
            <a:pPr>
              <a:spcAft>
                <a:spcPts val="1000"/>
              </a:spcAft>
            </a:pPr>
            <a:r>
              <a:rPr sz="1600" b="1">
                <a:solidFill>
                  <a:srgbClr val="1F3A6E"/>
                </a:solidFill>
                <a:latin typeface="Arial"/>
              </a:rPr>
              <a:t>▸  Bốn mục tiêu nghiên cứu:</a:t>
            </a:r>
          </a:p>
          <a:p>
            <a:pPr lvl="1">
              <a:spcAft>
                <a:spcPts val="600"/>
              </a:spcAft>
            </a:pPr>
            <a:r>
              <a:rPr sz="1300" b="0">
                <a:solidFill>
                  <a:srgbClr val="222222"/>
                </a:solidFill>
                <a:latin typeface="Arial"/>
              </a:rPr>
              <a:t>•  Nền tảng SaaS đa-tenant — mở rộng 1 → hàng trăm chi nhánh không thiết kế lại kiến trúc</a:t>
            </a:r>
          </a:p>
          <a:p>
            <a:pPr lvl="1">
              <a:spcAft>
                <a:spcPts val="600"/>
              </a:spcAft>
            </a:pPr>
            <a:r>
              <a:rPr sz="1300" b="0">
                <a:solidFill>
                  <a:srgbClr val="222222"/>
                </a:solidFill>
                <a:latin typeface="Arial"/>
              </a:rPr>
              <a:t>•  AI Branding tự sinh logo/banner/ảnh chủ đạo — rút ngắn khởi tạo từ vài tuần xuống vài ngày</a:t>
            </a:r>
          </a:p>
          <a:p>
            <a:pPr lvl="1">
              <a:spcAft>
                <a:spcPts val="600"/>
              </a:spcAft>
            </a:pPr>
            <a:r>
              <a:rPr sz="1300" b="0">
                <a:solidFill>
                  <a:srgbClr val="222222"/>
                </a:solidFill>
                <a:latin typeface="Arial"/>
              </a:rPr>
              <a:t>•  Tuân thủ pháp luật VN: PDPL 2023, Luật An ninh mạng 2018, Thông tư 78/2021/TT-BTC</a:t>
            </a:r>
          </a:p>
          <a:p>
            <a:pPr lvl="1">
              <a:spcAft>
                <a:spcPts val="600"/>
              </a:spcAft>
            </a:pPr>
            <a:r>
              <a:rPr sz="1300" b="0">
                <a:solidFill>
                  <a:srgbClr val="222222"/>
                </a:solidFill>
                <a:latin typeface="Arial"/>
              </a:rPr>
              <a:t>•  Phương pháp luận phát triển hướng chất lượng — TDD, DDD, PDCA xuyên suốt</a:t>
            </a:r>
          </a:p>
          <a:p>
            <a:pPr>
              <a:spcAft>
                <a:spcPts val="1000"/>
              </a:spcAft>
            </a:pPr>
            <a:r>
              <a:rPr sz="1600" b="1">
                <a:solidFill>
                  <a:srgbClr val="1F3A6E"/>
                </a:solidFill>
                <a:latin typeface="Arial"/>
              </a:rPr>
              <a:t>▸  Phạm vi: AWS Singapore Free Tier; 2 giáo viên độc lập thật (Miễn phí + Trả phí)</a:t>
            </a:r>
          </a:p>
          <a:p>
            <a:pPr>
              <a:spcAft>
                <a:spcPts val="1000"/>
              </a:spcAft>
            </a:pPr>
            <a:r>
              <a:rPr sz="1600" b="1">
                <a:solidFill>
                  <a:srgbClr val="555555"/>
                </a:solidFill>
                <a:latin typeface="Arial"/>
              </a:rPr>
              <a:t>▸  3 nhóm người dùng: GV độc lập, Chủ trung tâm, Quản lý. Phụ huynh/Học sinh K-12 — phát triển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AI Branding tự động (§1.3 · §3.1.2)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7</a:t>
            </a:r>
          </a:p>
        </p:txBody>
      </p:sp>
      <p:sp>
        <p:nvSpPr>
          <p:cNvPr id="4" name="TextBox 3"/>
          <p:cNvSpPr txBox="1"/>
          <p:nvPr/>
        </p:nvSpPr>
        <p:spPr>
          <a:xfrm>
            <a:off x="502920" y="1691640"/>
            <a:ext cx="6126480" cy="4572000"/>
          </a:xfrm>
          <a:prstGeom prst="rect">
            <a:avLst/>
          </a:prstGeom>
          <a:noFill/>
        </p:spPr>
        <p:txBody>
          <a:bodyPr wrap="square">
            <a:spAutoFit/>
          </a:bodyPr>
          <a:lstStyle/>
          <a:p>
            <a:pPr>
              <a:spcAft>
                <a:spcPts val="1000"/>
              </a:spcAft>
            </a:pPr>
            <a:r>
              <a:rPr sz="1500" b="0">
                <a:solidFill>
                  <a:srgbClr val="222222"/>
                </a:solidFill>
                <a:latin typeface="Arial"/>
              </a:rPr>
              <a:t>▸  Tự sinh logo + ảnh bìa từ prompt văn bản + màu thương hiệu khi tenant khởi tạo</a:t>
            </a:r>
          </a:p>
          <a:p>
            <a:pPr>
              <a:spcAft>
                <a:spcPts val="1000"/>
              </a:spcAft>
            </a:pPr>
            <a:r>
              <a:rPr sz="1500" b="0">
                <a:solidFill>
                  <a:srgbClr val="222222"/>
                </a:solidFill>
                <a:latin typeface="Arial"/>
              </a:rPr>
              <a:t>▸  Stable Diffusion XL qua Replicate (chính) · SDXL Turbo trên Hugging Face (dự phòng)</a:t>
            </a:r>
          </a:p>
          <a:p>
            <a:pPr>
              <a:spcAft>
                <a:spcPts val="1000"/>
              </a:spcAft>
            </a:pPr>
            <a:r>
              <a:rPr sz="1500" b="0">
                <a:solidFill>
                  <a:srgbClr val="222222"/>
                </a:solidFill>
                <a:latin typeface="Arial"/>
              </a:rPr>
              <a:t>▸  Ưu tiên mẫu (template-first): chỉ gọi AI khi cần; xem trước bắt buộc đạt WCAG AA</a:t>
            </a:r>
          </a:p>
          <a:p>
            <a:pPr>
              <a:spcAft>
                <a:spcPts val="1000"/>
              </a:spcAft>
            </a:pPr>
            <a:r>
              <a:rPr sz="1500" b="0">
                <a:solidFill>
                  <a:srgbClr val="222222"/>
                </a:solidFill>
                <a:latin typeface="Arial"/>
              </a:rPr>
              <a:t>▸  Bộ phân loại an toàn nội dung trước khi triển khai; gói FREE tạo lại tối đa 3 lần/ngày</a:t>
            </a:r>
          </a:p>
          <a:p>
            <a:pPr>
              <a:spcAft>
                <a:spcPts val="1000"/>
              </a:spcAft>
            </a:pPr>
            <a:r>
              <a:rPr sz="1500" b="1">
                <a:solidFill>
                  <a:srgbClr val="1E7E34"/>
                </a:solidFill>
                <a:latin typeface="Arial"/>
              </a:rPr>
              <a:t>▸  Chi phí ~0,0012 USD/ảnh (SDXL) — không hệ tham khảo nào có tính năng này</a:t>
            </a:r>
          </a:p>
        </p:txBody>
      </p:sp>
      <p:sp>
        <p:nvSpPr>
          <p:cNvPr id="5" name="Rounded Rectangle 4"/>
          <p:cNvSpPr/>
          <p:nvPr/>
        </p:nvSpPr>
        <p:spPr>
          <a:xfrm>
            <a:off x="6583680" y="1645920"/>
            <a:ext cx="53492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4-ai-wizard.png"/>
          <p:cNvPicPr>
            <a:picLocks noChangeAspect="1"/>
          </p:cNvPicPr>
          <p:nvPr/>
        </p:nvPicPr>
        <p:blipFill>
          <a:blip r:embed="rId3"/>
          <a:stretch>
            <a:fillRect/>
          </a:stretch>
        </p:blipFill>
        <p:spPr>
          <a:xfrm>
            <a:off x="6784848" y="2248853"/>
            <a:ext cx="4946903" cy="3091814"/>
          </a:xfrm>
          <a:prstGeom prst="rect">
            <a:avLst/>
          </a:prstGeom>
        </p:spPr>
      </p:pic>
      <p:sp>
        <p:nvSpPr>
          <p:cNvPr id="7" name="TextBox 6"/>
          <p:cNvSpPr txBox="1"/>
          <p:nvPr/>
        </p:nvSpPr>
        <p:spPr>
          <a:xfrm>
            <a:off x="6400800" y="5989320"/>
            <a:ext cx="5486400" cy="457200"/>
          </a:xfrm>
          <a:prstGeom prst="rect">
            <a:avLst/>
          </a:prstGeom>
          <a:noFill/>
        </p:spPr>
        <p:txBody>
          <a:bodyPr wrap="none">
            <a:spAutoFit/>
          </a:bodyPr>
          <a:lstStyle/>
          <a:p>
            <a:pPr algn="ctr"/>
            <a:r>
              <a:rPr sz="1100" i="1">
                <a:solidFill>
                  <a:srgbClr val="555555"/>
                </a:solidFill>
                <a:latin typeface="Arial"/>
              </a:rPr>
              <a:t>Hình 3.4 — Trình hướng dẫn AI Branding cho chủ trung tâm.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Tuân thủ pháp luật VN theo thiết kế (§1.3 · §2.1.2)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8</a:t>
            </a:r>
          </a:p>
        </p:txBody>
      </p:sp>
      <p:graphicFrame>
        <p:nvGraphicFramePr>
          <p:cNvPr id="4" name="Table 3"/>
          <p:cNvGraphicFramePr>
            <a:graphicFrameLocks noGrp="1"/>
          </p:cNvGraphicFramePr>
          <p:nvPr/>
        </p:nvGraphicFramePr>
        <p:xfrm>
          <a:off x="502920" y="1828800"/>
          <a:ext cx="11155680" cy="1463040"/>
        </p:xfrm>
        <a:graphic>
          <a:graphicData uri="http://schemas.openxmlformats.org/drawingml/2006/table">
            <a:tbl>
              <a:tblPr firstRow="1" bandRow="1">
                <a:tableStyleId>{5C22544A-7EE6-4342-B048-85BDC9FD1C3A}</a:tableStyleId>
              </a:tblPr>
              <a:tblGrid>
                <a:gridCol w="2834640"/>
                <a:gridCol w="4297680"/>
                <a:gridCol w="4023360"/>
              </a:tblGrid>
              <a:tr h="365760">
                <a:tc>
                  <a:txBody>
                    <a:bodyPr/>
                    <a:lstStyle/>
                    <a:p>
                      <a:r>
                        <a:rPr sz="1200" b="1">
                          <a:solidFill>
                            <a:srgbClr val="FFFFFF"/>
                          </a:solidFill>
                          <a:latin typeface="Arial"/>
                        </a:rPr>
                        <a:t>Văn bản</a:t>
                      </a:r>
                    </a:p>
                  </a:txBody>
                  <a:tcPr marL="64008" marR="64008" marT="18288" marB="18288" anchor="ctr">
                    <a:solidFill>
                      <a:srgbClr val="2E2C7E"/>
                    </a:solidFill>
                  </a:tcPr>
                </a:tc>
                <a:tc>
                  <a:txBody>
                    <a:bodyPr/>
                    <a:lstStyle/>
                    <a:p>
                      <a:r>
                        <a:rPr sz="1200" b="1">
                          <a:solidFill>
                            <a:srgbClr val="FFFFFF"/>
                          </a:solidFill>
                          <a:latin typeface="Arial"/>
                        </a:rPr>
                        <a:t>Yêu cầu chính</a:t>
                      </a:r>
                    </a:p>
                  </a:txBody>
                  <a:tcPr marL="64008" marR="64008" marT="18288" marB="18288" anchor="ctr">
                    <a:solidFill>
                      <a:srgbClr val="2E2C7E"/>
                    </a:solidFill>
                  </a:tcPr>
                </a:tc>
                <a:tc>
                  <a:txBody>
                    <a:bodyPr/>
                    <a:lstStyle/>
                    <a:p>
                      <a:r>
                        <a:rPr sz="1200" b="1">
                          <a:solidFill>
                            <a:srgbClr val="FFFFFF"/>
                          </a:solidFill>
                          <a:latin typeface="Arial"/>
                        </a:rPr>
                        <a:t>Cách hiện thực</a:t>
                      </a:r>
                    </a:p>
                  </a:txBody>
                  <a:tcPr marL="64008" marR="64008" marT="18288" marB="18288" anchor="ctr">
                    <a:solidFill>
                      <a:srgbClr val="2E2C7E"/>
                    </a:solidFill>
                  </a:tcPr>
                </a:tc>
              </a:tr>
              <a:tr h="365760">
                <a:tc>
                  <a:txBody>
                    <a:bodyPr/>
                    <a:lstStyle/>
                    <a:p>
                      <a:r>
                        <a:rPr sz="1200">
                          <a:latin typeface="Arial"/>
                        </a:rPr>
                        <a:t>PDPL 2023</a:t>
                      </a:r>
                    </a:p>
                  </a:txBody>
                  <a:tcPr marL="64008" marR="64008" marT="18288" marB="18288" anchor="ctr">
                    <a:solidFill>
                      <a:srgbClr val="FFFFFF"/>
                    </a:solidFill>
                  </a:tcPr>
                </a:tc>
                <a:tc>
                  <a:txBody>
                    <a:bodyPr/>
                    <a:lstStyle/>
                    <a:p>
                      <a:r>
                        <a:rPr sz="1200">
                          <a:latin typeface="Arial"/>
                        </a:rPr>
                        <a:t>Consent cụ thể; quyền truy cập/xóa; DPO khi &gt;10k chủ thể; báo vi phạm 72h</a:t>
                      </a:r>
                    </a:p>
                  </a:txBody>
                  <a:tcPr marL="64008" marR="64008" marT="18288" marB="18288" anchor="ctr">
                    <a:solidFill>
                      <a:srgbClr val="FFFFFF"/>
                    </a:solidFill>
                  </a:tcPr>
                </a:tc>
                <a:tc>
                  <a:txBody>
                    <a:bodyPr/>
                    <a:lstStyle/>
                    <a:p>
                      <a:r>
                        <a:rPr sz="1200">
                          <a:latin typeface="Arial"/>
                        </a:rPr>
                        <a:t>consent_record; quy trình DSAR; audit log bất biến V60 (Điều 11)</a:t>
                      </a:r>
                    </a:p>
                  </a:txBody>
                  <a:tcPr marL="64008" marR="64008" marT="18288" marB="18288" anchor="ctr">
                    <a:solidFill>
                      <a:srgbClr val="FFFFFF"/>
                    </a:solidFill>
                  </a:tcPr>
                </a:tc>
              </a:tr>
              <a:tr h="365760">
                <a:tc>
                  <a:txBody>
                    <a:bodyPr/>
                    <a:lstStyle/>
                    <a:p>
                      <a:r>
                        <a:rPr sz="1200">
                          <a:latin typeface="Arial"/>
                        </a:rPr>
                        <a:t>Luật An ninh mạng 2018</a:t>
                      </a:r>
                    </a:p>
                    <a:p>
                      <a:r>
                        <a:rPr sz="1200">
                          <a:latin typeface="Arial"/>
                        </a:rPr>
                        <a:t>+ Nghị định 53/2022</a:t>
                      </a:r>
                    </a:p>
                  </a:txBody>
                  <a:tcPr marL="64008" marR="64008" marT="18288" marB="18288" anchor="ctr">
                    <a:solidFill>
                      <a:srgbClr val="ECEFF6"/>
                    </a:solidFill>
                  </a:tcPr>
                </a:tc>
                <a:tc>
                  <a:txBody>
                    <a:bodyPr/>
                    <a:lstStyle/>
                    <a:p>
                      <a:r>
                        <a:rPr sz="1200">
                          <a:latin typeface="Arial"/>
                        </a:rPr>
                        <a:t>Lưu trữ dữ liệu tại VN khi vượt 1 triệu người dùng</a:t>
                      </a:r>
                    </a:p>
                  </a:txBody>
                  <a:tcPr marL="64008" marR="64008" marT="18288" marB="18288" anchor="ctr">
                    <a:solidFill>
                      <a:srgbClr val="ECEFF6"/>
                    </a:solidFill>
                  </a:tcPr>
                </a:tc>
                <a:tc>
                  <a:txBody>
                    <a:bodyPr/>
                    <a:lstStyle/>
                    <a:p>
                      <a:r>
                        <a:rPr sz="1200">
                          <a:latin typeface="Arial"/>
                        </a:rPr>
                        <a:t>Lộ trình chuyển AWS Hà Nội Local Zone / Viettel / VNG</a:t>
                      </a:r>
                    </a:p>
                  </a:txBody>
                  <a:tcPr marL="64008" marR="64008" marT="18288" marB="18288" anchor="ctr">
                    <a:solidFill>
                      <a:srgbClr val="ECEFF6"/>
                    </a:solidFill>
                  </a:tcPr>
                </a:tc>
              </a:tr>
              <a:tr h="365760">
                <a:tc>
                  <a:txBody>
                    <a:bodyPr/>
                    <a:lstStyle/>
                    <a:p>
                      <a:r>
                        <a:rPr sz="1200">
                          <a:latin typeface="Arial"/>
                        </a:rPr>
                        <a:t>Thông tư 78/2021/TT-BTC</a:t>
                      </a:r>
                    </a:p>
                  </a:txBody>
                  <a:tcPr marL="64008" marR="64008" marT="18288" marB="18288" anchor="ctr">
                    <a:solidFill>
                      <a:srgbClr val="FFFFFF"/>
                    </a:solidFill>
                  </a:tcPr>
                </a:tc>
                <a:tc>
                  <a:txBody>
                    <a:bodyPr/>
                    <a:lstStyle/>
                    <a:p>
                      <a:r>
                        <a:rPr sz="1200">
                          <a:latin typeface="Arial"/>
                        </a:rPr>
                        <a:t>Hóa đơn điện tử, kết nối cơ quan thuế</a:t>
                      </a:r>
                    </a:p>
                  </a:txBody>
                  <a:tcPr marL="64008" marR="64008" marT="18288" marB="18288" anchor="ctr">
                    <a:solidFill>
                      <a:srgbClr val="FFFFFF"/>
                    </a:solidFill>
                  </a:tcPr>
                </a:tc>
                <a:tc>
                  <a:txBody>
                    <a:bodyPr/>
                    <a:lstStyle/>
                    <a:p>
                      <a:r>
                        <a:rPr sz="1200">
                          <a:latin typeface="Arial"/>
                        </a:rPr>
                        <a:t>Tích hợp đối tác MISA MeInvoice</a:t>
                      </a:r>
                    </a:p>
                  </a:txBody>
                  <a:tcPr marL="64008" marR="64008" marT="18288" marB="18288" anchor="ctr">
                    <a:solidFill>
                      <a:srgbClr val="FFFFFF"/>
                    </a:solidFill>
                  </a:tcPr>
                </a:tc>
              </a:tr>
            </a:tbl>
          </a:graphicData>
        </a:graphic>
      </p:graphicFrame>
      <p:sp>
        <p:nvSpPr>
          <p:cNvPr id="5" name="TextBox 4"/>
          <p:cNvSpPr txBox="1"/>
          <p:nvPr/>
        </p:nvSpPr>
        <p:spPr>
          <a:xfrm>
            <a:off x="548640" y="5669280"/>
            <a:ext cx="11064240" cy="457200"/>
          </a:xfrm>
          <a:prstGeom prst="rect">
            <a:avLst/>
          </a:prstGeom>
          <a:noFill/>
        </p:spPr>
        <p:txBody>
          <a:bodyPr wrap="none">
            <a:spAutoFit/>
          </a:bodyPr>
          <a:lstStyle/>
          <a:p>
            <a:pPr algn="ctr"/>
            <a:r>
              <a:rPr sz="1100" i="1">
                <a:solidFill>
                  <a:srgbClr val="555555"/>
                </a:solidFill>
                <a:latin typeface="Arial"/>
              </a:rPr>
              <a:t>Tuân thủ ngay từ thiết kế (compliance-by-design): consent, DSAR, audit log bất biến tích hợp từ schema.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Phương pháp luận hướng chất lượng (Mở đầu §4 · §3.2)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9</a:t>
            </a:r>
          </a:p>
        </p:txBody>
      </p:sp>
      <p:sp>
        <p:nvSpPr>
          <p:cNvPr id="4" name="TextBox 3"/>
          <p:cNvSpPr txBox="1"/>
          <p:nvPr/>
        </p:nvSpPr>
        <p:spPr>
          <a:xfrm>
            <a:off x="502920" y="1691640"/>
            <a:ext cx="6309360" cy="4572000"/>
          </a:xfrm>
          <a:prstGeom prst="rect">
            <a:avLst/>
          </a:prstGeom>
          <a:noFill/>
        </p:spPr>
        <p:txBody>
          <a:bodyPr wrap="square">
            <a:spAutoFit/>
          </a:bodyPr>
          <a:lstStyle/>
          <a:p>
            <a:pPr>
              <a:spcAft>
                <a:spcPts val="1000"/>
              </a:spcAft>
            </a:pPr>
            <a:r>
              <a:rPr sz="1600" b="0">
                <a:solidFill>
                  <a:srgbClr val="222222"/>
                </a:solidFill>
                <a:latin typeface="Arial"/>
              </a:rPr>
              <a:t>▸  Kết hợp nghiên cứu lý thuyết (so sánh 4 hệ thống) + thực nghiệm (thiết kế + hiện thực)</a:t>
            </a:r>
          </a:p>
          <a:p>
            <a:pPr>
              <a:spcAft>
                <a:spcPts val="1000"/>
              </a:spcAft>
            </a:pPr>
            <a:r>
              <a:rPr sz="1600" b="0">
                <a:solidFill>
                  <a:srgbClr val="222222"/>
                </a:solidFill>
                <a:latin typeface="Arial"/>
              </a:rPr>
              <a:t>▸  Phát triển hướng kiểm thử (TDD) — coverage ≥ 75% line trên module nghiệp vụ</a:t>
            </a:r>
          </a:p>
          <a:p>
            <a:pPr>
              <a:spcAft>
                <a:spcPts val="1000"/>
              </a:spcAft>
            </a:pPr>
            <a:r>
              <a:rPr sz="1600" b="0">
                <a:solidFill>
                  <a:srgbClr val="222222"/>
                </a:solidFill>
                <a:latin typeface="Arial"/>
              </a:rPr>
              <a:t>▸  Thiết kế hướng miền (DDD) tách control-plane / domain-plane</a:t>
            </a:r>
          </a:p>
          <a:p>
            <a:pPr>
              <a:spcAft>
                <a:spcPts val="1000"/>
              </a:spcAft>
            </a:pPr>
            <a:r>
              <a:rPr sz="1600" b="0">
                <a:solidFill>
                  <a:srgbClr val="222222"/>
                </a:solidFill>
                <a:latin typeface="Arial"/>
              </a:rPr>
              <a:t>▸  Chu trình cải tiến liên tục Plan-Do-Check-Act (PDCA) duy trì chất lượng mã + tài liệu</a:t>
            </a:r>
          </a:p>
          <a:p>
            <a:pPr>
              <a:spcAft>
                <a:spcPts val="1000"/>
              </a:spcAft>
            </a:pPr>
            <a:r>
              <a:rPr sz="1600" b="1">
                <a:solidFill>
                  <a:srgbClr val="555555"/>
                </a:solidFill>
                <a:latin typeface="Arial"/>
              </a:rPr>
              <a:t>▸  Cơ sở: Beck TDD (2002), Evans DDD (2003), Deming PDCA (1986), IEEE 730 SQA</a:t>
            </a:r>
          </a:p>
        </p:txBody>
      </p:sp>
      <p:sp>
        <p:nvSpPr>
          <p:cNvPr id="5" name="Rounded Rectangle 4"/>
          <p:cNvSpPr/>
          <p:nvPr/>
        </p:nvSpPr>
        <p:spPr>
          <a:xfrm>
            <a:off x="6766560" y="1691640"/>
            <a:ext cx="5120640" cy="420624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6-test-pyramid.png"/>
          <p:cNvPicPr>
            <a:picLocks noChangeAspect="1"/>
          </p:cNvPicPr>
          <p:nvPr/>
        </p:nvPicPr>
        <p:blipFill>
          <a:blip r:embed="rId3"/>
          <a:stretch>
            <a:fillRect/>
          </a:stretch>
        </p:blipFill>
        <p:spPr>
          <a:xfrm>
            <a:off x="8209989" y="1892808"/>
            <a:ext cx="2233781" cy="3803903"/>
          </a:xfrm>
          <a:prstGeom prst="rect">
            <a:avLst/>
          </a:prstGeom>
        </p:spPr>
      </p:pic>
      <p:sp>
        <p:nvSpPr>
          <p:cNvPr id="7" name="TextBox 6"/>
          <p:cNvSpPr txBox="1"/>
          <p:nvPr/>
        </p:nvSpPr>
        <p:spPr>
          <a:xfrm>
            <a:off x="6583680" y="5943600"/>
            <a:ext cx="5120640" cy="457200"/>
          </a:xfrm>
          <a:prstGeom prst="rect">
            <a:avLst/>
          </a:prstGeom>
          <a:noFill/>
        </p:spPr>
        <p:txBody>
          <a:bodyPr wrap="none">
            <a:spAutoFit/>
          </a:bodyPr>
          <a:lstStyle/>
          <a:p>
            <a:pPr algn="ctr"/>
            <a:r>
              <a:rPr sz="1100" i="1">
                <a:solidFill>
                  <a:srgbClr val="555555"/>
                </a:solidFill>
                <a:latin typeface="Arial"/>
              </a:rPr>
              <a:t>Hình 3.6 — Kim tự tháp kiểm thử áp dụng cho KiteHub.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Kiến trúc tổng thể — C4 Level 1 (Hình 2.1)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10</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1-c4-context.png"/>
          <p:cNvPicPr>
            <a:picLocks noChangeAspect="1"/>
          </p:cNvPicPr>
          <p:nvPr/>
        </p:nvPicPr>
        <p:blipFill>
          <a:blip r:embed="rId3"/>
          <a:stretch>
            <a:fillRect/>
          </a:stretch>
        </p:blipFill>
        <p:spPr>
          <a:xfrm>
            <a:off x="3544235" y="1792224"/>
            <a:ext cx="510048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2.1 — Ngữ cảnh C4 L1: 8 nhóm actor + 6 hệ thống ngoài; mọi truy cập qua HTTPS, không actor nào chạm DB trực tiếp.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Cô lập đa-tenant bằng RLS (§2.2.3)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11</a:t>
            </a:r>
          </a:p>
        </p:txBody>
      </p:sp>
      <p:graphicFrame>
        <p:nvGraphicFramePr>
          <p:cNvPr id="4" name="Table 3"/>
          <p:cNvGraphicFramePr>
            <a:graphicFrameLocks noGrp="1"/>
          </p:cNvGraphicFramePr>
          <p:nvPr/>
        </p:nvGraphicFramePr>
        <p:xfrm>
          <a:off x="502920" y="1783080"/>
          <a:ext cx="11155680" cy="1828800"/>
        </p:xfrm>
        <a:graphic>
          <a:graphicData uri="http://schemas.openxmlformats.org/drawingml/2006/table">
            <a:tbl>
              <a:tblPr firstRow="1" bandRow="1">
                <a:tableStyleId>{5C22544A-7EE6-4342-B048-85BDC9FD1C3A}</a:tableStyleId>
              </a:tblPr>
              <a:tblGrid>
                <a:gridCol w="2651760"/>
                <a:gridCol w="1737360"/>
                <a:gridCol w="2468880"/>
                <a:gridCol w="2103120"/>
                <a:gridCol w="2194560"/>
              </a:tblGrid>
              <a:tr h="365760">
                <a:tc>
                  <a:txBody>
                    <a:bodyPr/>
                    <a:lstStyle/>
                    <a:p>
                      <a:r>
                        <a:rPr sz="1300" b="1">
                          <a:solidFill>
                            <a:srgbClr val="FFFFFF"/>
                          </a:solidFill>
                          <a:latin typeface="Arial"/>
                        </a:rPr>
                        <a:t>Mô hình</a:t>
                      </a:r>
                    </a:p>
                  </a:txBody>
                  <a:tcPr marL="64008" marR="64008" marT="18288" marB="18288" anchor="ctr">
                    <a:solidFill>
                      <a:srgbClr val="2E2C7E"/>
                    </a:solidFill>
                  </a:tcPr>
                </a:tc>
                <a:tc>
                  <a:txBody>
                    <a:bodyPr/>
                    <a:lstStyle/>
                    <a:p>
                      <a:r>
                        <a:rPr sz="1300" b="1">
                          <a:solidFill>
                            <a:srgbClr val="FFFFFF"/>
                          </a:solidFill>
                          <a:latin typeface="Arial"/>
                        </a:rPr>
                        <a:t>Chi phí</a:t>
                      </a:r>
                    </a:p>
                  </a:txBody>
                  <a:tcPr marL="64008" marR="64008" marT="18288" marB="18288" anchor="ctr">
                    <a:solidFill>
                      <a:srgbClr val="2E2C7E"/>
                    </a:solidFill>
                  </a:tcPr>
                </a:tc>
                <a:tc>
                  <a:txBody>
                    <a:bodyPr/>
                    <a:lstStyle/>
                    <a:p>
                      <a:r>
                        <a:rPr sz="1300" b="1">
                          <a:solidFill>
                            <a:srgbClr val="FFFFFF"/>
                          </a:solidFill>
                          <a:latin typeface="Arial"/>
                        </a:rPr>
                        <a:t>Cô lập</a:t>
                      </a:r>
                    </a:p>
                  </a:txBody>
                  <a:tcPr marL="64008" marR="64008" marT="18288" marB="18288" anchor="ctr">
                    <a:solidFill>
                      <a:srgbClr val="2E2C7E"/>
                    </a:solidFill>
                  </a:tcPr>
                </a:tc>
                <a:tc>
                  <a:txBody>
                    <a:bodyPr/>
                    <a:lstStyle/>
                    <a:p>
                      <a:r>
                        <a:rPr sz="1300" b="1">
                          <a:solidFill>
                            <a:srgbClr val="FFFFFF"/>
                          </a:solidFill>
                          <a:latin typeface="Arial"/>
                        </a:rPr>
                        <a:t>Quy mô</a:t>
                      </a:r>
                    </a:p>
                  </a:txBody>
                  <a:tcPr marL="64008" marR="64008" marT="18288" marB="18288" anchor="ctr">
                    <a:solidFill>
                      <a:srgbClr val="2E2C7E"/>
                    </a:solidFill>
                  </a:tcPr>
                </a:tc>
                <a:tc>
                  <a:txBody>
                    <a:bodyPr/>
                    <a:lstStyle/>
                    <a:p>
                      <a:r>
                        <a:rPr sz="1300" b="1">
                          <a:solidFill>
                            <a:srgbClr val="FFFFFF"/>
                          </a:solidFill>
                          <a:latin typeface="Arial"/>
                        </a:rPr>
                        <a:t>Quyết định</a:t>
                      </a:r>
                    </a:p>
                  </a:txBody>
                  <a:tcPr marL="64008" marR="64008" marT="18288" marB="18288" anchor="ctr">
                    <a:solidFill>
                      <a:srgbClr val="2E2C7E"/>
                    </a:solidFill>
                  </a:tcPr>
                </a:tc>
              </a:tr>
              <a:tr h="365760">
                <a:tc>
                  <a:txBody>
                    <a:bodyPr/>
                    <a:lstStyle/>
                    <a:p>
                      <a:r>
                        <a:rPr sz="1300">
                          <a:latin typeface="Arial"/>
                        </a:rPr>
                        <a:t>Instance mỗi tenant</a:t>
                      </a:r>
                    </a:p>
                  </a:txBody>
                  <a:tcPr marL="64008" marR="64008" marT="18288" marB="18288" anchor="ctr">
                    <a:solidFill>
                      <a:srgbClr val="FFFFFF"/>
                    </a:solidFill>
                  </a:tcPr>
                </a:tc>
                <a:tc>
                  <a:txBody>
                    <a:bodyPr/>
                    <a:lstStyle/>
                    <a:p>
                      <a:r>
                        <a:rPr sz="1300">
                          <a:latin typeface="Arial"/>
                        </a:rPr>
                        <a:t>Rất cao</a:t>
                      </a:r>
                    </a:p>
                  </a:txBody>
                  <a:tcPr marL="64008" marR="64008" marT="18288" marB="18288" anchor="ctr">
                    <a:solidFill>
                      <a:srgbClr val="FFFFFF"/>
                    </a:solidFill>
                  </a:tcPr>
                </a:tc>
                <a:tc>
                  <a:txBody>
                    <a:bodyPr/>
                    <a:lstStyle/>
                    <a:p>
                      <a:r>
                        <a:rPr sz="1300">
                          <a:latin typeface="Arial"/>
                        </a:rPr>
                        <a:t>Tuyệt đối</a:t>
                      </a:r>
                    </a:p>
                  </a:txBody>
                  <a:tcPr marL="64008" marR="64008" marT="18288" marB="18288" anchor="ctr">
                    <a:solidFill>
                      <a:srgbClr val="FFFFFF"/>
                    </a:solidFill>
                  </a:tcPr>
                </a:tc>
                <a:tc>
                  <a:txBody>
                    <a:bodyPr/>
                    <a:lstStyle/>
                    <a:p>
                      <a:r>
                        <a:rPr sz="1300">
                          <a:latin typeface="Arial"/>
                        </a:rPr>
                        <a:t>≤10</a:t>
                      </a:r>
                    </a:p>
                  </a:txBody>
                  <a:tcPr marL="64008" marR="64008" marT="18288" marB="18288" anchor="ctr">
                    <a:solidFill>
                      <a:srgbClr val="FFFFFF"/>
                    </a:solidFill>
                  </a:tcPr>
                </a:tc>
                <a:tc>
                  <a:txBody>
                    <a:bodyPr/>
                    <a:lstStyle/>
                    <a:p>
                      <a:r>
                        <a:rPr sz="1300">
                          <a:latin typeface="Arial"/>
                        </a:rPr>
                        <a:t>Loại</a:t>
                      </a:r>
                    </a:p>
                  </a:txBody>
                  <a:tcPr marL="64008" marR="64008" marT="18288" marB="18288" anchor="ctr">
                    <a:solidFill>
                      <a:srgbClr val="FFFFFF"/>
                    </a:solidFill>
                  </a:tcPr>
                </a:tc>
              </a:tr>
              <a:tr h="365760">
                <a:tc>
                  <a:txBody>
                    <a:bodyPr/>
                    <a:lstStyle/>
                    <a:p>
                      <a:r>
                        <a:rPr sz="1300">
                          <a:latin typeface="Arial"/>
                        </a:rPr>
                        <a:t>Database mỗi tenant</a:t>
                      </a:r>
                    </a:p>
                  </a:txBody>
                  <a:tcPr marL="64008" marR="64008" marT="18288" marB="18288" anchor="ctr">
                    <a:solidFill>
                      <a:srgbClr val="ECEFF6"/>
                    </a:solidFill>
                  </a:tcPr>
                </a:tc>
                <a:tc>
                  <a:txBody>
                    <a:bodyPr/>
                    <a:lstStyle/>
                    <a:p>
                      <a:r>
                        <a:rPr sz="1300">
                          <a:latin typeface="Arial"/>
                        </a:rPr>
                        <a:t>Cao</a:t>
                      </a:r>
                    </a:p>
                  </a:txBody>
                  <a:tcPr marL="64008" marR="64008" marT="18288" marB="18288" anchor="ctr">
                    <a:solidFill>
                      <a:srgbClr val="ECEFF6"/>
                    </a:solidFill>
                  </a:tcPr>
                </a:tc>
                <a:tc>
                  <a:txBody>
                    <a:bodyPr/>
                    <a:lstStyle/>
                    <a:p>
                      <a:r>
                        <a:rPr sz="1300">
                          <a:latin typeface="Arial"/>
                        </a:rPr>
                        <a:t>Mạnh</a:t>
                      </a:r>
                    </a:p>
                  </a:txBody>
                  <a:tcPr marL="64008" marR="64008" marT="18288" marB="18288" anchor="ctr">
                    <a:solidFill>
                      <a:srgbClr val="ECEFF6"/>
                    </a:solidFill>
                  </a:tcPr>
                </a:tc>
                <a:tc>
                  <a:txBody>
                    <a:bodyPr/>
                    <a:lstStyle/>
                    <a:p>
                      <a:r>
                        <a:rPr sz="1300">
                          <a:latin typeface="Arial"/>
                        </a:rPr>
                        <a:t>10–100</a:t>
                      </a:r>
                    </a:p>
                  </a:txBody>
                  <a:tcPr marL="64008" marR="64008" marT="18288" marB="18288" anchor="ctr">
                    <a:solidFill>
                      <a:srgbClr val="ECEFF6"/>
                    </a:solidFill>
                  </a:tcPr>
                </a:tc>
                <a:tc>
                  <a:txBody>
                    <a:bodyPr/>
                    <a:lstStyle/>
                    <a:p>
                      <a:r>
                        <a:rPr sz="1300">
                          <a:latin typeface="Arial"/>
                        </a:rPr>
                        <a:t>Loại</a:t>
                      </a:r>
                    </a:p>
                  </a:txBody>
                  <a:tcPr marL="64008" marR="64008" marT="18288" marB="18288" anchor="ctr">
                    <a:solidFill>
                      <a:srgbClr val="ECEFF6"/>
                    </a:solidFill>
                  </a:tcPr>
                </a:tc>
              </a:tr>
              <a:tr h="365760">
                <a:tc>
                  <a:txBody>
                    <a:bodyPr/>
                    <a:lstStyle/>
                    <a:p>
                      <a:r>
                        <a:rPr sz="1300">
                          <a:latin typeface="Arial"/>
                        </a:rPr>
                        <a:t>Schema mỗi tenant</a:t>
                      </a:r>
                    </a:p>
                  </a:txBody>
                  <a:tcPr marL="64008" marR="64008" marT="18288" marB="18288" anchor="ctr">
                    <a:solidFill>
                      <a:srgbClr val="FFFFFF"/>
                    </a:solidFill>
                  </a:tcPr>
                </a:tc>
                <a:tc>
                  <a:txBody>
                    <a:bodyPr/>
                    <a:lstStyle/>
                    <a:p>
                      <a:r>
                        <a:rPr sz="1300">
                          <a:latin typeface="Arial"/>
                        </a:rPr>
                        <a:t>Trung bình</a:t>
                      </a:r>
                    </a:p>
                  </a:txBody>
                  <a:tcPr marL="64008" marR="64008" marT="18288" marB="18288" anchor="ctr">
                    <a:solidFill>
                      <a:srgbClr val="FFFFFF"/>
                    </a:solidFill>
                  </a:tcPr>
                </a:tc>
                <a:tc>
                  <a:txBody>
                    <a:bodyPr/>
                    <a:lstStyle/>
                    <a:p>
                      <a:r>
                        <a:rPr sz="1300">
                          <a:latin typeface="Arial"/>
                        </a:rPr>
                        <a:t>Khá</a:t>
                      </a:r>
                    </a:p>
                  </a:txBody>
                  <a:tcPr marL="64008" marR="64008" marT="18288" marB="18288" anchor="ctr">
                    <a:solidFill>
                      <a:srgbClr val="FFFFFF"/>
                    </a:solidFill>
                  </a:tcPr>
                </a:tc>
                <a:tc>
                  <a:txBody>
                    <a:bodyPr/>
                    <a:lstStyle/>
                    <a:p>
                      <a:r>
                        <a:rPr sz="1300">
                          <a:latin typeface="Arial"/>
                        </a:rPr>
                        <a:t>100–1000</a:t>
                      </a:r>
                    </a:p>
                  </a:txBody>
                  <a:tcPr marL="64008" marR="64008" marT="18288" marB="18288" anchor="ctr">
                    <a:solidFill>
                      <a:srgbClr val="FFFFFF"/>
                    </a:solidFill>
                  </a:tcPr>
                </a:tc>
                <a:tc>
                  <a:txBody>
                    <a:bodyPr/>
                    <a:lstStyle/>
                    <a:p>
                      <a:r>
                        <a:rPr sz="1300">
                          <a:latin typeface="Arial"/>
                        </a:rPr>
                        <a:t>Cân nhắc sau</a:t>
                      </a:r>
                    </a:p>
                  </a:txBody>
                  <a:tcPr marL="64008" marR="64008" marT="18288" marB="18288" anchor="ctr">
                    <a:solidFill>
                      <a:srgbClr val="FFFFFF"/>
                    </a:solidFill>
                  </a:tcPr>
                </a:tc>
              </a:tr>
              <a:tr h="365760">
                <a:tc>
                  <a:txBody>
                    <a:bodyPr/>
                    <a:lstStyle/>
                    <a:p>
                      <a:r>
                        <a:rPr sz="1300">
                          <a:latin typeface="Arial"/>
                        </a:rPr>
                        <a:t>Row-Level Security</a:t>
                      </a:r>
                    </a:p>
                  </a:txBody>
                  <a:tcPr marL="64008" marR="64008" marT="18288" marB="18288" anchor="ctr">
                    <a:solidFill>
                      <a:srgbClr val="ECEFF6"/>
                    </a:solidFill>
                  </a:tcPr>
                </a:tc>
                <a:tc>
                  <a:txBody>
                    <a:bodyPr/>
                    <a:lstStyle/>
                    <a:p>
                      <a:r>
                        <a:rPr sz="1300">
                          <a:latin typeface="Arial"/>
                        </a:rPr>
                        <a:t>Thấp</a:t>
                      </a:r>
                    </a:p>
                  </a:txBody>
                  <a:tcPr marL="64008" marR="64008" marT="18288" marB="18288" anchor="ctr">
                    <a:solidFill>
                      <a:srgbClr val="ECEFF6"/>
                    </a:solidFill>
                  </a:tcPr>
                </a:tc>
                <a:tc>
                  <a:txBody>
                    <a:bodyPr/>
                    <a:lstStyle/>
                    <a:p>
                      <a:r>
                        <a:rPr sz="1300">
                          <a:latin typeface="Arial"/>
                        </a:rPr>
                        <a:t>DB engine ép buộc</a:t>
                      </a:r>
                    </a:p>
                  </a:txBody>
                  <a:tcPr marL="64008" marR="64008" marT="18288" marB="18288" anchor="ctr">
                    <a:solidFill>
                      <a:srgbClr val="ECEFF6"/>
                    </a:solidFill>
                  </a:tcPr>
                </a:tc>
                <a:tc>
                  <a:txBody>
                    <a:bodyPr/>
                    <a:lstStyle/>
                    <a:p>
                      <a:r>
                        <a:rPr sz="1300">
                          <a:latin typeface="Arial"/>
                        </a:rPr>
                        <a:t>≥1000</a:t>
                      </a:r>
                    </a:p>
                  </a:txBody>
                  <a:tcPr marL="64008" marR="64008" marT="18288" marB="18288" anchor="ctr">
                    <a:solidFill>
                      <a:srgbClr val="ECEFF6"/>
                    </a:solidFill>
                  </a:tcPr>
                </a:tc>
                <a:tc>
                  <a:txBody>
                    <a:bodyPr/>
                    <a:lstStyle/>
                    <a:p>
                      <a:r>
                        <a:rPr sz="1300">
                          <a:latin typeface="Arial"/>
                        </a:rPr>
                        <a:t>Áp dụng</a:t>
                      </a:r>
                    </a:p>
                  </a:txBody>
                  <a:tcPr marL="64008" marR="64008" marT="18288" marB="18288" anchor="ctr">
                    <a:solidFill>
                      <a:srgbClr val="ECEFF6"/>
                    </a:solidFill>
                  </a:tcPr>
                </a:tc>
              </a:tr>
            </a:tbl>
          </a:graphicData>
        </a:graphic>
      </p:graphicFrame>
      <p:sp>
        <p:nvSpPr>
          <p:cNvPr id="5" name="TextBox 4"/>
          <p:cNvSpPr txBox="1"/>
          <p:nvPr/>
        </p:nvSpPr>
        <p:spPr>
          <a:xfrm>
            <a:off x="685800" y="4343400"/>
            <a:ext cx="10881360" cy="1554480"/>
          </a:xfrm>
          <a:prstGeom prst="rect">
            <a:avLst/>
          </a:prstGeom>
          <a:noFill/>
        </p:spPr>
        <p:txBody>
          <a:bodyPr wrap="square">
            <a:spAutoFit/>
          </a:bodyPr>
          <a:lstStyle/>
          <a:p>
            <a:pPr>
              <a:spcAft>
                <a:spcPts val="1000"/>
              </a:spcAft>
            </a:pPr>
            <a:r>
              <a:rPr sz="1500" b="1">
                <a:solidFill>
                  <a:srgbClr val="1F3A6E"/>
                </a:solidFill>
                <a:latin typeface="Arial"/>
              </a:rPr>
              <a:t>▸  RLS policy + biến phiên app.current_tenant_id — Postgres ép lọc ở MỖI truy vấn</a:t>
            </a:r>
          </a:p>
          <a:p>
            <a:pPr>
              <a:spcAft>
                <a:spcPts val="1000"/>
              </a:spcAft>
            </a:pPr>
            <a:r>
              <a:rPr sz="1500" b="0">
                <a:solidFill>
                  <a:srgbClr val="222222"/>
                </a:solidFill>
                <a:latin typeface="Arial"/>
              </a:rPr>
              <a:t>▸  Mô hình Pool theo AWS Well-Architected SaaS Lens; NULL force-fail + HikariCP GUC reset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Bảo mật nhiều lớp — Defense-in-depth (Hình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12</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3-defense-5layer.png"/>
          <p:cNvPicPr>
            <a:picLocks noChangeAspect="1"/>
          </p:cNvPicPr>
          <p:nvPr/>
        </p:nvPicPr>
        <p:blipFill>
          <a:blip r:embed="rId3"/>
          <a:stretch>
            <a:fillRect/>
          </a:stretch>
        </p:blipFill>
        <p:spPr>
          <a:xfrm>
            <a:off x="4657607" y="1792224"/>
            <a:ext cx="2873738"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2.3 — JWT → @PreAuthorize → tenant interceptor → bộ lọc repository → PostgreSQL RLS (phòng tuyến cuối).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Mô hình dữ liệu — ERD KiteClass (Hình 2.6b)</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13</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6b-erd-kiteclass.png"/>
          <p:cNvPicPr>
            <a:picLocks noChangeAspect="1"/>
          </p:cNvPicPr>
          <p:nvPr/>
        </p:nvPicPr>
        <p:blipFill>
          <a:blip r:embed="rId3"/>
          <a:stretch>
            <a:fillRect/>
          </a:stretch>
        </p:blipFill>
        <p:spPr>
          <a:xfrm>
            <a:off x="3731555" y="1792224"/>
            <a:ext cx="472584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2.6b — ERD domain giáo dục: ENROLLMENTS phân giải quan hệ nhiều-nhiều STUDENTS ↔ CLASSES.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Triển khai thực tế — AWS Singapore (Hình 4.1a)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14</a:t>
            </a:r>
          </a:p>
        </p:txBody>
      </p:sp>
      <p:sp>
        <p:nvSpPr>
          <p:cNvPr id="4" name="Rounded Rectangle 3"/>
          <p:cNvSpPr/>
          <p:nvPr/>
        </p:nvSpPr>
        <p:spPr>
          <a:xfrm>
            <a:off x="457200" y="1645920"/>
            <a:ext cx="704088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1a-vpc-topology.png"/>
          <p:cNvPicPr>
            <a:picLocks noChangeAspect="1"/>
          </p:cNvPicPr>
          <p:nvPr/>
        </p:nvPicPr>
        <p:blipFill>
          <a:blip r:embed="rId3"/>
          <a:stretch>
            <a:fillRect/>
          </a:stretch>
        </p:blipFill>
        <p:spPr>
          <a:xfrm>
            <a:off x="2996032" y="1847088"/>
            <a:ext cx="1963215" cy="3895343"/>
          </a:xfrm>
          <a:prstGeom prst="rect">
            <a:avLst/>
          </a:prstGeom>
        </p:spPr>
      </p:pic>
      <p:sp>
        <p:nvSpPr>
          <p:cNvPr id="6" name="TextBox 5"/>
          <p:cNvSpPr txBox="1"/>
          <p:nvPr/>
        </p:nvSpPr>
        <p:spPr>
          <a:xfrm>
            <a:off x="7635240" y="1783080"/>
            <a:ext cx="4297680" cy="4572000"/>
          </a:xfrm>
          <a:prstGeom prst="rect">
            <a:avLst/>
          </a:prstGeom>
          <a:noFill/>
        </p:spPr>
        <p:txBody>
          <a:bodyPr wrap="square">
            <a:spAutoFit/>
          </a:bodyPr>
          <a:lstStyle/>
          <a:p>
            <a:pPr>
              <a:spcAft>
                <a:spcPts val="1000"/>
              </a:spcAft>
            </a:pPr>
            <a:r>
              <a:rPr sz="1300" b="1">
                <a:solidFill>
                  <a:srgbClr val="1F3A6E"/>
                </a:solidFill>
                <a:latin typeface="Arial"/>
              </a:rPr>
              <a:t>▸  Vùng ap-southeast-1</a:t>
            </a:r>
          </a:p>
          <a:p>
            <a:pPr lvl="1">
              <a:spcAft>
                <a:spcPts val="600"/>
              </a:spcAft>
            </a:pPr>
            <a:r>
              <a:rPr sz="1000" b="0">
                <a:solidFill>
                  <a:srgbClr val="222222"/>
                </a:solidFill>
                <a:latin typeface="Arial"/>
              </a:rPr>
              <a:t>•  Public subnet: ALB + 2× EC2 t3.micro</a:t>
            </a:r>
          </a:p>
          <a:p>
            <a:pPr lvl="1">
              <a:spcAft>
                <a:spcPts val="600"/>
              </a:spcAft>
            </a:pPr>
            <a:r>
              <a:rPr sz="1000" b="0">
                <a:solidFill>
                  <a:srgbClr val="222222"/>
                </a:solidFill>
                <a:latin typeface="Arial"/>
              </a:rPr>
              <a:t>•  Private subnet: RDS PostgreSQL cô lập</a:t>
            </a:r>
          </a:p>
          <a:p>
            <a:pPr lvl="1">
              <a:spcAft>
                <a:spcPts val="600"/>
              </a:spcAft>
            </a:pPr>
            <a:r>
              <a:rPr sz="1000" b="0">
                <a:solidFill>
                  <a:srgbClr val="222222"/>
                </a:solidFill>
                <a:latin typeface="Arial"/>
              </a:rPr>
              <a:t>•  Phụ trợ: S3, SES, Secrets Manager, ECR, CloudWatch</a:t>
            </a:r>
          </a:p>
          <a:p>
            <a:pPr>
              <a:spcAft>
                <a:spcPts val="1000"/>
              </a:spcAft>
            </a:pPr>
            <a:r>
              <a:rPr sz="1300" b="0">
                <a:solidFill>
                  <a:srgbClr val="222222"/>
                </a:solidFill>
                <a:latin typeface="Arial"/>
              </a:rPr>
              <a:t>▸  CI/CD: GitHub Actions + OIDC, Terraform plan-trước-apply (chi tiết ở Phụ lục)</a:t>
            </a:r>
          </a:p>
          <a:p>
            <a:pPr>
              <a:spcAft>
                <a:spcPts val="1000"/>
              </a:spcAft>
            </a:pPr>
            <a:r>
              <a:rPr sz="1300" b="1">
                <a:solidFill>
                  <a:srgbClr val="1E7E34"/>
                </a:solidFill>
                <a:latin typeface="Arial"/>
              </a:rPr>
              <a:t>▸  Free Tier 12 tháng → tổng chi phí ~15–30 USD/tháng (≈360–720 nghìn đồng)</a:t>
            </a:r>
          </a:p>
          <a:p>
            <a:pPr>
              <a:spcAft>
                <a:spcPts val="1000"/>
              </a:spcAft>
            </a:pPr>
            <a:r>
              <a:rPr sz="1300" b="0">
                <a:solidFill>
                  <a:srgbClr val="555555"/>
                </a:solidFill>
                <a:latin typeface="Arial"/>
              </a:rPr>
              <a:t>▸  Chưa chạm ngưỡng PDPL Đ28 (10k) / NĐ53 (1 triệu user); có lộ trình chuyển vùng trong nước</a:t>
            </a:r>
          </a:p>
        </p:txBody>
      </p:sp>
      <p:sp>
        <p:nvSpPr>
          <p:cNvPr id="7" name="TextBox 6"/>
          <p:cNvSpPr txBox="1"/>
          <p:nvPr/>
        </p:nvSpPr>
        <p:spPr>
          <a:xfrm>
            <a:off x="502920" y="5989320"/>
            <a:ext cx="6949440" cy="457200"/>
          </a:xfrm>
          <a:prstGeom prst="rect">
            <a:avLst/>
          </a:prstGeom>
          <a:noFill/>
        </p:spPr>
        <p:txBody>
          <a:bodyPr wrap="none">
            <a:spAutoFit/>
          </a:bodyPr>
          <a:lstStyle/>
          <a:p>
            <a:pPr algn="ctr"/>
            <a:r>
              <a:rPr sz="1100" i="1">
                <a:solidFill>
                  <a:srgbClr val="555555"/>
                </a:solidFill>
                <a:latin typeface="Arial"/>
              </a:rPr>
              <a:t>Hình 4.1a — Topology VPC (10.0.0.0/16).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Sản phẩm thực tế — giao diện và AI Branding (Miễn phí vs Trả phí)</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15</a:t>
            </a:r>
          </a:p>
        </p:txBody>
      </p:sp>
      <p:pic>
        <p:nvPicPr>
          <p:cNvPr id="4" name="Picture 3" descr="fig-3.1-tenant-landing.png"/>
          <p:cNvPicPr>
            <a:picLocks noChangeAspect="1"/>
          </p:cNvPicPr>
          <p:nvPr/>
        </p:nvPicPr>
        <p:blipFill>
          <a:blip r:embed="rId3"/>
          <a:stretch>
            <a:fillRect/>
          </a:stretch>
        </p:blipFill>
        <p:spPr>
          <a:xfrm>
            <a:off x="836676" y="1417320"/>
            <a:ext cx="2852928" cy="1783080"/>
          </a:xfrm>
          <a:prstGeom prst="rect">
            <a:avLst/>
          </a:prstGeom>
          <a:ln w="9525">
            <a:solidFill>
              <a:srgbClr val="C8D2E0"/>
            </a:solidFill>
          </a:ln>
        </p:spPr>
      </p:pic>
      <p:pic>
        <p:nvPicPr>
          <p:cNvPr id="5" name="Picture 4" descr="fig-3.3-dashboard.png"/>
          <p:cNvPicPr>
            <a:picLocks noChangeAspect="1"/>
          </p:cNvPicPr>
          <p:nvPr/>
        </p:nvPicPr>
        <p:blipFill>
          <a:blip r:embed="rId4"/>
          <a:stretch>
            <a:fillRect/>
          </a:stretch>
        </p:blipFill>
        <p:spPr>
          <a:xfrm>
            <a:off x="4649724" y="1417320"/>
            <a:ext cx="2852928" cy="1783080"/>
          </a:xfrm>
          <a:prstGeom prst="rect">
            <a:avLst/>
          </a:prstGeom>
          <a:ln w="9525">
            <a:solidFill>
              <a:srgbClr val="C8D2E0"/>
            </a:solidFill>
          </a:ln>
        </p:spPr>
      </p:pic>
      <p:pic>
        <p:nvPicPr>
          <p:cNvPr id="6" name="Picture 5" descr="fig-3.5-student-mgmt.png"/>
          <p:cNvPicPr>
            <a:picLocks noChangeAspect="1"/>
          </p:cNvPicPr>
          <p:nvPr/>
        </p:nvPicPr>
        <p:blipFill>
          <a:blip r:embed="rId5"/>
          <a:stretch>
            <a:fillRect/>
          </a:stretch>
        </p:blipFill>
        <p:spPr>
          <a:xfrm>
            <a:off x="8462771" y="1417320"/>
            <a:ext cx="2852928" cy="1783080"/>
          </a:xfrm>
          <a:prstGeom prst="rect">
            <a:avLst/>
          </a:prstGeom>
          <a:ln w="9525">
            <a:solidFill>
              <a:srgbClr val="C8D2E0"/>
            </a:solidFill>
          </a:ln>
        </p:spPr>
      </p:pic>
      <p:sp>
        <p:nvSpPr>
          <p:cNvPr id="7" name="TextBox 6"/>
          <p:cNvSpPr txBox="1"/>
          <p:nvPr/>
        </p:nvSpPr>
        <p:spPr>
          <a:xfrm>
            <a:off x="548640" y="3273552"/>
            <a:ext cx="11064240" cy="457200"/>
          </a:xfrm>
          <a:prstGeom prst="rect">
            <a:avLst/>
          </a:prstGeom>
          <a:noFill/>
        </p:spPr>
        <p:txBody>
          <a:bodyPr wrap="none">
            <a:spAutoFit/>
          </a:bodyPr>
          <a:lstStyle/>
          <a:p>
            <a:pPr algn="ctr"/>
            <a:r>
              <a:rPr sz="1000" i="1">
                <a:solidFill>
                  <a:srgbClr val="555555"/>
                </a:solidFill>
                <a:latin typeface="Arial"/>
              </a:rPr>
              <a:t>Hình 3.1 / 3.3 / 3.5 — Trang chủ thương hiệu riêng theo tenant · Dashboard · Quản lý học viên.</a:t>
            </a:r>
          </a:p>
        </p:txBody>
      </p:sp>
      <p:pic>
        <p:nvPicPr>
          <p:cNvPr id="8" name="Picture 7" descr="fig-4.3-landing-free.png"/>
          <p:cNvPicPr>
            <a:picLocks noChangeAspect="1"/>
          </p:cNvPicPr>
          <p:nvPr/>
        </p:nvPicPr>
        <p:blipFill>
          <a:blip r:embed="rId6"/>
          <a:stretch>
            <a:fillRect/>
          </a:stretch>
        </p:blipFill>
        <p:spPr>
          <a:xfrm>
            <a:off x="1463040" y="3474720"/>
            <a:ext cx="3657600" cy="2286000"/>
          </a:xfrm>
          <a:prstGeom prst="rect">
            <a:avLst/>
          </a:prstGeom>
          <a:ln w="9525">
            <a:solidFill>
              <a:srgbClr val="C8D2E0"/>
            </a:solidFill>
          </a:ln>
        </p:spPr>
      </p:pic>
      <p:pic>
        <p:nvPicPr>
          <p:cNvPr id="9" name="Picture 8" descr="fig-4.4-landing-paid.png"/>
          <p:cNvPicPr>
            <a:picLocks noChangeAspect="1"/>
          </p:cNvPicPr>
          <p:nvPr/>
        </p:nvPicPr>
        <p:blipFill>
          <a:blip r:embed="rId7"/>
          <a:stretch>
            <a:fillRect/>
          </a:stretch>
        </p:blipFill>
        <p:spPr>
          <a:xfrm>
            <a:off x="7132320" y="3474720"/>
            <a:ext cx="3657600" cy="2286000"/>
          </a:xfrm>
          <a:prstGeom prst="rect">
            <a:avLst/>
          </a:prstGeom>
          <a:ln w="9525">
            <a:solidFill>
              <a:srgbClr val="C8D2E0"/>
            </a:solidFill>
          </a:ln>
        </p:spPr>
      </p:pic>
      <p:sp>
        <p:nvSpPr>
          <p:cNvPr id="10" name="TextBox 9"/>
          <p:cNvSpPr txBox="1"/>
          <p:nvPr/>
        </p:nvSpPr>
        <p:spPr>
          <a:xfrm>
            <a:off x="548640" y="5870448"/>
            <a:ext cx="11064240" cy="457200"/>
          </a:xfrm>
          <a:prstGeom prst="rect">
            <a:avLst/>
          </a:prstGeom>
          <a:noFill/>
        </p:spPr>
        <p:txBody>
          <a:bodyPr wrap="none">
            <a:spAutoFit/>
          </a:bodyPr>
          <a:lstStyle/>
          <a:p>
            <a:pPr algn="ctr"/>
            <a:r>
              <a:rPr sz="1000" i="1">
                <a:solidFill>
                  <a:srgbClr val="555555"/>
                </a:solidFill>
                <a:latin typeface="Arial"/>
              </a:rPr>
              <a:t>Hình 4.3 Miễn phí (mẫu dựng sẵn, tông xanh dương) vs Hình 4.4 Trả phí (AI sinh tự động, tông xanh lá) — hai tenant thật, chung một mã nguồn.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Kết quả kiểm thử và đánh giá chất lượng (§3.2)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16</a:t>
            </a:r>
          </a:p>
        </p:txBody>
      </p:sp>
      <p:sp>
        <p:nvSpPr>
          <p:cNvPr id="4" name="Rounded Rectangle 3"/>
          <p:cNvSpPr/>
          <p:nvPr/>
        </p:nvSpPr>
        <p:spPr>
          <a:xfrm>
            <a:off x="457200"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~985</a:t>
            </a:r>
          </a:p>
          <a:p>
            <a:pPr algn="ctr"/>
            <a:r>
              <a:rPr sz="1500" b="1">
                <a:solidFill>
                  <a:srgbClr val="222222"/>
                </a:solidFill>
                <a:latin typeface="Arial"/>
              </a:rPr>
              <a:t>Test case</a:t>
            </a:r>
          </a:p>
          <a:p>
            <a:pPr algn="ctr"/>
            <a:r>
              <a:rPr sz="1100">
                <a:solidFill>
                  <a:srgbClr val="555555"/>
                </a:solidFill>
                <a:latin typeface="Arial"/>
              </a:rPr>
              <a:t>850 unit·120 IT·15-25 E2E</a:t>
            </a:r>
          </a:p>
        </p:txBody>
      </p:sp>
      <p:sp>
        <p:nvSpPr>
          <p:cNvPr id="5" name="Rounded Rectangle 4"/>
          <p:cNvSpPr/>
          <p:nvPr/>
        </p:nvSpPr>
        <p:spPr>
          <a:xfrm>
            <a:off x="3367277"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≥99,5%</a:t>
            </a:r>
          </a:p>
          <a:p>
            <a:pPr algn="ctr"/>
            <a:r>
              <a:rPr sz="1500" b="1">
                <a:solidFill>
                  <a:srgbClr val="222222"/>
                </a:solidFill>
                <a:latin typeface="Arial"/>
              </a:rPr>
              <a:t>Tỷ lệ pass</a:t>
            </a:r>
          </a:p>
          <a:p>
            <a:pPr algn="ctr"/>
            <a:r>
              <a:rPr sz="1100">
                <a:solidFill>
                  <a:srgbClr val="555555"/>
                </a:solidFill>
                <a:latin typeface="Arial"/>
              </a:rPr>
              <a:t>trên nhánh main</a:t>
            </a:r>
          </a:p>
        </p:txBody>
      </p:sp>
      <p:sp>
        <p:nvSpPr>
          <p:cNvPr id="6" name="Rounded Rectangle 5"/>
          <p:cNvSpPr/>
          <p:nvPr/>
        </p:nvSpPr>
        <p:spPr>
          <a:xfrm>
            <a:off x="6277355"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≥75%</a:t>
            </a:r>
          </a:p>
          <a:p>
            <a:pPr algn="ctr"/>
            <a:r>
              <a:rPr sz="1500" b="1">
                <a:solidFill>
                  <a:srgbClr val="222222"/>
                </a:solidFill>
                <a:latin typeface="Arial"/>
              </a:rPr>
              <a:t>Coverage</a:t>
            </a:r>
          </a:p>
          <a:p>
            <a:pPr algn="ctr"/>
            <a:r>
              <a:rPr sz="1100">
                <a:solidFill>
                  <a:srgbClr val="555555"/>
                </a:solidFill>
                <a:latin typeface="Arial"/>
              </a:rPr>
              <a:t>module nghiệp vụ</a:t>
            </a:r>
          </a:p>
        </p:txBody>
      </p:sp>
      <p:sp>
        <p:nvSpPr>
          <p:cNvPr id="7" name="Rounded Rectangle 6"/>
          <p:cNvSpPr/>
          <p:nvPr/>
        </p:nvSpPr>
        <p:spPr>
          <a:xfrm>
            <a:off x="9187434"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4 chiều</a:t>
            </a:r>
          </a:p>
          <a:p>
            <a:pPr algn="ctr"/>
            <a:r>
              <a:rPr sz="1500" b="1">
                <a:solidFill>
                  <a:srgbClr val="222222"/>
                </a:solidFill>
                <a:latin typeface="Arial"/>
              </a:rPr>
              <a:t>Audit định kỳ</a:t>
            </a:r>
          </a:p>
          <a:p>
            <a:pPr algn="ctr"/>
            <a:r>
              <a:rPr sz="1100">
                <a:solidFill>
                  <a:srgbClr val="555555"/>
                </a:solidFill>
                <a:latin typeface="Arial"/>
              </a:rPr>
              <a:t>Quality·Security·Perf·API</a:t>
            </a:r>
          </a:p>
        </p:txBody>
      </p:sp>
      <p:sp>
        <p:nvSpPr>
          <p:cNvPr id="8" name="TextBox 7"/>
          <p:cNvSpPr txBox="1"/>
          <p:nvPr/>
        </p:nvSpPr>
        <p:spPr>
          <a:xfrm>
            <a:off x="685800" y="4343400"/>
            <a:ext cx="10881360" cy="1554480"/>
          </a:xfrm>
          <a:prstGeom prst="rect">
            <a:avLst/>
          </a:prstGeom>
          <a:noFill/>
        </p:spPr>
        <p:txBody>
          <a:bodyPr wrap="square">
            <a:spAutoFit/>
          </a:bodyPr>
          <a:lstStyle/>
          <a:p>
            <a:pPr>
              <a:spcAft>
                <a:spcPts val="1000"/>
              </a:spcAft>
            </a:pPr>
            <a:r>
              <a:rPr sz="1600" b="0">
                <a:solidFill>
                  <a:srgbClr val="222222"/>
                </a:solidFill>
                <a:latin typeface="Arial"/>
              </a:rPr>
              <a:t>▸  Kim tự tháp test pyramid (Cohn): đáy unit rộng → integration (Testcontainers Postgres+RabbitMQ) → đỉnh E2E Playwright</a:t>
            </a:r>
          </a:p>
          <a:p>
            <a:pPr>
              <a:spcAft>
                <a:spcPts val="1000"/>
              </a:spcAft>
            </a:pPr>
            <a:r>
              <a:rPr sz="1600" b="1">
                <a:solidFill>
                  <a:srgbClr val="1F3A6E"/>
                </a:solidFill>
                <a:latin typeface="Arial"/>
              </a:rPr>
              <a:t>▸  Audit định kỳ theo SQA IEEE 730 — findings mỗi kỳ track riêng + schedule fix vòng kế tiếp (continuous quality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latin typeface="Arial"/>
              </a:rPr>
              <a:t>Demo trực tiếp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latin typeface="Arial"/>
              </a:rPr>
              <a:t>Khách tham quan → đăng ký onboarding → wizard tạo tenant → cô lập đa-tenant · dự phòng video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Hạn chế thừa nhận và hướng phát triển</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18</a:t>
            </a:r>
          </a:p>
        </p:txBody>
      </p:sp>
      <p:sp>
        <p:nvSpPr>
          <p:cNvPr id="4" name="TextBox 3"/>
          <p:cNvSpPr txBox="1"/>
          <p:nvPr/>
        </p:nvSpPr>
        <p:spPr>
          <a:xfrm>
            <a:off x="685800" y="1691640"/>
            <a:ext cx="10881360" cy="4572000"/>
          </a:xfrm>
          <a:prstGeom prst="rect">
            <a:avLst/>
          </a:prstGeom>
          <a:noFill/>
        </p:spPr>
        <p:txBody>
          <a:bodyPr wrap="square">
            <a:spAutoFit/>
          </a:bodyPr>
          <a:lstStyle/>
          <a:p>
            <a:pPr>
              <a:spcAft>
                <a:spcPts val="1000"/>
              </a:spcAft>
            </a:pPr>
            <a:r>
              <a:rPr sz="1600" b="1">
                <a:solidFill>
                  <a:srgbClr val="B03030"/>
                </a:solidFill>
                <a:latin typeface="Arial"/>
              </a:rPr>
              <a:t>▸  Hạn chế hiện tại:</a:t>
            </a:r>
          </a:p>
          <a:p>
            <a:pPr lvl="1">
              <a:spcAft>
                <a:spcPts val="600"/>
              </a:spcAft>
            </a:pPr>
            <a:r>
              <a:rPr sz="1300" b="0">
                <a:solidFill>
                  <a:srgbClr val="222222"/>
                </a:solidFill>
                <a:latin typeface="Arial"/>
              </a:rPr>
              <a:t>•  Hạ tầng 2× t3.micro bộ nhớ hạn chế; chưa có failover đa vùng (multi-AZ)</a:t>
            </a:r>
          </a:p>
          <a:p>
            <a:pPr lvl="1">
              <a:spcAft>
                <a:spcPts val="600"/>
              </a:spcAft>
            </a:pPr>
            <a:r>
              <a:rPr sz="1300" b="0">
                <a:solidFill>
                  <a:srgbClr val="222222"/>
                </a:solidFill>
                <a:latin typeface="Arial"/>
              </a:rPr>
              <a:t>•  Chưa lưu trữ dữ liệu trong nước — kích hoạt chuyển vùng khi vượt ngưỡng</a:t>
            </a:r>
          </a:p>
          <a:p>
            <a:pPr lvl="1">
              <a:spcAft>
                <a:spcPts val="600"/>
              </a:spcAft>
            </a:pPr>
            <a:r>
              <a:rPr sz="1300" b="0">
                <a:solidFill>
                  <a:srgbClr val="222222"/>
                </a:solidFill>
                <a:latin typeface="Arial"/>
              </a:rPr>
              <a:t>•  Quality gate AI dùng bộ lọc provider; chưa tự huấn luyện bộ phân loại brand-fit</a:t>
            </a:r>
          </a:p>
          <a:p>
            <a:pPr lvl="1">
              <a:spcAft>
                <a:spcPts val="600"/>
              </a:spcAft>
            </a:pPr>
            <a:r>
              <a:rPr sz="1300" b="0">
                <a:solidFill>
                  <a:srgbClr val="222222"/>
                </a:solidFill>
                <a:latin typeface="Arial"/>
              </a:rPr>
              <a:t>•  Chưa có ứng dụng di động native — người dùng dùng web responsive</a:t>
            </a:r>
          </a:p>
          <a:p>
            <a:pPr>
              <a:spcAft>
                <a:spcPts val="1000"/>
              </a:spcAft>
            </a:pPr>
            <a:r>
              <a:rPr sz="1600" b="1">
                <a:solidFill>
                  <a:srgbClr val="1E7E34"/>
                </a:solidFill>
                <a:latin typeface="Arial"/>
              </a:rPr>
              <a:t>▸  Hướng phát triển sau:</a:t>
            </a:r>
          </a:p>
          <a:p>
            <a:pPr lvl="1">
              <a:spcAft>
                <a:spcPts val="600"/>
              </a:spcAft>
            </a:pPr>
            <a:r>
              <a:rPr sz="1300" b="0">
                <a:solidFill>
                  <a:srgbClr val="222222"/>
                </a:solidFill>
                <a:latin typeface="Arial"/>
              </a:rPr>
              <a:t>•  Mở đăng ký công khai, nâng cấp hạ tầng, kích hoạt cổng thanh toán MoMo/VNPay</a:t>
            </a:r>
          </a:p>
          <a:p>
            <a:pPr lvl="1">
              <a:spcAft>
                <a:spcPts val="600"/>
              </a:spcAft>
            </a:pPr>
            <a:r>
              <a:rPr sz="1300" b="0">
                <a:solidFill>
                  <a:srgbClr val="222222"/>
                </a:solidFill>
                <a:latin typeface="Arial"/>
              </a:rPr>
              <a:t>•  Tích hợp hóa đơn điện tử (MISA MeInvoice), kênh Zalo OA, mở rộng K-12 sau khi có legal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Kết luận</a:t>
            </a:r>
          </a:p>
        </p:txBody>
      </p:sp>
      <p:sp>
        <p:nvSpPr>
          <p:cNvPr id="3" name="TextBox 2"/>
          <p:cNvSpPr txBox="1"/>
          <p:nvPr/>
        </p:nvSpPr>
        <p:spPr>
          <a:xfrm>
            <a:off x="685800" y="1783080"/>
            <a:ext cx="10881360" cy="4572000"/>
          </a:xfrm>
          <a:prstGeom prst="rect">
            <a:avLst/>
          </a:prstGeom>
          <a:noFill/>
        </p:spPr>
        <p:txBody>
          <a:bodyPr wrap="square">
            <a:spAutoFit/>
          </a:bodyPr>
          <a:lstStyle/>
          <a:p>
            <a:pPr>
              <a:spcAft>
                <a:spcPts val="1000"/>
              </a:spcAft>
            </a:pPr>
            <a:r>
              <a:rPr sz="1800" b="1">
                <a:solidFill>
                  <a:srgbClr val="1F3A6E"/>
                </a:solidFill>
                <a:latin typeface="Arial"/>
              </a:rPr>
              <a:t>▸  Đồ án hoàn thành các mục tiêu đặt ra trong phạm vi triển khai hiện tại:</a:t>
            </a:r>
          </a:p>
          <a:p>
            <a:pPr lvl="1">
              <a:spcAft>
                <a:spcPts val="600"/>
              </a:spcAft>
            </a:pPr>
            <a:r>
              <a:rPr sz="1500" b="0">
                <a:solidFill>
                  <a:srgbClr val="222222"/>
                </a:solidFill>
                <a:latin typeface="Arial"/>
              </a:rPr>
              <a:t>•  Nền tảng KiteHub trên AWS Singapore: 7 microservice + 2 ứng dụng giao diện, cô lập đa-tenant bằng RLS</a:t>
            </a:r>
          </a:p>
          <a:p>
            <a:pPr lvl="1">
              <a:spcAft>
                <a:spcPts val="600"/>
              </a:spcAft>
            </a:pPr>
            <a:r>
              <a:rPr sz="1500" b="0">
                <a:solidFill>
                  <a:srgbClr val="222222"/>
                </a:solidFill>
                <a:latin typeface="Arial"/>
              </a:rPr>
              <a:t>•  Bốn khác biệt: đa-tenant RLS gốc · AI Branding tự động · tuân thủ pháp luật theo thiết kế · UX Vietnamese-first</a:t>
            </a:r>
          </a:p>
          <a:p>
            <a:pPr lvl="1">
              <a:spcAft>
                <a:spcPts val="600"/>
              </a:spcAft>
            </a:pPr>
            <a:r>
              <a:rPr sz="1500" b="0">
                <a:solidFill>
                  <a:srgbClr val="222222"/>
                </a:solidFill>
                <a:latin typeface="Arial"/>
              </a:rPr>
              <a:t>•  Đáp ứng PDPL 2023, Luật An ninh mạng 2018, Thông tư 78/2021/TT-BTC; kiểm chứng qua bộ kiểm thử nhiều tầng</a:t>
            </a:r>
          </a:p>
          <a:p>
            <a:pPr>
              <a:spcAft>
                <a:spcPts val="1000"/>
              </a:spcAft>
            </a:pPr>
            <a:r>
              <a:rPr sz="1800" b="0">
                <a:solidFill>
                  <a:srgbClr val="222222"/>
                </a:solidFill>
                <a:latin typeface="Arial"/>
              </a:rPr>
              <a:t>▸  Mã nguồn công khai trên GitHub để hội đồng đối chiếu trực tiếp</a:t>
            </a:r>
          </a:p>
          <a:p>
            <a:pPr>
              <a:spcAft>
                <a:spcPts val="1000"/>
              </a:spcAft>
            </a:pPr>
            <a:r>
              <a:rPr sz="1800" b="1">
                <a:solidFill>
                  <a:srgbClr val="1F3A6E"/>
                </a:solidFill>
                <a:latin typeface="Arial"/>
              </a:rPr>
              <a:t>▸  Em xin chân thành cảm ơn thầy Nguyễn Đức Dư và quý hội đồng — sẵn sàng trả lời câu hỏi</a:t>
            </a:r>
          </a:p>
        </p:txBody>
      </p:sp>
      <p:sp>
        <p:nvSpPr>
          <p:cNvPr id="4" name="TextBox 3"/>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latin typeface="Arial"/>
              </a:rPr>
              <a:t>Phụ lục — slide dự phòng cho phần hỏi đáp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latin typeface="Arial"/>
              </a:rPr>
              <a:t>Sơ đồ chi tiết: phân rã container C4 L2 · vòng đời tenant · CI/CD và giám sát vận hành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1 — Phân rã container C4 Level 2 (Hình 2.2)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21</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2-c4-container.png"/>
          <p:cNvPicPr>
            <a:picLocks noChangeAspect="1"/>
          </p:cNvPicPr>
          <p:nvPr/>
        </p:nvPicPr>
        <p:blipFill>
          <a:blip r:embed="rId3"/>
          <a:stretch>
            <a:fillRect/>
          </a:stretch>
        </p:blipFill>
        <p:spPr>
          <a:xfrm>
            <a:off x="4251344" y="1792224"/>
            <a:ext cx="3686263" cy="3968495"/>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2.2 — Container C4 L2: 4 cụm — Frontend (2 Next.js) · Gateway · 6 service KiteHub + KiteClass core · 4 hạ tầng kite-.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2 — Vòng đời tenant (máy trạng thái, Hình 2.8)</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22</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8-tenant-state.png"/>
          <p:cNvPicPr>
            <a:picLocks noChangeAspect="1"/>
          </p:cNvPicPr>
          <p:nvPr/>
        </p:nvPicPr>
        <p:blipFill>
          <a:blip r:embed="rId3"/>
          <a:stretch>
            <a:fillRect/>
          </a:stretch>
        </p:blipFill>
        <p:spPr>
          <a:xfrm>
            <a:off x="4431340" y="1792224"/>
            <a:ext cx="332627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2.8 — PENDING → TRIAL → ACTIVE → SUSPEND; cấp phát tenant + magic-link kích hoạt.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3 — CI/CD và giám sát vận hành (Hình 4.2a)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23</a:t>
            </a:r>
          </a:p>
        </p:txBody>
      </p:sp>
      <p:sp>
        <p:nvSpPr>
          <p:cNvPr id="4" name="Rounded Rectangle 3"/>
          <p:cNvSpPr/>
          <p:nvPr/>
        </p:nvSpPr>
        <p:spPr>
          <a:xfrm>
            <a:off x="457200" y="1645920"/>
            <a:ext cx="69494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2a-ci-build.png"/>
          <p:cNvPicPr>
            <a:picLocks noChangeAspect="1"/>
          </p:cNvPicPr>
          <p:nvPr/>
        </p:nvPicPr>
        <p:blipFill>
          <a:blip r:embed="rId3"/>
          <a:stretch>
            <a:fillRect/>
          </a:stretch>
        </p:blipFill>
        <p:spPr>
          <a:xfrm>
            <a:off x="658368" y="2197404"/>
            <a:ext cx="6547103" cy="3194712"/>
          </a:xfrm>
          <a:prstGeom prst="rect">
            <a:avLst/>
          </a:prstGeom>
        </p:spPr>
      </p:pic>
      <p:sp>
        <p:nvSpPr>
          <p:cNvPr id="6" name="TextBox 5"/>
          <p:cNvSpPr txBox="1"/>
          <p:nvPr/>
        </p:nvSpPr>
        <p:spPr>
          <a:xfrm>
            <a:off x="7543800" y="1783080"/>
            <a:ext cx="4389120" cy="4572000"/>
          </a:xfrm>
          <a:prstGeom prst="rect">
            <a:avLst/>
          </a:prstGeom>
          <a:noFill/>
        </p:spPr>
        <p:txBody>
          <a:bodyPr wrap="square">
            <a:spAutoFit/>
          </a:bodyPr>
          <a:lstStyle/>
          <a:p>
            <a:pPr>
              <a:spcAft>
                <a:spcPts val="1000"/>
              </a:spcAft>
            </a:pPr>
            <a:r>
              <a:rPr sz="1400" b="0">
                <a:solidFill>
                  <a:srgbClr val="222222"/>
                </a:solidFill>
                <a:latin typeface="Arial"/>
              </a:rPr>
              <a:t>▸  GitHub Actions + OIDC — không lưu access key tĩnh</a:t>
            </a:r>
          </a:p>
          <a:p>
            <a:pPr>
              <a:spcAft>
                <a:spcPts val="1000"/>
              </a:spcAft>
            </a:pPr>
            <a:r>
              <a:rPr sz="1400" b="0">
                <a:solidFill>
                  <a:srgbClr val="222222"/>
                </a:solidFill>
                <a:latin typeface="Arial"/>
              </a:rPr>
              <a:t>▸  Docker tag bất biến theo SHA; Terraform plan-trước-apply + xác nhận thủ công</a:t>
            </a:r>
          </a:p>
          <a:p>
            <a:pPr>
              <a:spcAft>
                <a:spcPts val="1000"/>
              </a:spcAft>
            </a:pPr>
            <a:r>
              <a:rPr sz="1400" b="1">
                <a:solidFill>
                  <a:srgbClr val="1F3A6E"/>
                </a:solidFill>
                <a:latin typeface="Arial"/>
              </a:rPr>
              <a:t>▸  Giám sát 3 lớp:</a:t>
            </a:r>
          </a:p>
          <a:p>
            <a:pPr lvl="1">
              <a:spcAft>
                <a:spcPts val="600"/>
              </a:spcAft>
            </a:pPr>
            <a:r>
              <a:rPr sz="1100" b="0">
                <a:solidFill>
                  <a:srgbClr val="222222"/>
                </a:solidFill>
                <a:latin typeface="Arial"/>
              </a:rPr>
              <a:t>•  CloudTrail — audit mọi AWS API call</a:t>
            </a:r>
          </a:p>
          <a:p>
            <a:pPr lvl="1">
              <a:spcAft>
                <a:spcPts val="600"/>
              </a:spcAft>
            </a:pPr>
            <a:r>
              <a:rPr sz="1100" b="0">
                <a:solidFill>
                  <a:srgbClr val="222222"/>
                </a:solidFill>
                <a:latin typeface="Arial"/>
              </a:rPr>
              <a:t>•  CloudWatch — log JSON + cảnh báo</a:t>
            </a:r>
          </a:p>
          <a:p>
            <a:pPr lvl="1">
              <a:spcAft>
                <a:spcPts val="600"/>
              </a:spcAft>
            </a:pPr>
            <a:r>
              <a:rPr sz="1100" b="0">
                <a:solidFill>
                  <a:srgbClr val="222222"/>
                </a:solidFill>
                <a:latin typeface="Arial"/>
              </a:rPr>
              <a:t>•  Prometheus + Grafana — metric ứng dụng</a:t>
            </a:r>
          </a:p>
        </p:txBody>
      </p:sp>
      <p:sp>
        <p:nvSpPr>
          <p:cNvPr id="7" name="TextBox 6"/>
          <p:cNvSpPr txBox="1"/>
          <p:nvPr/>
        </p:nvSpPr>
        <p:spPr>
          <a:xfrm>
            <a:off x="502920" y="5989320"/>
            <a:ext cx="6858000" cy="457200"/>
          </a:xfrm>
          <a:prstGeom prst="rect">
            <a:avLst/>
          </a:prstGeom>
          <a:noFill/>
        </p:spPr>
        <p:txBody>
          <a:bodyPr wrap="none">
            <a:spAutoFit/>
          </a:bodyPr>
          <a:lstStyle/>
          <a:p>
            <a:pPr algn="ctr"/>
            <a:r>
              <a:rPr sz="1100" i="1">
                <a:solidFill>
                  <a:srgbClr val="555555"/>
                </a:solidFill>
                <a:latin typeface="Arial"/>
              </a:rPr>
              <a:t>Hình 4.2a — Pha build: CI verify → OIDC → push ECR.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
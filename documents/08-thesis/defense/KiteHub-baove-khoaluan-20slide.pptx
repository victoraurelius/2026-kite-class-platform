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sinh viên lớp CNTT1-K63 dưới hướng dẫn của thầy Nguyễn Đức Dư. Hôm nay em xin trình bày khóa luận tốt nghiệp với đề tài Xây dựng hệ thống SaaS cung cấp dịch vụ đào tạo, gọi tắt là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gồm 5 phần: bối cảnh và mục tiêu, khảo sát thị trường và AI, thiết kế kiến trúc, triển khai và kết quả, cuối cùng là demo trực tiếp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Bối cảnh thúc đẩy đề tài: thị trường lớn, văn bản pháp luật hợp pháp hóa ngành dạy thêm, nhưng phần lớn trung tâm nhỏ vẫn quản lý thủ công vì phần mềm hiện có quá phức tạp hoặc quá đắt. Ba quan sát hội tụ: nhu cầu thị trường, mốc pháp lý, và công nghệ AI vừa đủ chín. (~60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nhóm mục tiêu: không chỉ làm sản phẩm chạy được mà còn phải đo lường được, tuân thủ pháp luật, và có phương pháp luận chứng minh được. Phạm vi tập trung mức sẵn sàng cho tenant thực tế dùng; các tính năng nâng cao thuộc hướng phát triển sau. (~60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bốn sản phẩm tham khảo phổ biến tại Việt Nam. Hầu hết là đơn tenant, không có AI tích hợp. KiteHub khai thác khoảng trống đa-tenant gốc kết hợp AI Branding ở mức giá tier thấp. Chi tiết bốn phương pháp sinh ảnh để ở phụ lục. (~70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Đóng góp thứ nhất: tự động hóa nhận diện thương hiệu. Quyết định không tự host AI là quyết định kiến trúc quan trọng, phù hợp quy mô và ngân sách. Pipeline gồm 6 bước, worker xử lý bất đồng bộ nên không chặn giao diện; có quality gate lọc nội dung và cơ chế dự phòng provider khi bị giới hạn. (~80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được tích hợp ngay từ thiết kế. PDPL là mốc cứng tháng 7 năm 2026. Luật An ninh mạng có ngưỡng kích hoạt; hiện chưa chạm ngưỡng nhưng có lộ trình. Thông tư 78 về hóa đơn điện tử dùng đối tác chuyên trách. Mapping đầy đủ các điều luật PDPL ở phụ lục.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tổng thể chia hai mặt phẳng: KiteHub là control-plane quản lý vòng đời tenant, KiteClass là data-plane phục vụ nghiệp vụ giáo dục. Cả hai dùng chung một PostgreSQL với RLS cô lập theo tenant. Sơ đồ trực quan có trong bản deck đầy đủ. (~70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bốn mô hình cô lập. Chọn Row-Level Security vì chi phí thấp nhất và được chính database engine ép buộc — không phụ thuộc lập trình viên nhớ thêm điều kiện lọc. Đây là đóng góp thứ hai của đề tài. (~70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RLS cài đặt hai lớp: lớp database tạo policy, lớp ứng dụng set biến phiên qua HikariCP. Mỗi truy vấn Postgres tự động đánh giá policy nên ngay cả khi quên lọc cũng không rò dữ liệu chéo tenant. (~70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Nguyên tắc nhiều lớp độc lập. RLS là lớp cuối cùng: ngay cả khi lập trình viên quên kiểm tra ở tầng ứng dụng, Postgres vẫn ép buộc. Đây là khác biệt quan trọng so với cách chỉ lọc ở tầng ứng dụng.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lai: KiteHub tách 6 microservice vì vòng đời khác nhau (branding bất đồng bộ, email hàng đợi, subscription giao dịch). KiteClass là modular monolith vì domain giáo dục gắn kết chặt. Stack chọn theo bản LTS để giảm rủi ro nâng cấp. (~50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Đoạn code đại diện một trong các trích dẫn trong báo cáo. Mẫu thiết kế: xác thực JWT ở gateway, không lặp ở mỗi dịch vụ; tenant context truyền qua header để dịch vụ set biến phiên trước truy vấn. (~70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trên AWS Singapore. Lý do chọn: đăng ký ổn định, hệ sinh thái trưởng thành, Free Tier 12 tháng cho chi phí gần như 0. Hiện chưa vượt ngưỡng pháp lý, có lộ trình chuyển vùng rõ ràng khi cần. (~60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áp dụng chuẩn hiện đại: artifact bất biến, OIDC thay cho key tĩnh, xác nhận thủ công như một điểm dừng nhận thức. Giám sát ba lớp độc lập; CloudTrail bắt buộc bật trước khi tạo tài nguyên để có audit baseline. (~50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trụ cột phương pháp luận, có cơ sở lý thuyết Deming, Beck, Poppendieck, IEEE 730. Đặc biệt trụ cột thứ tư: mỗi sai sót trở thành một quy tắc có cơ chế kiểm tra, không chỉ ghi chú lần sau cẩn thận hơn. (~50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chỉ số chính: hiệu năng 86, bảo mật 93, chất lượng 90 trên 110, đều vượt ngưỡng đạt. Quan trọng: mỗi điểm số có audit report với evidence block làm chứng cứ, và trajectory cho thấy cải tiến liên tục có thể đo được. (~80 giây)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khách tham quan trang công khai, đăng ký onboarding, wizard tạo tenant, chứng minh cô lập đa-tenant bằng hai tài khoản khác tenant, xem audit log. Nếu sự cố sẽ dùng video dự phòng.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trung thực kèm lộ trình là cách tiếp cận tốt hơn che giấu rồi bị hội đồng phát hiện. Mỗi hạn chế đều có hướng phát triển tương ứng: nâng cấp hạ tầng, chuyển vùng dữ liệu,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ba đóng góp: kỹ thuật AI Branding, kiến trúc đa-tenant RLS, và phương pháp luận hướng chất lượng. Sản phẩm đã triển khai thực tế và đạt các ngưỡng đánh giá. Cảm ơn GVHD và hội đồng, em sẵn sàng nhận câu hỏi. (~40 giây)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slide phụ lục bật khi hội đồng hỏi sâu, theo 4 nhóm: Kiến trúc / Phi chức năng / Nghiệp vụ-Pháp lý / Quy trình.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Chọn Stable Diffusion XL vì cân bằng chi phí, chất lượng, độ trễ. DALL-E 3 đắt gấp khoảng 30 lần, không phù hợp tier thấp.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điều luật cốt lõi mapping 1-1 sang tính năng. Điều 11 audit log bất biến là yêu cầu khó nhất, giải bằng bảng không cho sửa/xóa ở cấp database.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luồng không có điều kiện lọc tenant viết tay ở repository — database tự ép buộc.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phí hạ tầng gần như 0 nhờ Free Tier; chi phí chính là AI Branding khoảng 0,19 USD mỗi lần onboard tenant. Số liệu chính xác tổng hợp khi có dữ liệu vận hành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persona chính P1-P2-P3 là trọng tâm hiện tại; phụ huynh và học viên hỗ trợ qua giao diện riêng, thuộc hướng phát triển sau.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Lộ trình mời tenant thực tế nhằm đạt mục tiêu: ít nhất 4 trung tâm ký xác nhận đã sử dụng thực tế — khác biệt giữa thesis demo trên máy và thesis có người dùng thật xác nhận.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200" b="1">
                <a:solidFill>
                  <a:srgbClr val="1F497D"/>
                </a:solidFill>
              </a:rPr>
              <a:t>Xây dựng hệ thống SaaS cung cấp dịch vụ đào tạo</a:t>
            </a:r>
          </a:p>
        </p:txBody>
      </p:sp>
      <p:sp>
        <p:nvSpPr>
          <p:cNvPr id="3" name="Subtitle 2"/>
          <p:cNvSpPr>
            <a:spLocks noGrp="1"/>
          </p:cNvSpPr>
          <p:nvPr>
            <p:ph type="subTitle" idx="1"/>
          </p:nvPr>
        </p:nvSpPr>
        <p:spPr/>
        <p:txBody>
          <a:bodyPr/>
          <a:lstStyle/>
          <a:p>
            <a:r>
              <a:rPr sz="1600">
                <a:solidFill>
                  <a:srgbClr val="333333"/>
                </a:solidFill>
              </a:rPr>
              <a:t>Nền tảng KiteHub &amp; KiteClass — kiến trúc đa-tenant tích hợp AI</a:t>
            </a:r>
          </a:p>
          <a:p/>
          <a:p>
            <a:r>
              <a:rPr sz="1600">
                <a:solidFill>
                  <a:srgbClr val="333333"/>
                </a:solidFill>
              </a:rPr>
              <a:t>Sinh viên: Nguyễn Văn Kiệt — MSSV 221230890 — Lớp CNTT1-K63</a:t>
            </a:r>
          </a:p>
          <a:p>
            <a:r>
              <a:rPr sz="1600">
                <a:solidFill>
                  <a:srgbClr val="333333"/>
                </a:solidFill>
              </a:rPr>
              <a:t>Giảng viên hướng dẫn: TS. Nguyễn Đức Dư</a:t>
            </a:r>
          </a:p>
          <a:p>
            <a:r>
              <a:rPr sz="1600">
                <a:solidFill>
                  <a:srgbClr val="333333"/>
                </a:solidFill>
              </a:rPr>
              <a:t>Bộ môn Công nghệ phần mềm — Khoa Công nghệ thông tin</a:t>
            </a:r>
          </a:p>
          <a:p>
            <a:r>
              <a:rPr sz="1600">
                <a:solidFill>
                  <a:srgbClr val="333333"/>
                </a:solidFill>
              </a:rPr>
              <a:t>Trường Đại học Giao thông Vận tải — Hà Nội,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Nội dung trình bày</a:t>
            </a:r>
          </a:p>
        </p:txBody>
      </p:sp>
      <p:sp>
        <p:nvSpPr>
          <p:cNvPr id="3" name="TextBox 2"/>
          <p:cNvSpPr txBox="1"/>
          <p:nvPr/>
        </p:nvSpPr>
        <p:spPr>
          <a:xfrm>
            <a:off x="640080" y="1828800"/>
            <a:ext cx="10881360" cy="4754880"/>
          </a:xfrm>
          <a:prstGeom prst="rect">
            <a:avLst/>
          </a:prstGeom>
          <a:noFill/>
        </p:spPr>
        <p:txBody>
          <a:bodyPr wrap="square">
            <a:spAutoFit/>
          </a:bodyPr>
          <a:lstStyle/>
          <a:p>
            <a:pPr>
              <a:spcAft>
                <a:spcPts val="600"/>
              </a:spcAft>
            </a:pPr>
            <a:r>
              <a:rPr sz="2200" b="1">
                <a:solidFill>
                  <a:srgbClr val="1F497D"/>
                </a:solidFill>
              </a:rPr>
              <a:t>• Phần 1 — Bối cảnh, vấn đề và mục tiêu đề tài</a:t>
            </a:r>
          </a:p>
          <a:p>
            <a:pPr>
              <a:spcAft>
                <a:spcPts val="600"/>
              </a:spcAft>
            </a:pPr>
            <a:r>
              <a:rPr sz="2200" b="1">
                <a:solidFill>
                  <a:srgbClr val="1F497D"/>
                </a:solidFill>
              </a:rPr>
              <a:t>• Phần 2 — Khảo sát thị trường và kỹ thuật AI tích hợp</a:t>
            </a:r>
          </a:p>
          <a:p>
            <a:pPr>
              <a:spcAft>
                <a:spcPts val="600"/>
              </a:spcAft>
            </a:pPr>
            <a:r>
              <a:rPr sz="2200" b="1">
                <a:solidFill>
                  <a:srgbClr val="1F497D"/>
                </a:solidFill>
              </a:rPr>
              <a:t>• Phần 3 — Phân tích, thiết kế kiến trúc đa-tenant</a:t>
            </a:r>
          </a:p>
          <a:p>
            <a:pPr>
              <a:spcAft>
                <a:spcPts val="600"/>
              </a:spcAft>
            </a:pPr>
            <a:r>
              <a:rPr sz="2200" b="1">
                <a:solidFill>
                  <a:srgbClr val="1F497D"/>
                </a:solidFill>
              </a:rPr>
              <a:t>• Phần 4 — Cài đặt, triển khai và kết quả đánh giá</a:t>
            </a:r>
          </a:p>
          <a:p>
            <a:pPr>
              <a:spcAft>
                <a:spcPts val="600"/>
              </a:spcAft>
            </a:pPr>
            <a:r>
              <a:rPr sz="2200" b="1">
                <a:solidFill>
                  <a:srgbClr val="1F497D"/>
                </a:solidFill>
              </a:rPr>
              <a:t>• Phần 5 — Demo trực tiếp, hạn chế và kết luận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Bối cảnh và vấn đề thực tế</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700" b="0">
                <a:solidFill>
                  <a:srgbClr val="222222"/>
                </a:solidFill>
              </a:rPr>
              <a:t>• Thông tư 29/2024/TT-BGDĐT chính thức hóa hoạt động dạy thêm có thu phí</a:t>
            </a:r>
          </a:p>
          <a:p>
            <a:pPr>
              <a:spcAft>
                <a:spcPts val="600"/>
              </a:spcAft>
            </a:pPr>
            <a:r>
              <a:rPr sz="1700" b="0">
                <a:solidFill>
                  <a:srgbClr val="222222"/>
                </a:solidFill>
              </a:rPr>
              <a:t>• Ước tính hơn 50.000 trung tâm dạy thêm tư nhân đang hoạt động tại Việt Nam</a:t>
            </a:r>
          </a:p>
          <a:p>
            <a:pPr>
              <a:spcAft>
                <a:spcPts val="600"/>
              </a:spcAft>
            </a:pPr>
            <a:r>
              <a:rPr sz="1700" b="0">
                <a:solidFill>
                  <a:srgbClr val="222222"/>
                </a:solidFill>
              </a:rPr>
              <a:t>• Phần lớn trung tâm vừa và nhỏ vẫn quản lý bằng Excel và nhóm Zalo</a:t>
            </a:r>
          </a:p>
          <a:p>
            <a:pPr>
              <a:spcAft>
                <a:spcPts val="600"/>
              </a:spcAft>
            </a:pPr>
            <a:r>
              <a:rPr sz="1700" b="1">
                <a:solidFill>
                  <a:srgbClr val="1F497D"/>
                </a:solidFill>
              </a:rPr>
              <a:t>• Ba quan sát thúc đẩy đề tài:</a:t>
            </a:r>
          </a:p>
          <a:p>
            <a:pPr lvl="1">
              <a:spcAft>
                <a:spcPts val="600"/>
              </a:spcAft>
            </a:pPr>
            <a:r>
              <a:rPr sz="1500" b="0">
                <a:solidFill>
                  <a:srgbClr val="222222"/>
                </a:solidFill>
              </a:rPr>
              <a:t>– Khoảng trống thị trường: trung tâm 100–2000 học viên cần phần mềm 500k–1,5tr đồng/tháng, tiếng Việt, đa-tenant gốc</a:t>
            </a:r>
          </a:p>
          <a:p>
            <a:pPr lvl="1">
              <a:spcAft>
                <a:spcPts val="600"/>
              </a:spcAft>
            </a:pPr>
            <a:r>
              <a:rPr sz="1500" b="0">
                <a:solidFill>
                  <a:srgbClr val="222222"/>
                </a:solidFill>
              </a:rPr>
              <a:t>– Mốc pháp lý: Luật Bảo vệ dữ liệu cá nhân 2023 hiệu lực 07/2026 — cơ hội tích hợp tuân thủ ngay từ thiết kế</a:t>
            </a:r>
          </a:p>
          <a:p>
            <a:pPr lvl="1">
              <a:spcAft>
                <a:spcPts val="600"/>
              </a:spcAft>
            </a:pPr>
            <a:r>
              <a:rPr sz="1500" b="0">
                <a:solidFill>
                  <a:srgbClr val="222222"/>
                </a:solidFill>
              </a:rPr>
              <a:t>– Công nghệ AI trưởng thành: API thương mại lần đầu cho phép tự động hóa nhận diện thương hiệu ở chi phí thấp</a:t>
            </a:r>
          </a:p>
        </p:txBody>
      </p:sp>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Nguồn: Magenest EdTech 2024; 6Wresearch Vietnam EdTech 2024–2030; VECITA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Mục tiêu và phạm vi đề tài</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600" b="1">
                <a:solidFill>
                  <a:srgbClr val="1F497D"/>
                </a:solidFill>
              </a:rPr>
              <a:t>• Bốn nhóm mục tiêu:</a:t>
            </a:r>
          </a:p>
          <a:p>
            <a:pPr lvl="1">
              <a:spcAft>
                <a:spcPts val="600"/>
              </a:spcAft>
            </a:pPr>
            <a:r>
              <a:rPr sz="1400" b="0">
                <a:solidFill>
                  <a:srgbClr val="222222"/>
                </a:solidFill>
              </a:rPr>
              <a:t>– Chức năng: onboarding wizard, AI Branding, vòng đời tenant, tuân thủ tích hợp sẵn</a:t>
            </a:r>
          </a:p>
          <a:p>
            <a:pPr lvl="1">
              <a:spcAft>
                <a:spcPts val="600"/>
              </a:spcAft>
            </a:pPr>
            <a:r>
              <a:rPr sz="1400" b="0">
                <a:solidFill>
                  <a:srgbClr val="222222"/>
                </a:solidFill>
              </a:rPr>
              <a:t>– Phi chức năng: p95 ≤ 500ms (API đọc), cô lập cấp database, baseline OWASP Top 10, ≥100 tenant/instance</a:t>
            </a:r>
          </a:p>
          <a:p>
            <a:pPr lvl="1">
              <a:spcAft>
                <a:spcPts val="600"/>
              </a:spcAft>
            </a:pPr>
            <a:r>
              <a:rPr sz="1400" b="0">
                <a:solidFill>
                  <a:srgbClr val="222222"/>
                </a:solidFill>
              </a:rPr>
              <a:t>– Pháp lý: PDPL 2023 + Luật An ninh mạng 2018 + Thông tư 78/2021/TT-BTC</a:t>
            </a:r>
          </a:p>
          <a:p>
            <a:pPr lvl="1">
              <a:spcAft>
                <a:spcPts val="600"/>
              </a:spcAft>
            </a:pPr>
            <a:r>
              <a:rPr sz="1400" b="0">
                <a:solidFill>
                  <a:srgbClr val="222222"/>
                </a:solidFill>
              </a:rPr>
              <a:t>– Phương pháp luận: phát triển hướng chất lượng — kiểm thử trước, vòng lặp ngắn 1–3 ngày</a:t>
            </a:r>
          </a:p>
          <a:p>
            <a:pPr>
              <a:spcAft>
                <a:spcPts val="600"/>
              </a:spcAft>
            </a:pPr>
            <a:r>
              <a:rPr sz="1600" b="1">
                <a:solidFill>
                  <a:srgbClr val="1F497D"/>
                </a:solidFill>
              </a:rPr>
              <a:t>• Phạm vi thực hiện: wizard tự phục vụ, AI Branding, cô lập RLS, tuân thủ pháp lý, triển khai AWS thực tế</a:t>
            </a:r>
          </a:p>
          <a:p>
            <a:pPr>
              <a:spcAft>
                <a:spcPts val="600"/>
              </a:spcAft>
            </a:pPr>
            <a:r>
              <a:rPr sz="1600" b="1">
                <a:solidFill>
                  <a:srgbClr val="606060"/>
                </a:solidFill>
              </a:rPr>
              <a:t>• Phát triển sau: thanh toán đa cổng, hóa đơn điện tử end-to-end, ứng dụng di động, mở rộng khối K-12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Khảo sát hệ thống tương tự và yếu tố khác biệt</a:t>
            </a:r>
          </a:p>
        </p:txBody>
      </p:sp>
      <p:graphicFrame>
        <p:nvGraphicFramePr>
          <p:cNvPr id="3" name="Table 2"/>
          <p:cNvGraphicFramePr>
            <a:graphicFrameLocks noGrp="1"/>
          </p:cNvGraphicFramePr>
          <p:nvPr/>
        </p:nvGraphicFramePr>
        <p:xfrm>
          <a:off x="548640" y="1554480"/>
          <a:ext cx="11064240" cy="2194560"/>
        </p:xfrm>
        <a:graphic>
          <a:graphicData uri="http://schemas.openxmlformats.org/drawingml/2006/table">
            <a:tbl>
              <a:tblPr firstRow="1" bandRow="1">
                <a:tableStyleId>{5C22544A-7EE6-4342-B048-85BDC9FD1C3A}</a:tableStyleId>
              </a:tblPr>
              <a:tblGrid>
                <a:gridCol w="2103120"/>
                <a:gridCol w="2377440"/>
                <a:gridCol w="2103120"/>
                <a:gridCol w="2194560"/>
                <a:gridCol w="2286000"/>
              </a:tblGrid>
              <a:tr h="365760">
                <a:tc>
                  <a:txBody>
                    <a:bodyPr/>
                    <a:lstStyle/>
                    <a:p>
                      <a:r>
                        <a:rPr sz="1200" b="1">
                          <a:solidFill>
                            <a:srgbClr val="FFFFFF"/>
                          </a:solidFill>
                        </a:rPr>
                        <a:t>Sản phẩm</a:t>
                      </a:r>
                    </a:p>
                  </a:txBody>
                  <a:tcPr marL="54864" marR="54864" marT="18288" marB="18288" anchor="ctr">
                    <a:solidFill>
                      <a:srgbClr val="1F497D"/>
                    </a:solidFill>
                  </a:tcPr>
                </a:tc>
                <a:tc>
                  <a:txBody>
                    <a:bodyPr/>
                    <a:lstStyle/>
                    <a:p>
                      <a:r>
                        <a:rPr sz="1200" b="1">
                          <a:solidFill>
                            <a:srgbClr val="FFFFFF"/>
                          </a:solidFill>
                        </a:rPr>
                        <a:t>Phân khúc</a:t>
                      </a:r>
                    </a:p>
                  </a:txBody>
                  <a:tcPr marL="54864" marR="54864" marT="18288" marB="18288" anchor="ctr">
                    <a:solidFill>
                      <a:srgbClr val="1F497D"/>
                    </a:solidFill>
                  </a:tcPr>
                </a:tc>
                <a:tc>
                  <a:txBody>
                    <a:bodyPr/>
                    <a:lstStyle/>
                    <a:p>
                      <a:r>
                        <a:rPr sz="1200" b="1">
                          <a:solidFill>
                            <a:srgbClr val="FFFFFF"/>
                          </a:solidFill>
                        </a:rPr>
                        <a:t>Giá tham khảo</a:t>
                      </a:r>
                    </a:p>
                  </a:txBody>
                  <a:tcPr marL="54864" marR="54864" marT="18288" marB="18288" anchor="ctr">
                    <a:solidFill>
                      <a:srgbClr val="1F497D"/>
                    </a:solidFill>
                  </a:tcPr>
                </a:tc>
                <a:tc>
                  <a:txBody>
                    <a:bodyPr/>
                    <a:lstStyle/>
                    <a:p>
                      <a:r>
                        <a:rPr sz="1200" b="1">
                          <a:solidFill>
                            <a:srgbClr val="FFFFFF"/>
                          </a:solidFill>
                        </a:rPr>
                        <a:t>Đa-tenant</a:t>
                      </a:r>
                    </a:p>
                  </a:txBody>
                  <a:tcPr marL="54864" marR="54864" marT="18288" marB="18288" anchor="ctr">
                    <a:solidFill>
                      <a:srgbClr val="1F497D"/>
                    </a:solidFill>
                  </a:tcPr>
                </a:tc>
                <a:tc>
                  <a:txBody>
                    <a:bodyPr/>
                    <a:lstStyle/>
                    <a:p>
                      <a:r>
                        <a:rPr sz="1200" b="1">
                          <a:solidFill>
                            <a:srgbClr val="FFFFFF"/>
                          </a:solidFill>
                        </a:rPr>
                        <a:t>AI tích hợp</a:t>
                      </a:r>
                    </a:p>
                  </a:txBody>
                  <a:tcPr marL="54864" marR="54864" marT="18288" marB="18288" anchor="ctr">
                    <a:solidFill>
                      <a:srgbClr val="1F497D"/>
                    </a:solidFill>
                  </a:tcPr>
                </a:tc>
              </a:tr>
              <a:tr h="365760">
                <a:tc>
                  <a:txBody>
                    <a:bodyPr/>
                    <a:lstStyle/>
                    <a:p>
                      <a:r>
                        <a:rPr sz="1200"/>
                        <a:t>BeeClass</a:t>
                      </a:r>
                    </a:p>
                  </a:txBody>
                  <a:tcPr marL="54864" marR="54864" marT="18288" marB="18288" anchor="ctr">
                    <a:solidFill>
                      <a:srgbClr val="FFFFFF"/>
                    </a:solidFill>
                  </a:tcPr>
                </a:tc>
                <a:tc>
                  <a:txBody>
                    <a:bodyPr/>
                    <a:lstStyle/>
                    <a:p>
                      <a:r>
                        <a:rPr sz="1200"/>
                        <a:t>Trung tâm tiếng Anh</a:t>
                      </a:r>
                    </a:p>
                  </a:txBody>
                  <a:tcPr marL="54864" marR="54864" marT="18288" marB="18288" anchor="ctr">
                    <a:solidFill>
                      <a:srgbClr val="FFFFFF"/>
                    </a:solidFill>
                  </a:tcPr>
                </a:tc>
                <a:tc>
                  <a:txBody>
                    <a:bodyPr/>
                    <a:lstStyle/>
                    <a:p>
                      <a:r>
                        <a:rPr sz="1200"/>
                        <a:t>1–3 tr/tháng</a:t>
                      </a:r>
                    </a:p>
                  </a:txBody>
                  <a:tcPr marL="54864" marR="54864" marT="18288" marB="18288" anchor="ctr">
                    <a:solidFill>
                      <a:srgbClr val="FFFFFF"/>
                    </a:solidFill>
                  </a:tcPr>
                </a:tc>
                <a:tc>
                  <a:txBody>
                    <a:bodyPr/>
                    <a:lstStyle/>
                    <a:p>
                      <a:r>
                        <a:rPr sz="1200"/>
                        <a:t>Đơn tenant</a:t>
                      </a:r>
                    </a:p>
                  </a:txBody>
                  <a:tcPr marL="54864" marR="54864" marT="18288" marB="18288" anchor="ctr">
                    <a:solidFill>
                      <a:srgbClr val="FFFFFF"/>
                    </a:solidFill>
                  </a:tcPr>
                </a:tc>
                <a:tc>
                  <a:txBody>
                    <a:bodyPr/>
                    <a:lstStyle/>
                    <a:p>
                      <a:r>
                        <a:rPr sz="1200"/>
                        <a:t>Không</a:t>
                      </a:r>
                    </a:p>
                  </a:txBody>
                  <a:tcPr marL="54864" marR="54864" marT="18288" marB="18288" anchor="ctr">
                    <a:solidFill>
                      <a:srgbClr val="FFFFFF"/>
                    </a:solidFill>
                  </a:tcPr>
                </a:tc>
              </a:tr>
              <a:tr h="365760">
                <a:tc>
                  <a:txBody>
                    <a:bodyPr/>
                    <a:lstStyle/>
                    <a:p>
                      <a:r>
                        <a:rPr sz="1200"/>
                        <a:t>MISA AMIS Trường học</a:t>
                      </a:r>
                    </a:p>
                  </a:txBody>
                  <a:tcPr marL="54864" marR="54864" marT="18288" marB="18288" anchor="ctr">
                    <a:solidFill>
                      <a:srgbClr val="EEF3FA"/>
                    </a:solidFill>
                  </a:tcPr>
                </a:tc>
                <a:tc>
                  <a:txBody>
                    <a:bodyPr/>
                    <a:lstStyle/>
                    <a:p>
                      <a:r>
                        <a:rPr sz="1200"/>
                        <a:t>Trường công K-12</a:t>
                      </a:r>
                    </a:p>
                  </a:txBody>
                  <a:tcPr marL="54864" marR="54864" marT="18288" marB="18288" anchor="ctr">
                    <a:solidFill>
                      <a:srgbClr val="EEF3FA"/>
                    </a:solidFill>
                  </a:tcPr>
                </a:tc>
                <a:tc>
                  <a:txBody>
                    <a:bodyPr/>
                    <a:lstStyle/>
                    <a:p>
                      <a:r>
                        <a:rPr sz="1200"/>
                        <a:t>2–5 tr + setup</a:t>
                      </a:r>
                    </a:p>
                  </a:txBody>
                  <a:tcPr marL="54864" marR="54864" marT="18288" marB="18288" anchor="ctr">
                    <a:solidFill>
                      <a:srgbClr val="EEF3FA"/>
                    </a:solidFill>
                  </a:tcPr>
                </a:tc>
                <a:tc>
                  <a:txBody>
                    <a:bodyPr/>
                    <a:lstStyle/>
                    <a:p>
                      <a:r>
                        <a:rPr sz="1200"/>
                        <a:t>Đơn tenant</a:t>
                      </a:r>
                    </a:p>
                  </a:txBody>
                  <a:tcPr marL="54864" marR="54864" marT="18288" marB="18288" anchor="ctr">
                    <a:solidFill>
                      <a:srgbClr val="EEF3FA"/>
                    </a:solidFill>
                  </a:tcPr>
                </a:tc>
                <a:tc>
                  <a:txBody>
                    <a:bodyPr/>
                    <a:lstStyle/>
                    <a:p>
                      <a:r>
                        <a:rPr sz="1200"/>
                        <a:t>Không</a:t>
                      </a:r>
                    </a:p>
                  </a:txBody>
                  <a:tcPr marL="54864" marR="54864" marT="18288" marB="18288" anchor="ctr">
                    <a:solidFill>
                      <a:srgbClr val="EEF3FA"/>
                    </a:solidFill>
                  </a:tcPr>
                </a:tc>
              </a:tr>
              <a:tr h="365760">
                <a:tc>
                  <a:txBody>
                    <a:bodyPr/>
                    <a:lstStyle/>
                    <a:p>
                      <a:r>
                        <a:rPr sz="1200"/>
                        <a:t>Mona eLMS</a:t>
                      </a:r>
                    </a:p>
                  </a:txBody>
                  <a:tcPr marL="54864" marR="54864" marT="18288" marB="18288" anchor="ctr">
                    <a:solidFill>
                      <a:srgbClr val="FFFFFF"/>
                    </a:solidFill>
                  </a:tcPr>
                </a:tc>
                <a:tc>
                  <a:txBody>
                    <a:bodyPr/>
                    <a:lstStyle/>
                    <a:p>
                      <a:r>
                        <a:rPr sz="1200"/>
                        <a:t>Ngoại ngữ, tin học</a:t>
                      </a:r>
                    </a:p>
                  </a:txBody>
                  <a:tcPr marL="54864" marR="54864" marT="18288" marB="18288" anchor="ctr">
                    <a:solidFill>
                      <a:srgbClr val="FFFFFF"/>
                    </a:solidFill>
                  </a:tcPr>
                </a:tc>
                <a:tc>
                  <a:txBody>
                    <a:bodyPr/>
                    <a:lstStyle/>
                    <a:p>
                      <a:r>
                        <a:rPr sz="1200"/>
                        <a:t>1–2 tr/tháng</a:t>
                      </a:r>
                    </a:p>
                  </a:txBody>
                  <a:tcPr marL="54864" marR="54864" marT="18288" marB="18288" anchor="ctr">
                    <a:solidFill>
                      <a:srgbClr val="FFFFFF"/>
                    </a:solidFill>
                  </a:tcPr>
                </a:tc>
                <a:tc>
                  <a:txBody>
                    <a:bodyPr/>
                    <a:lstStyle/>
                    <a:p>
                      <a:r>
                        <a:rPr sz="1200"/>
                        <a:t>Đơn tenant</a:t>
                      </a:r>
                    </a:p>
                  </a:txBody>
                  <a:tcPr marL="54864" marR="54864" marT="18288" marB="18288" anchor="ctr">
                    <a:solidFill>
                      <a:srgbClr val="FFFFFF"/>
                    </a:solidFill>
                  </a:tcPr>
                </a:tc>
                <a:tc>
                  <a:txBody>
                    <a:bodyPr/>
                    <a:lstStyle/>
                    <a:p>
                      <a:r>
                        <a:rPr sz="1200"/>
                        <a:t>Không</a:t>
                      </a:r>
                    </a:p>
                  </a:txBody>
                  <a:tcPr marL="54864" marR="54864" marT="18288" marB="18288" anchor="ctr">
                    <a:solidFill>
                      <a:srgbClr val="FFFFFF"/>
                    </a:solidFill>
                  </a:tcPr>
                </a:tc>
              </a:tr>
              <a:tr h="365760">
                <a:tc>
                  <a:txBody>
                    <a:bodyPr/>
                    <a:lstStyle/>
                    <a:p>
                      <a:r>
                        <a:rPr sz="1200"/>
                        <a:t>Easy Edu</a:t>
                      </a:r>
                    </a:p>
                  </a:txBody>
                  <a:tcPr marL="54864" marR="54864" marT="18288" marB="18288" anchor="ctr">
                    <a:solidFill>
                      <a:srgbClr val="EEF3FA"/>
                    </a:solidFill>
                  </a:tcPr>
                </a:tc>
                <a:tc>
                  <a:txBody>
                    <a:bodyPr/>
                    <a:lstStyle/>
                    <a:p>
                      <a:r>
                        <a:rPr sz="1200"/>
                        <a:t>Trung tâm K-12, kỹ năng</a:t>
                      </a:r>
                    </a:p>
                  </a:txBody>
                  <a:tcPr marL="54864" marR="54864" marT="18288" marB="18288" anchor="ctr">
                    <a:solidFill>
                      <a:srgbClr val="EEF3FA"/>
                    </a:solidFill>
                  </a:tcPr>
                </a:tc>
                <a:tc>
                  <a:txBody>
                    <a:bodyPr/>
                    <a:lstStyle/>
                    <a:p>
                      <a:r>
                        <a:rPr sz="1200"/>
                        <a:t>0,8–2 tr/tháng</a:t>
                      </a:r>
                    </a:p>
                  </a:txBody>
                  <a:tcPr marL="54864" marR="54864" marT="18288" marB="18288" anchor="ctr">
                    <a:solidFill>
                      <a:srgbClr val="EEF3FA"/>
                    </a:solidFill>
                  </a:tcPr>
                </a:tc>
                <a:tc>
                  <a:txBody>
                    <a:bodyPr/>
                    <a:lstStyle/>
                    <a:p>
                      <a:r>
                        <a:rPr sz="1200"/>
                        <a:t>Đơn tenant</a:t>
                      </a:r>
                    </a:p>
                  </a:txBody>
                  <a:tcPr marL="54864" marR="54864" marT="18288" marB="18288" anchor="ctr">
                    <a:solidFill>
                      <a:srgbClr val="EEF3FA"/>
                    </a:solidFill>
                  </a:tcPr>
                </a:tc>
                <a:tc>
                  <a:txBody>
                    <a:bodyPr/>
                    <a:lstStyle/>
                    <a:p>
                      <a:r>
                        <a:rPr sz="1200"/>
                        <a:t>Không</a:t>
                      </a:r>
                    </a:p>
                  </a:txBody>
                  <a:tcPr marL="54864" marR="54864" marT="18288" marB="18288" anchor="ctr">
                    <a:solidFill>
                      <a:srgbClr val="EEF3FA"/>
                    </a:solidFill>
                  </a:tcPr>
                </a:tc>
              </a:tr>
              <a:tr h="365760">
                <a:tc>
                  <a:txBody>
                    <a:bodyPr/>
                    <a:lstStyle/>
                    <a:p>
                      <a:r>
                        <a:rPr sz="1200"/>
                        <a:t>KiteHub (đề tài)</a:t>
                      </a:r>
                    </a:p>
                  </a:txBody>
                  <a:tcPr marL="54864" marR="54864" marT="18288" marB="18288" anchor="ctr">
                    <a:solidFill>
                      <a:srgbClr val="FFFFFF"/>
                    </a:solidFill>
                  </a:tcPr>
                </a:tc>
                <a:tc>
                  <a:txBody>
                    <a:bodyPr/>
                    <a:lstStyle/>
                    <a:p>
                      <a:r>
                        <a:rPr sz="1200"/>
                        <a:t>Vừa &amp; nhỏ 100–2000 HV</a:t>
                      </a:r>
                    </a:p>
                  </a:txBody>
                  <a:tcPr marL="54864" marR="54864" marT="18288" marB="18288" anchor="ctr">
                    <a:solidFill>
                      <a:srgbClr val="FFFFFF"/>
                    </a:solidFill>
                  </a:tcPr>
                </a:tc>
                <a:tc>
                  <a:txBody>
                    <a:bodyPr/>
                    <a:lstStyle/>
                    <a:p>
                      <a:r>
                        <a:rPr sz="1200"/>
                        <a:t>0,5–1,5 tr/tháng</a:t>
                      </a:r>
                    </a:p>
                  </a:txBody>
                  <a:tcPr marL="54864" marR="54864" marT="18288" marB="18288" anchor="ctr">
                    <a:solidFill>
                      <a:srgbClr val="FFFFFF"/>
                    </a:solidFill>
                  </a:tcPr>
                </a:tc>
                <a:tc>
                  <a:txBody>
                    <a:bodyPr/>
                    <a:lstStyle/>
                    <a:p>
                      <a:r>
                        <a:rPr sz="1200"/>
                        <a:t>Đa-tenant RLS gốc</a:t>
                      </a:r>
                    </a:p>
                  </a:txBody>
                  <a:tcPr marL="54864" marR="54864" marT="18288" marB="18288" anchor="ctr">
                    <a:solidFill>
                      <a:srgbClr val="FFFFFF"/>
                    </a:solidFill>
                  </a:tcPr>
                </a:tc>
                <a:tc>
                  <a:txBody>
                    <a:bodyPr/>
                    <a:lstStyle/>
                    <a:p>
                      <a:r>
                        <a:rPr sz="1200"/>
                        <a:t>AI Branding</a:t>
                      </a:r>
                    </a:p>
                  </a:txBody>
                  <a:tcPr marL="54864" marR="54864" marT="18288" marB="18288" anchor="ctr">
                    <a:solidFill>
                      <a:srgbClr val="FFFFFF"/>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Khoảng trống: trung tâm 100–2000 học viên cần đa-tenant gốc + AI tích hợp ở mức giá phải chăng.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Đóng góp 1 — Kỹ thuật AI Branding tự động</a:t>
            </a:r>
          </a:p>
        </p:txBody>
      </p:sp>
      <p:sp>
        <p:nvSpPr>
          <p:cNvPr id="3" name="TextBox 2"/>
          <p:cNvSpPr txBox="1"/>
          <p:nvPr/>
        </p:nvSpPr>
        <p:spPr>
          <a:xfrm>
            <a:off x="640080" y="1417320"/>
            <a:ext cx="10881360" cy="4754880"/>
          </a:xfrm>
          <a:prstGeom prst="rect">
            <a:avLst/>
          </a:prstGeom>
          <a:noFill/>
        </p:spPr>
        <p:txBody>
          <a:bodyPr wrap="square">
            <a:spAutoFit/>
          </a:bodyPr>
          <a:lstStyle/>
          <a:p>
            <a:pPr>
              <a:spcAft>
                <a:spcPts val="600"/>
              </a:spcAft>
            </a:pPr>
            <a:r>
              <a:rPr sz="1500" b="0">
                <a:solidFill>
                  <a:srgbClr val="222222"/>
                </a:solidFill>
              </a:rPr>
              <a:t>• Bài toán: sinh bộ nhận diện thương hiệu (logo, ảnh bìa, banner) tự động khi tenant đăng ký</a:t>
            </a:r>
          </a:p>
          <a:p>
            <a:pPr>
              <a:spcAft>
                <a:spcPts val="600"/>
              </a:spcAft>
            </a:pPr>
            <a:r>
              <a:rPr sz="1500" b="0">
                <a:solidFill>
                  <a:srgbClr val="222222"/>
                </a:solidFill>
              </a:rPr>
              <a:t>• Quyết định kiến trúc: dùng API thương mại (Stable Diffusion XL qua Replicate) thay vì tự host GPU</a:t>
            </a:r>
          </a:p>
          <a:p>
            <a:pPr lvl="1">
              <a:spcAft>
                <a:spcPts val="600"/>
              </a:spcAft>
            </a:pPr>
            <a:r>
              <a:rPr sz="1300" b="0">
                <a:solidFill>
                  <a:srgbClr val="222222"/>
                </a:solidFill>
              </a:rPr>
              <a:t>– Lý do: chi phí GPU tự host 500–1000 USD/tháng; mô hình SOTA thay đổi mỗi 3–6 tháng</a:t>
            </a:r>
          </a:p>
          <a:p>
            <a:pPr>
              <a:spcAft>
                <a:spcPts val="600"/>
              </a:spcAft>
            </a:pPr>
            <a:r>
              <a:rPr sz="1500" b="1">
                <a:solidFill>
                  <a:srgbClr val="1F497D"/>
                </a:solidFill>
              </a:rPr>
              <a:t>• Pipeline 6 bước (bất đồng bộ, không chặn giao diện):</a:t>
            </a:r>
          </a:p>
          <a:p>
            <a:pPr lvl="1">
              <a:spcAft>
                <a:spcPts val="600"/>
              </a:spcAft>
            </a:pPr>
            <a:r>
              <a:rPr sz="1300" b="0">
                <a:solidFill>
                  <a:srgbClr val="222222"/>
                </a:solidFill>
              </a:rPr>
              <a:t>– Form chủ trung tâm → Gateway (xác thực) → Branding orchestrator → Hàng đợi RabbitMQ</a:t>
            </a:r>
          </a:p>
          <a:p>
            <a:pPr lvl="1">
              <a:spcAft>
                <a:spcPts val="600"/>
              </a:spcAft>
            </a:pPr>
            <a:r>
              <a:rPr sz="1300" b="0">
                <a:solidFill>
                  <a:srgbClr val="222222"/>
                </a:solidFill>
              </a:rPr>
              <a:t>– Worker xử lý async → AI provider (Replicate; dự phòng Hugging Face) → Quality Gate (lọc NSFW + brand-fit)</a:t>
            </a:r>
          </a:p>
          <a:p>
            <a:pPr lvl="1">
              <a:spcAft>
                <a:spcPts val="600"/>
              </a:spcAft>
            </a:pPr>
            <a:r>
              <a:rPr sz="1300" b="0">
                <a:solidFill>
                  <a:srgbClr val="222222"/>
                </a:solidFill>
              </a:rPr>
              <a:t>– Đạt → lưu MinIO/S3 theo tenant + thông báo chủ trung tâm; Không đạt → retry tối đa 3 lần</a:t>
            </a:r>
          </a:p>
          <a:p>
            <a:pPr>
              <a:spcAft>
                <a:spcPts val="600"/>
              </a:spcAft>
            </a:pPr>
            <a:r>
              <a:rPr sz="1500" b="1">
                <a:solidFill>
                  <a:srgbClr val="16A34A"/>
                </a:solidFill>
              </a:rPr>
              <a:t>• Chi phí ~0,0036 USD cho 3 ảnh; thời gian sinh 30–60 giây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Tuân thủ pháp luật Việt Nam — 3 trụ cột</a:t>
            </a:r>
          </a:p>
        </p:txBody>
      </p:sp>
      <p:graphicFrame>
        <p:nvGraphicFramePr>
          <p:cNvPr id="3" name="Table 2"/>
          <p:cNvGraphicFramePr>
            <a:graphicFrameLocks noGrp="1"/>
          </p:cNvGraphicFramePr>
          <p:nvPr/>
        </p:nvGraphicFramePr>
        <p:xfrm>
          <a:off x="548640" y="1645920"/>
          <a:ext cx="11064240" cy="1463040"/>
        </p:xfrm>
        <a:graphic>
          <a:graphicData uri="http://schemas.openxmlformats.org/drawingml/2006/table">
            <a:tbl>
              <a:tblPr firstRow="1" bandRow="1">
                <a:tableStyleId>{5C22544A-7EE6-4342-B048-85BDC9FD1C3A}</a:tableStyleId>
              </a:tblPr>
              <a:tblGrid>
                <a:gridCol w="2926080"/>
                <a:gridCol w="4206240"/>
                <a:gridCol w="3931920"/>
              </a:tblGrid>
              <a:tr h="365760">
                <a:tc>
                  <a:txBody>
                    <a:bodyPr/>
                    <a:lstStyle/>
                    <a:p>
                      <a:r>
                        <a:rPr sz="1200" b="1">
                          <a:solidFill>
                            <a:srgbClr val="FFFFFF"/>
                          </a:solidFill>
                        </a:rPr>
                        <a:t>Văn bản</a:t>
                      </a:r>
                    </a:p>
                  </a:txBody>
                  <a:tcPr marL="54864" marR="54864" marT="18288" marB="18288" anchor="ctr">
                    <a:solidFill>
                      <a:srgbClr val="1F497D"/>
                    </a:solidFill>
                  </a:tcPr>
                </a:tc>
                <a:tc>
                  <a:txBody>
                    <a:bodyPr/>
                    <a:lstStyle/>
                    <a:p>
                      <a:r>
                        <a:rPr sz="1200" b="1">
                          <a:solidFill>
                            <a:srgbClr val="FFFFFF"/>
                          </a:solidFill>
                        </a:rPr>
                        <a:t>Yêu cầu chính</a:t>
                      </a:r>
                    </a:p>
                  </a:txBody>
                  <a:tcPr marL="54864" marR="54864" marT="18288" marB="18288" anchor="ctr">
                    <a:solidFill>
                      <a:srgbClr val="1F497D"/>
                    </a:solidFill>
                  </a:tcPr>
                </a:tc>
                <a:tc>
                  <a:txBody>
                    <a:bodyPr/>
                    <a:lstStyle/>
                    <a:p>
                      <a:r>
                        <a:rPr sz="1200" b="1">
                          <a:solidFill>
                            <a:srgbClr val="FFFFFF"/>
                          </a:solidFill>
                        </a:rPr>
                        <a:t>Cách hiện thực</a:t>
                      </a:r>
                    </a:p>
                  </a:txBody>
                  <a:tcPr marL="54864" marR="54864" marT="18288" marB="18288" anchor="ctr">
                    <a:solidFill>
                      <a:srgbClr val="1F497D"/>
                    </a:solidFill>
                  </a:tcPr>
                </a:tc>
              </a:tr>
              <a:tr h="365760">
                <a:tc>
                  <a:txBody>
                    <a:bodyPr/>
                    <a:lstStyle/>
                    <a:p>
                      <a:r>
                        <a:rPr sz="1200"/>
                        <a:t>PDPL 2023</a:t>
                      </a:r>
                    </a:p>
                    <a:p>
                      <a:r>
                        <a:rPr sz="1200"/>
                        <a:t>(Luật 49/2023/QH15)</a:t>
                      </a:r>
                    </a:p>
                  </a:txBody>
                  <a:tcPr marL="54864" marR="54864" marT="18288" marB="18288" anchor="ctr">
                    <a:solidFill>
                      <a:srgbClr val="FFFFFF"/>
                    </a:solidFill>
                  </a:tcPr>
                </a:tc>
                <a:tc>
                  <a:txBody>
                    <a:bodyPr/>
                    <a:lstStyle/>
                    <a:p>
                      <a:r>
                        <a:rPr sz="1200"/>
                        <a:t>Consent cụ thể; quyền truy cập/xóa dữ liệu; DPO khi &gt;10k chủ thể; báo vi phạm 72h</a:t>
                      </a:r>
                    </a:p>
                  </a:txBody>
                  <a:tcPr marL="54864" marR="54864" marT="18288" marB="18288" anchor="ctr">
                    <a:solidFill>
                      <a:srgbClr val="FFFFFF"/>
                    </a:solidFill>
                  </a:tcPr>
                </a:tc>
                <a:tc>
                  <a:txBody>
                    <a:bodyPr/>
                    <a:lstStyle/>
                    <a:p>
                      <a:r>
                        <a:rPr sz="1200"/>
                        <a:t>Bảng consent_record; quy trình DSAR; audit log bất biến (V60)</a:t>
                      </a:r>
                    </a:p>
                  </a:txBody>
                  <a:tcPr marL="54864" marR="54864" marT="18288" marB="18288" anchor="ctr">
                    <a:solidFill>
                      <a:srgbClr val="FFFFFF"/>
                    </a:solidFill>
                  </a:tcPr>
                </a:tc>
              </a:tr>
              <a:tr h="365760">
                <a:tc>
                  <a:txBody>
                    <a:bodyPr/>
                    <a:lstStyle/>
                    <a:p>
                      <a:r>
                        <a:rPr sz="1200"/>
                        <a:t>Luật An ninh mạng 2018</a:t>
                      </a:r>
                    </a:p>
                    <a:p>
                      <a:r>
                        <a:rPr sz="1200"/>
                        <a:t>+ Nghị định 53/2022</a:t>
                      </a:r>
                    </a:p>
                  </a:txBody>
                  <a:tcPr marL="54864" marR="54864" marT="18288" marB="18288" anchor="ctr">
                    <a:solidFill>
                      <a:srgbClr val="EEF3FA"/>
                    </a:solidFill>
                  </a:tcPr>
                </a:tc>
                <a:tc>
                  <a:txBody>
                    <a:bodyPr/>
                    <a:lstStyle/>
                    <a:p>
                      <a:r>
                        <a:rPr sz="1200"/>
                        <a:t>Lưu trữ dữ liệu tại VN khi vượt ngưỡng 1 triệu người dùng</a:t>
                      </a:r>
                    </a:p>
                  </a:txBody>
                  <a:tcPr marL="54864" marR="54864" marT="18288" marB="18288" anchor="ctr">
                    <a:solidFill>
                      <a:srgbClr val="EEF3FA"/>
                    </a:solidFill>
                  </a:tcPr>
                </a:tc>
                <a:tc>
                  <a:txBody>
                    <a:bodyPr/>
                    <a:lstStyle/>
                    <a:p>
                      <a:r>
                        <a:rPr sz="1200"/>
                        <a:t>Lộ trình chuyển AWS Hà Nội Local Zone / Viettel / VNG khi đạt ngưỡng</a:t>
                      </a:r>
                    </a:p>
                  </a:txBody>
                  <a:tcPr marL="54864" marR="54864" marT="18288" marB="18288" anchor="ctr">
                    <a:solidFill>
                      <a:srgbClr val="EEF3FA"/>
                    </a:solidFill>
                  </a:tcPr>
                </a:tc>
              </a:tr>
              <a:tr h="365760">
                <a:tc>
                  <a:txBody>
                    <a:bodyPr/>
                    <a:lstStyle/>
                    <a:p>
                      <a:r>
                        <a:rPr sz="1200"/>
                        <a:t>Thông tư 78/2021/TT-BTC</a:t>
                      </a:r>
                    </a:p>
                  </a:txBody>
                  <a:tcPr marL="54864" marR="54864" marT="18288" marB="18288" anchor="ctr">
                    <a:solidFill>
                      <a:srgbClr val="FFFFFF"/>
                    </a:solidFill>
                  </a:tcPr>
                </a:tc>
                <a:tc>
                  <a:txBody>
                    <a:bodyPr/>
                    <a:lstStyle/>
                    <a:p>
                      <a:r>
                        <a:rPr sz="1200"/>
                        <a:t>Hóa đơn điện tử bắt buộc, kết nối cơ quan thuế</a:t>
                      </a:r>
                    </a:p>
                  </a:txBody>
                  <a:tcPr marL="54864" marR="54864" marT="18288" marB="18288" anchor="ctr">
                    <a:solidFill>
                      <a:srgbClr val="FFFFFF"/>
                    </a:solidFill>
                  </a:tcPr>
                </a:tc>
                <a:tc>
                  <a:txBody>
                    <a:bodyPr/>
                    <a:lstStyle/>
                    <a:p>
                      <a:r>
                        <a:rPr sz="1200"/>
                        <a:t>Tích hợp đối tác MISA MeInvoice (không tự xây engine VAT)</a:t>
                      </a:r>
                    </a:p>
                  </a:txBody>
                  <a:tcPr marL="54864" marR="54864" marT="18288" marB="18288" anchor="ctr">
                    <a:solidFill>
                      <a:srgbClr val="FFFFFF"/>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Cách tiếp cận: tuân thủ ngay từ thiết kế (compliance-by-design), không vá về sau.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Kiến trúc tổng thể — C4 Level 1</a:t>
            </a:r>
          </a:p>
        </p:txBody>
      </p:sp>
      <p:sp>
        <p:nvSpPr>
          <p:cNvPr id="3" name="TextBox 2"/>
          <p:cNvSpPr txBox="1"/>
          <p:nvPr/>
        </p:nvSpPr>
        <p:spPr>
          <a:xfrm>
            <a:off x="640080" y="1554480"/>
            <a:ext cx="10881360" cy="4754880"/>
          </a:xfrm>
          <a:prstGeom prst="rect">
            <a:avLst/>
          </a:prstGeom>
          <a:noFill/>
        </p:spPr>
        <p:txBody>
          <a:bodyPr wrap="square">
            <a:spAutoFit/>
          </a:bodyPr>
          <a:lstStyle/>
          <a:p>
            <a:pPr>
              <a:spcAft>
                <a:spcPts val="600"/>
              </a:spcAft>
            </a:pPr>
            <a:r>
              <a:rPr sz="1700" b="0">
                <a:solidFill>
                  <a:srgbClr val="222222"/>
                </a:solidFill>
              </a:rPr>
              <a:t>• Người dùng → Cloudflare (DNS, CDN, chống DDoS) → AWS ALB (kết thúc HTTPS, ap-southeast-1)</a:t>
            </a:r>
          </a:p>
          <a:p>
            <a:pPr>
              <a:spcAft>
                <a:spcPts val="600"/>
              </a:spcAft>
            </a:pPr>
            <a:r>
              <a:rPr sz="1700" b="1">
                <a:solidFill>
                  <a:srgbClr val="1F497D"/>
                </a:solidFill>
              </a:rPr>
              <a:t>• KiteHub — mặt phẳng điều khiển (control-plane):</a:t>
            </a:r>
          </a:p>
          <a:p>
            <a:pPr lvl="1">
              <a:spcAft>
                <a:spcPts val="600"/>
              </a:spcAft>
            </a:pPr>
            <a:r>
              <a:rPr sz="1500" b="0">
                <a:solidFill>
                  <a:srgbClr val="222222"/>
                </a:solidFill>
              </a:rPr>
              <a:t>– Gateway, Subscription, Branding, Email, Platform, Admin — quản lý vòng đời tenant</a:t>
            </a:r>
          </a:p>
          <a:p>
            <a:pPr>
              <a:spcAft>
                <a:spcPts val="600"/>
              </a:spcAft>
            </a:pPr>
            <a:r>
              <a:rPr sz="1700" b="1">
                <a:solidFill>
                  <a:srgbClr val="1F497D"/>
                </a:solidFill>
              </a:rPr>
              <a:t>• KiteClass — mặt phẳng dữ liệu (data-plane):</a:t>
            </a:r>
          </a:p>
          <a:p>
            <a:pPr lvl="1">
              <a:spcAft>
                <a:spcPts val="600"/>
              </a:spcAft>
            </a:pPr>
            <a:r>
              <a:rPr sz="1500" b="0">
                <a:solidFill>
                  <a:srgbClr val="222222"/>
                </a:solidFill>
              </a:rPr>
              <a:t>– Core (nghiệp vụ giáo dục) + Frontend (giao diện tenant)</a:t>
            </a:r>
          </a:p>
          <a:p>
            <a:pPr>
              <a:spcAft>
                <a:spcPts val="600"/>
              </a:spcAft>
            </a:pPr>
            <a:r>
              <a:rPr sz="1700" b="0">
                <a:solidFill>
                  <a:srgbClr val="222222"/>
                </a:solidFill>
              </a:rPr>
              <a:t>• Hạ tầng dùng chung: PostgreSQL 16 (RLS theo tenant), S3 (tài nguyên), AWS SES (email)</a:t>
            </a:r>
          </a:p>
          <a:p>
            <a:pPr>
              <a:spcAft>
                <a:spcPts val="600"/>
              </a:spcAft>
            </a:pPr>
            <a:r>
              <a:rPr sz="1700" b="1">
                <a:solidFill>
                  <a:srgbClr val="16A34A"/>
                </a:solidFill>
              </a:rPr>
              <a:t>• Hai mặt phẳng tách trách nhiệm rõ ràng nhưng chia sẻ một database cô lập bằng RLS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Đóng góp 2 — Chiến lược cô lập đa-tenant</a:t>
            </a:r>
          </a:p>
        </p:txBody>
      </p:sp>
      <p:graphicFrame>
        <p:nvGraphicFramePr>
          <p:cNvPr id="3" name="Table 2"/>
          <p:cNvGraphicFramePr>
            <a:graphicFrameLocks noGrp="1"/>
          </p:cNvGraphicFramePr>
          <p:nvPr/>
        </p:nvGraphicFramePr>
        <p:xfrm>
          <a:off x="548640" y="1737360"/>
          <a:ext cx="11064240" cy="1828800"/>
        </p:xfrm>
        <a:graphic>
          <a:graphicData uri="http://schemas.openxmlformats.org/drawingml/2006/table">
            <a:tbl>
              <a:tblPr firstRow="1" bandRow="1">
                <a:tableStyleId>{5C22544A-7EE6-4342-B048-85BDC9FD1C3A}</a:tableStyleId>
              </a:tblPr>
              <a:tblGrid>
                <a:gridCol w="2651760"/>
                <a:gridCol w="1737360"/>
                <a:gridCol w="2377440"/>
                <a:gridCol w="2103120"/>
                <a:gridCol w="2194560"/>
              </a:tblGrid>
              <a:tr h="365760">
                <a:tc>
                  <a:txBody>
                    <a:bodyPr/>
                    <a:lstStyle/>
                    <a:p>
                      <a:r>
                        <a:rPr sz="1200" b="1">
                          <a:solidFill>
                            <a:srgbClr val="FFFFFF"/>
                          </a:solidFill>
                        </a:rPr>
                        <a:t>Mô hình</a:t>
                      </a:r>
                    </a:p>
                  </a:txBody>
                  <a:tcPr marL="54864" marR="54864" marT="18288" marB="18288" anchor="ctr">
                    <a:solidFill>
                      <a:srgbClr val="1F497D"/>
                    </a:solidFill>
                  </a:tcPr>
                </a:tc>
                <a:tc>
                  <a:txBody>
                    <a:bodyPr/>
                    <a:lstStyle/>
                    <a:p>
                      <a:r>
                        <a:rPr sz="1200" b="1">
                          <a:solidFill>
                            <a:srgbClr val="FFFFFF"/>
                          </a:solidFill>
                        </a:rPr>
                        <a:t>Chi phí</a:t>
                      </a:r>
                    </a:p>
                  </a:txBody>
                  <a:tcPr marL="54864" marR="54864" marT="18288" marB="18288" anchor="ctr">
                    <a:solidFill>
                      <a:srgbClr val="1F497D"/>
                    </a:solidFill>
                  </a:tcPr>
                </a:tc>
                <a:tc>
                  <a:txBody>
                    <a:bodyPr/>
                    <a:lstStyle/>
                    <a:p>
                      <a:r>
                        <a:rPr sz="1200" b="1">
                          <a:solidFill>
                            <a:srgbClr val="FFFFFF"/>
                          </a:solidFill>
                        </a:rPr>
                        <a:t>Cô lập</a:t>
                      </a:r>
                    </a:p>
                  </a:txBody>
                  <a:tcPr marL="54864" marR="54864" marT="18288" marB="18288" anchor="ctr">
                    <a:solidFill>
                      <a:srgbClr val="1F497D"/>
                    </a:solidFill>
                  </a:tcPr>
                </a:tc>
                <a:tc>
                  <a:txBody>
                    <a:bodyPr/>
                    <a:lstStyle/>
                    <a:p>
                      <a:r>
                        <a:rPr sz="1200" b="1">
                          <a:solidFill>
                            <a:srgbClr val="FFFFFF"/>
                          </a:solidFill>
                        </a:rPr>
                        <a:t>Quy mô</a:t>
                      </a:r>
                    </a:p>
                  </a:txBody>
                  <a:tcPr marL="54864" marR="54864" marT="18288" marB="18288" anchor="ctr">
                    <a:solidFill>
                      <a:srgbClr val="1F497D"/>
                    </a:solidFill>
                  </a:tcPr>
                </a:tc>
                <a:tc>
                  <a:txBody>
                    <a:bodyPr/>
                    <a:lstStyle/>
                    <a:p>
                      <a:r>
                        <a:rPr sz="1200" b="1">
                          <a:solidFill>
                            <a:srgbClr val="FFFFFF"/>
                          </a:solidFill>
                        </a:rPr>
                        <a:t>Quyết định</a:t>
                      </a:r>
                    </a:p>
                  </a:txBody>
                  <a:tcPr marL="54864" marR="54864" marT="18288" marB="18288" anchor="ctr">
                    <a:solidFill>
                      <a:srgbClr val="1F497D"/>
                    </a:solidFill>
                  </a:tcPr>
                </a:tc>
              </a:tr>
              <a:tr h="365760">
                <a:tc>
                  <a:txBody>
                    <a:bodyPr/>
                    <a:lstStyle/>
                    <a:p>
                      <a:r>
                        <a:rPr sz="1300"/>
                        <a:t>Instance mỗi tenant</a:t>
                      </a:r>
                    </a:p>
                  </a:txBody>
                  <a:tcPr marL="54864" marR="54864" marT="18288" marB="18288" anchor="ctr">
                    <a:solidFill>
                      <a:srgbClr val="FFFFFF"/>
                    </a:solidFill>
                  </a:tcPr>
                </a:tc>
                <a:tc>
                  <a:txBody>
                    <a:bodyPr/>
                    <a:lstStyle/>
                    <a:p>
                      <a:r>
                        <a:rPr sz="1300"/>
                        <a:t>Rất cao</a:t>
                      </a:r>
                    </a:p>
                  </a:txBody>
                  <a:tcPr marL="54864" marR="54864" marT="18288" marB="18288" anchor="ctr">
                    <a:solidFill>
                      <a:srgbClr val="FFFFFF"/>
                    </a:solidFill>
                  </a:tcPr>
                </a:tc>
                <a:tc>
                  <a:txBody>
                    <a:bodyPr/>
                    <a:lstStyle/>
                    <a:p>
                      <a:r>
                        <a:rPr sz="1300"/>
                        <a:t>Tuyệt đối</a:t>
                      </a:r>
                    </a:p>
                  </a:txBody>
                  <a:tcPr marL="54864" marR="54864" marT="18288" marB="18288" anchor="ctr">
                    <a:solidFill>
                      <a:srgbClr val="FFFFFF"/>
                    </a:solidFill>
                  </a:tcPr>
                </a:tc>
                <a:tc>
                  <a:txBody>
                    <a:bodyPr/>
                    <a:lstStyle/>
                    <a:p>
                      <a:r>
                        <a:rPr sz="1300"/>
                        <a:t>≤10 tenant</a:t>
                      </a:r>
                    </a:p>
                  </a:txBody>
                  <a:tcPr marL="54864" marR="54864" marT="18288" marB="18288" anchor="ctr">
                    <a:solidFill>
                      <a:srgbClr val="FFFFFF"/>
                    </a:solidFill>
                  </a:tcPr>
                </a:tc>
                <a:tc>
                  <a:txBody>
                    <a:bodyPr/>
                    <a:lstStyle/>
                    <a:p>
                      <a:r>
                        <a:rPr sz="1300"/>
                        <a:t>Loại — không mở rộng</a:t>
                      </a:r>
                    </a:p>
                  </a:txBody>
                  <a:tcPr marL="54864" marR="54864" marT="18288" marB="18288" anchor="ctr">
                    <a:solidFill>
                      <a:srgbClr val="FFFFFF"/>
                    </a:solidFill>
                  </a:tcPr>
                </a:tc>
              </a:tr>
              <a:tr h="365760">
                <a:tc>
                  <a:txBody>
                    <a:bodyPr/>
                    <a:lstStyle/>
                    <a:p>
                      <a:r>
                        <a:rPr sz="1300"/>
                        <a:t>Database mỗi tenant</a:t>
                      </a:r>
                    </a:p>
                  </a:txBody>
                  <a:tcPr marL="54864" marR="54864" marT="18288" marB="18288" anchor="ctr">
                    <a:solidFill>
                      <a:srgbClr val="EEF3FA"/>
                    </a:solidFill>
                  </a:tcPr>
                </a:tc>
                <a:tc>
                  <a:txBody>
                    <a:bodyPr/>
                    <a:lstStyle/>
                    <a:p>
                      <a:r>
                        <a:rPr sz="1300"/>
                        <a:t>Cao</a:t>
                      </a:r>
                    </a:p>
                  </a:txBody>
                  <a:tcPr marL="54864" marR="54864" marT="18288" marB="18288" anchor="ctr">
                    <a:solidFill>
                      <a:srgbClr val="EEF3FA"/>
                    </a:solidFill>
                  </a:tcPr>
                </a:tc>
                <a:tc>
                  <a:txBody>
                    <a:bodyPr/>
                    <a:lstStyle/>
                    <a:p>
                      <a:r>
                        <a:rPr sz="1300"/>
                        <a:t>Mạnh</a:t>
                      </a:r>
                    </a:p>
                  </a:txBody>
                  <a:tcPr marL="54864" marR="54864" marT="18288" marB="18288" anchor="ctr">
                    <a:solidFill>
                      <a:srgbClr val="EEF3FA"/>
                    </a:solidFill>
                  </a:tcPr>
                </a:tc>
                <a:tc>
                  <a:txBody>
                    <a:bodyPr/>
                    <a:lstStyle/>
                    <a:p>
                      <a:r>
                        <a:rPr sz="1300"/>
                        <a:t>10–100 tenant</a:t>
                      </a:r>
                    </a:p>
                  </a:txBody>
                  <a:tcPr marL="54864" marR="54864" marT="18288" marB="18288" anchor="ctr">
                    <a:solidFill>
                      <a:srgbClr val="EEF3FA"/>
                    </a:solidFill>
                  </a:tcPr>
                </a:tc>
                <a:tc>
                  <a:txBody>
                    <a:bodyPr/>
                    <a:lstStyle/>
                    <a:p>
                      <a:r>
                        <a:rPr sz="1300"/>
                        <a:t>Loại — IAM phức tạp</a:t>
                      </a:r>
                    </a:p>
                  </a:txBody>
                  <a:tcPr marL="54864" marR="54864" marT="18288" marB="18288" anchor="ctr">
                    <a:solidFill>
                      <a:srgbClr val="EEF3FA"/>
                    </a:solidFill>
                  </a:tcPr>
                </a:tc>
              </a:tr>
              <a:tr h="365760">
                <a:tc>
                  <a:txBody>
                    <a:bodyPr/>
                    <a:lstStyle/>
                    <a:p>
                      <a:r>
                        <a:rPr sz="1300"/>
                        <a:t>Schema mỗi tenant</a:t>
                      </a:r>
                    </a:p>
                  </a:txBody>
                  <a:tcPr marL="54864" marR="54864" marT="18288" marB="18288" anchor="ctr">
                    <a:solidFill>
                      <a:srgbClr val="FFFFFF"/>
                    </a:solidFill>
                  </a:tcPr>
                </a:tc>
                <a:tc>
                  <a:txBody>
                    <a:bodyPr/>
                    <a:lstStyle/>
                    <a:p>
                      <a:r>
                        <a:rPr sz="1300"/>
                        <a:t>Trung bình</a:t>
                      </a:r>
                    </a:p>
                  </a:txBody>
                  <a:tcPr marL="54864" marR="54864" marT="18288" marB="18288" anchor="ctr">
                    <a:solidFill>
                      <a:srgbClr val="FFFFFF"/>
                    </a:solidFill>
                  </a:tcPr>
                </a:tc>
                <a:tc>
                  <a:txBody>
                    <a:bodyPr/>
                    <a:lstStyle/>
                    <a:p>
                      <a:r>
                        <a:rPr sz="1300"/>
                        <a:t>Khá</a:t>
                      </a:r>
                    </a:p>
                  </a:txBody>
                  <a:tcPr marL="54864" marR="54864" marT="18288" marB="18288" anchor="ctr">
                    <a:solidFill>
                      <a:srgbClr val="FFFFFF"/>
                    </a:solidFill>
                  </a:tcPr>
                </a:tc>
                <a:tc>
                  <a:txBody>
                    <a:bodyPr/>
                    <a:lstStyle/>
                    <a:p>
                      <a:r>
                        <a:rPr sz="1300"/>
                        <a:t>100–1000 tenant</a:t>
                      </a:r>
                    </a:p>
                  </a:txBody>
                  <a:tcPr marL="54864" marR="54864" marT="18288" marB="18288" anchor="ctr">
                    <a:solidFill>
                      <a:srgbClr val="FFFFFF"/>
                    </a:solidFill>
                  </a:tcPr>
                </a:tc>
                <a:tc>
                  <a:txBody>
                    <a:bodyPr/>
                    <a:lstStyle/>
                    <a:p>
                      <a:r>
                        <a:rPr sz="1300"/>
                        <a:t>Cân nhắc sau</a:t>
                      </a:r>
                    </a:p>
                  </a:txBody>
                  <a:tcPr marL="54864" marR="54864" marT="18288" marB="18288" anchor="ctr">
                    <a:solidFill>
                      <a:srgbClr val="FFFFFF"/>
                    </a:solidFill>
                  </a:tcPr>
                </a:tc>
              </a:tr>
              <a:tr h="365760">
                <a:tc>
                  <a:txBody>
                    <a:bodyPr/>
                    <a:lstStyle/>
                    <a:p>
                      <a:r>
                        <a:rPr sz="1300"/>
                        <a:t>Row-Level Security</a:t>
                      </a:r>
                    </a:p>
                  </a:txBody>
                  <a:tcPr marL="54864" marR="54864" marT="18288" marB="18288" anchor="ctr">
                    <a:solidFill>
                      <a:srgbClr val="EEF3FA"/>
                    </a:solidFill>
                  </a:tcPr>
                </a:tc>
                <a:tc>
                  <a:txBody>
                    <a:bodyPr/>
                    <a:lstStyle/>
                    <a:p>
                      <a:r>
                        <a:rPr sz="1300"/>
                        <a:t>Thấp</a:t>
                      </a:r>
                    </a:p>
                  </a:txBody>
                  <a:tcPr marL="54864" marR="54864" marT="18288" marB="18288" anchor="ctr">
                    <a:solidFill>
                      <a:srgbClr val="EEF3FA"/>
                    </a:solidFill>
                  </a:tcPr>
                </a:tc>
                <a:tc>
                  <a:txBody>
                    <a:bodyPr/>
                    <a:lstStyle/>
                    <a:p>
                      <a:r>
                        <a:rPr sz="1300"/>
                        <a:t>DB engine ép buộc</a:t>
                      </a:r>
                    </a:p>
                  </a:txBody>
                  <a:tcPr marL="54864" marR="54864" marT="18288" marB="18288" anchor="ctr">
                    <a:solidFill>
                      <a:srgbClr val="EEF3FA"/>
                    </a:solidFill>
                  </a:tcPr>
                </a:tc>
                <a:tc>
                  <a:txBody>
                    <a:bodyPr/>
                    <a:lstStyle/>
                    <a:p>
                      <a:r>
                        <a:rPr sz="1300"/>
                        <a:t>≥1000 tenant</a:t>
                      </a:r>
                    </a:p>
                  </a:txBody>
                  <a:tcPr marL="54864" marR="54864" marT="18288" marB="18288" anchor="ctr">
                    <a:solidFill>
                      <a:srgbClr val="EEF3FA"/>
                    </a:solidFill>
                  </a:tcPr>
                </a:tc>
                <a:tc>
                  <a:txBody>
                    <a:bodyPr/>
                    <a:lstStyle/>
                    <a:p>
                      <a:r>
                        <a:rPr sz="1300"/>
                        <a:t>Áp dụng</a:t>
                      </a:r>
                    </a:p>
                  </a:txBody>
                  <a:tcPr marL="54864" marR="54864" marT="18288" marB="18288" anchor="ctr">
                    <a:solidFill>
                      <a:srgbClr val="EEF3FA"/>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Chọn RLS: native Postgres, chi phí thấp, kiểm chứng tại Salesforce, Shopify, HubSpot.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Cài đặt PostgreSQL Row-Level Security</a:t>
            </a:r>
          </a:p>
        </p:txBody>
      </p:sp>
      <p:sp>
        <p:nvSpPr>
          <p:cNvPr id="3" name="TextBox 2"/>
          <p:cNvSpPr txBox="1"/>
          <p:nvPr/>
        </p:nvSpPr>
        <p:spPr>
          <a:xfrm>
            <a:off x="640080" y="1554480"/>
            <a:ext cx="10881360" cy="3840480"/>
          </a:xfrm>
          <a:prstGeom prst="rect">
            <a:avLst/>
          </a:prstGeom>
          <a:solidFill>
            <a:srgbClr val="1E2939"/>
          </a:solidFill>
        </p:spPr>
        <p:txBody>
          <a:bodyPr wrap="square">
            <a:spAutoFit/>
          </a:bodyPr>
          <a:lstStyle/>
          <a:p>
            <a:r>
              <a:rPr sz="1400">
                <a:solidFill>
                  <a:srgbClr val="E6EDF3"/>
                </a:solidFill>
                <a:latin typeface="Consolas"/>
              </a:rPr>
              <a:t>-- 1) Bật RLS cho mọi bảng thuộc phạm vi tenant</a:t>
            </a:r>
          </a:p>
          <a:p>
            <a:r>
              <a:rPr sz="1400">
                <a:solidFill>
                  <a:srgbClr val="E6EDF3"/>
                </a:solidFill>
                <a:latin typeface="Consolas"/>
              </a:rPr>
              <a:t>ALTER TABLE students ENABLE ROW LEVEL SECURITY;</a:t>
            </a:r>
          </a:p>
          <a:p>
            <a:r>
              <a:rPr sz="1400">
                <a:solidFill>
                  <a:srgbClr val="E6EDF3"/>
                </a:solidFill>
                <a:latin typeface="Consolas"/>
              </a:rPr>
              <a:t> </a:t>
            </a:r>
          </a:p>
          <a:p>
            <a:r>
              <a:rPr sz="1400">
                <a:solidFill>
                  <a:srgbClr val="E6EDF3"/>
                </a:solidFill>
                <a:latin typeface="Consolas"/>
              </a:rPr>
              <a:t>-- 2) Policy: tenant chỉ thấy dữ liệu của chính mình</a:t>
            </a:r>
          </a:p>
          <a:p>
            <a:r>
              <a:rPr sz="1400">
                <a:solidFill>
                  <a:srgbClr val="E6EDF3"/>
                </a:solidFill>
                <a:latin typeface="Consolas"/>
              </a:rPr>
              <a:t>CREATE POLICY tenant_isolation ON students</a:t>
            </a:r>
          </a:p>
          <a:p>
            <a:r>
              <a:rPr sz="1400">
                <a:solidFill>
                  <a:srgbClr val="E6EDF3"/>
                </a:solidFill>
                <a:latin typeface="Consolas"/>
              </a:rPr>
              <a:t>  FOR ALL</a:t>
            </a:r>
          </a:p>
          <a:p>
            <a:r>
              <a:rPr sz="1400">
                <a:solidFill>
                  <a:srgbClr val="E6EDF3"/>
                </a:solidFill>
                <a:latin typeface="Consolas"/>
              </a:rPr>
              <a:t>  USING (tenant_id = current_setting('app.current_tenant_id')::uuid);</a:t>
            </a:r>
          </a:p>
          <a:p>
            <a:r>
              <a:rPr sz="1400">
                <a:solidFill>
                  <a:srgbClr val="E6EDF3"/>
                </a:solidFill>
                <a:latin typeface="Consolas"/>
              </a:rPr>
              <a:t> </a:t>
            </a:r>
          </a:p>
          <a:p>
            <a:r>
              <a:rPr sz="1400">
                <a:solidFill>
                  <a:srgbClr val="E6EDF3"/>
                </a:solidFill>
                <a:latin typeface="Consolas"/>
              </a:rPr>
              <a:t>-- 3) Tầng ứng dụng: set biến phiên qua HikariCP connection init</a:t>
            </a:r>
          </a:p>
          <a:p>
            <a:r>
              <a:rPr sz="1400">
                <a:solidFill>
                  <a:srgbClr val="E6EDF3"/>
                </a:solidFill>
                <a:latin typeface="Consolas"/>
              </a:rPr>
              <a:t>cfg.setConnectionInitSql(</a:t>
            </a:r>
          </a:p>
          <a:p>
            <a:r>
              <a:rPr sz="1400">
                <a:solidFill>
                  <a:srgbClr val="E6EDF3"/>
                </a:solidFill>
                <a:latin typeface="Consolas"/>
              </a:rPr>
              <a:t>    "SET app.current_tenant_id = '" + tenantId + "'");</a:t>
            </a:r>
          </a:p>
        </p:txBody>
      </p:sp>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Postgres ép policy ở MỖI truy vấn — lập trình viên quên thêm điều kiện lọc cũng không rò dữ liệu.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Bảo mật nhiều lớp — Defense-in-depth</a:t>
            </a:r>
          </a:p>
        </p:txBody>
      </p:sp>
      <p:graphicFrame>
        <p:nvGraphicFramePr>
          <p:cNvPr id="3" name="Table 2"/>
          <p:cNvGraphicFramePr>
            <a:graphicFrameLocks noGrp="1"/>
          </p:cNvGraphicFramePr>
          <p:nvPr/>
        </p:nvGraphicFramePr>
        <p:xfrm>
          <a:off x="548640" y="1645920"/>
          <a:ext cx="11064240" cy="2194560"/>
        </p:xfrm>
        <a:graphic>
          <a:graphicData uri="http://schemas.openxmlformats.org/drawingml/2006/table">
            <a:tbl>
              <a:tblPr firstRow="1" bandRow="1">
                <a:tableStyleId>{5C22544A-7EE6-4342-B048-85BDC9FD1C3A}</a:tableStyleId>
              </a:tblPr>
              <a:tblGrid>
                <a:gridCol w="2560320"/>
                <a:gridCol w="3291840"/>
                <a:gridCol w="5212080"/>
              </a:tblGrid>
              <a:tr h="365760">
                <a:tc>
                  <a:txBody>
                    <a:bodyPr/>
                    <a:lstStyle/>
                    <a:p>
                      <a:r>
                        <a:rPr sz="1200" b="1">
                          <a:solidFill>
                            <a:srgbClr val="FFFFFF"/>
                          </a:solidFill>
                        </a:rPr>
                        <a:t>Lớp</a:t>
                      </a:r>
                    </a:p>
                  </a:txBody>
                  <a:tcPr marL="54864" marR="54864" marT="18288" marB="18288" anchor="ctr">
                    <a:solidFill>
                      <a:srgbClr val="1F497D"/>
                    </a:solidFill>
                  </a:tcPr>
                </a:tc>
                <a:tc>
                  <a:txBody>
                    <a:bodyPr/>
                    <a:lstStyle/>
                    <a:p>
                      <a:r>
                        <a:rPr sz="1200" b="1">
                          <a:solidFill>
                            <a:srgbClr val="FFFFFF"/>
                          </a:solidFill>
                        </a:rPr>
                        <a:t>Cơ chế</a:t>
                      </a:r>
                    </a:p>
                  </a:txBody>
                  <a:tcPr marL="54864" marR="54864" marT="18288" marB="18288" anchor="ctr">
                    <a:solidFill>
                      <a:srgbClr val="1F497D"/>
                    </a:solidFill>
                  </a:tcPr>
                </a:tc>
                <a:tc>
                  <a:txBody>
                    <a:bodyPr/>
                    <a:lstStyle/>
                    <a:p>
                      <a:r>
                        <a:rPr sz="1200" b="1">
                          <a:solidFill>
                            <a:srgbClr val="FFFFFF"/>
                          </a:solidFill>
                        </a:rPr>
                        <a:t>Vai trò</a:t>
                      </a:r>
                    </a:p>
                  </a:txBody>
                  <a:tcPr marL="54864" marR="54864" marT="18288" marB="18288" anchor="ctr">
                    <a:solidFill>
                      <a:srgbClr val="1F497D"/>
                    </a:solidFill>
                  </a:tcPr>
                </a:tc>
              </a:tr>
              <a:tr h="365760">
                <a:tc>
                  <a:txBody>
                    <a:bodyPr/>
                    <a:lstStyle/>
                    <a:p>
                      <a:r>
                        <a:rPr sz="1300"/>
                        <a:t>1. Xác thực JWT</a:t>
                      </a:r>
                    </a:p>
                  </a:txBody>
                  <a:tcPr marL="54864" marR="54864" marT="18288" marB="18288" anchor="ctr">
                    <a:solidFill>
                      <a:srgbClr val="FFFFFF"/>
                    </a:solidFill>
                  </a:tcPr>
                </a:tc>
                <a:tc>
                  <a:txBody>
                    <a:bodyPr/>
                    <a:lstStyle/>
                    <a:p>
                      <a:r>
                        <a:rPr sz="1300"/>
                        <a:t>Spring Security filter</a:t>
                      </a:r>
                    </a:p>
                  </a:txBody>
                  <a:tcPr marL="54864" marR="54864" marT="18288" marB="18288" anchor="ctr">
                    <a:solidFill>
                      <a:srgbClr val="FFFFFF"/>
                    </a:solidFill>
                  </a:tcPr>
                </a:tc>
                <a:tc>
                  <a:txBody>
                    <a:bodyPr/>
                    <a:lstStyle/>
                    <a:p>
                      <a:r>
                        <a:rPr sz="1300"/>
                        <a:t>Xác thực danh tính + claim tenant</a:t>
                      </a:r>
                    </a:p>
                  </a:txBody>
                  <a:tcPr marL="54864" marR="54864" marT="18288" marB="18288" anchor="ctr">
                    <a:solidFill>
                      <a:srgbClr val="FFFFFF"/>
                    </a:solidFill>
                  </a:tcPr>
                </a:tc>
              </a:tr>
              <a:tr h="365760">
                <a:tc>
                  <a:txBody>
                    <a:bodyPr/>
                    <a:lstStyle/>
                    <a:p>
                      <a:r>
                        <a:rPr sz="1300"/>
                        <a:t>2. @PreAuthorize</a:t>
                      </a:r>
                    </a:p>
                  </a:txBody>
                  <a:tcPr marL="54864" marR="54864" marT="18288" marB="18288" anchor="ctr">
                    <a:solidFill>
                      <a:srgbClr val="EEF3FA"/>
                    </a:solidFill>
                  </a:tcPr>
                </a:tc>
                <a:tc>
                  <a:txBody>
                    <a:bodyPr/>
                    <a:lstStyle/>
                    <a:p>
                      <a:r>
                        <a:rPr sz="1300"/>
                        <a:t>Kiểm tra quyền cấp method</a:t>
                      </a:r>
                    </a:p>
                  </a:txBody>
                  <a:tcPr marL="54864" marR="54864" marT="18288" marB="18288" anchor="ctr">
                    <a:solidFill>
                      <a:srgbClr val="EEF3FA"/>
                    </a:solidFill>
                  </a:tcPr>
                </a:tc>
                <a:tc>
                  <a:txBody>
                    <a:bodyPr/>
                    <a:lstStyle/>
                    <a:p>
                      <a:r>
                        <a:rPr sz="1300"/>
                        <a:t>Phân quyền theo vai trò</a:t>
                      </a:r>
                    </a:p>
                  </a:txBody>
                  <a:tcPr marL="54864" marR="54864" marT="18288" marB="18288" anchor="ctr">
                    <a:solidFill>
                      <a:srgbClr val="EEF3FA"/>
                    </a:solidFill>
                  </a:tcPr>
                </a:tc>
              </a:tr>
              <a:tr h="365760">
                <a:tc>
                  <a:txBody>
                    <a:bodyPr/>
                    <a:lstStyle/>
                    <a:p>
                      <a:r>
                        <a:rPr sz="1300"/>
                        <a:t>3. Tenant interceptor</a:t>
                      </a:r>
                    </a:p>
                  </a:txBody>
                  <a:tcPr marL="54864" marR="54864" marT="18288" marB="18288" anchor="ctr">
                    <a:solidFill>
                      <a:srgbClr val="FFFFFF"/>
                    </a:solidFill>
                  </a:tcPr>
                </a:tc>
                <a:tc>
                  <a:txBody>
                    <a:bodyPr/>
                    <a:lstStyle/>
                    <a:p>
                      <a:r>
                        <a:rPr sz="1300"/>
                        <a:t>HikariCP init SQL</a:t>
                      </a:r>
                    </a:p>
                  </a:txBody>
                  <a:tcPr marL="54864" marR="54864" marT="18288" marB="18288" anchor="ctr">
                    <a:solidFill>
                      <a:srgbClr val="FFFFFF"/>
                    </a:solidFill>
                  </a:tcPr>
                </a:tc>
                <a:tc>
                  <a:txBody>
                    <a:bodyPr/>
                    <a:lstStyle/>
                    <a:p>
                      <a:r>
                        <a:rPr sz="1300"/>
                        <a:t>Set biến phiên tenant hiện tại</a:t>
                      </a:r>
                    </a:p>
                  </a:txBody>
                  <a:tcPr marL="54864" marR="54864" marT="18288" marB="18288" anchor="ctr">
                    <a:solidFill>
                      <a:srgbClr val="FFFFFF"/>
                    </a:solidFill>
                  </a:tcPr>
                </a:tc>
              </a:tr>
              <a:tr h="365760">
                <a:tc>
                  <a:txBody>
                    <a:bodyPr/>
                    <a:lstStyle/>
                    <a:p>
                      <a:r>
                        <a:rPr sz="1300"/>
                        <a:t>4. Bộ lọc repository</a:t>
                      </a:r>
                    </a:p>
                  </a:txBody>
                  <a:tcPr marL="54864" marR="54864" marT="18288" marB="18288" anchor="ctr">
                    <a:solidFill>
                      <a:srgbClr val="EEF3FA"/>
                    </a:solidFill>
                  </a:tcPr>
                </a:tc>
                <a:tc>
                  <a:txBody>
                    <a:bodyPr/>
                    <a:lstStyle/>
                    <a:p>
                      <a:r>
                        <a:rPr sz="1300"/>
                        <a:t>JPA criteria</a:t>
                      </a:r>
                    </a:p>
                  </a:txBody>
                  <a:tcPr marL="54864" marR="54864" marT="18288" marB="18288" anchor="ctr">
                    <a:solidFill>
                      <a:srgbClr val="EEF3FA"/>
                    </a:solidFill>
                  </a:tcPr>
                </a:tc>
                <a:tc>
                  <a:txBody>
                    <a:bodyPr/>
                    <a:lstStyle/>
                    <a:p>
                      <a:r>
                        <a:rPr sz="1300"/>
                        <a:t>Lớp dự phòng phòng khi RLS cấu hình sai</a:t>
                      </a:r>
                    </a:p>
                  </a:txBody>
                  <a:tcPr marL="54864" marR="54864" marT="18288" marB="18288" anchor="ctr">
                    <a:solidFill>
                      <a:srgbClr val="EEF3FA"/>
                    </a:solidFill>
                  </a:tcPr>
                </a:tc>
              </a:tr>
              <a:tr h="365760">
                <a:tc>
                  <a:txBody>
                    <a:bodyPr/>
                    <a:lstStyle/>
                    <a:p>
                      <a:r>
                        <a:rPr sz="1300"/>
                        <a:t>5. PostgreSQL RLS</a:t>
                      </a:r>
                    </a:p>
                  </a:txBody>
                  <a:tcPr marL="54864" marR="54864" marT="18288" marB="18288" anchor="ctr">
                    <a:solidFill>
                      <a:srgbClr val="FFFFFF"/>
                    </a:solidFill>
                  </a:tcPr>
                </a:tc>
                <a:tc>
                  <a:txBody>
                    <a:bodyPr/>
                    <a:lstStyle/>
                    <a:p>
                      <a:r>
                        <a:rPr sz="1300"/>
                        <a:t>Database engine</a:t>
                      </a:r>
                    </a:p>
                  </a:txBody>
                  <a:tcPr marL="54864" marR="54864" marT="18288" marB="18288" anchor="ctr">
                    <a:solidFill>
                      <a:srgbClr val="FFFFFF"/>
                    </a:solidFill>
                  </a:tcPr>
                </a:tc>
                <a:tc>
                  <a:txBody>
                    <a:bodyPr/>
                    <a:lstStyle/>
                    <a:p>
                      <a:r>
                        <a:rPr sz="1300"/>
                        <a:t>Phòng tuyến cuối — DB ép buộc</a:t>
                      </a:r>
                    </a:p>
                  </a:txBody>
                  <a:tcPr marL="54864" marR="54864" marT="18288" marB="18288" anchor="ctr">
                    <a:solidFill>
                      <a:srgbClr val="FFFFFF"/>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Một lớp lỗi không gây rò; phải đồng thời thủng cả 5 lớp mới rò dữ liệu chéo tenant.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Công nghệ và phân chia dịch vụ</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500" b="1">
                <a:solidFill>
                  <a:srgbClr val="1F497D"/>
                </a:solidFill>
              </a:rPr>
              <a:t>• KiteHub — 6 microservice (lifecycle khác nhau):</a:t>
            </a:r>
          </a:p>
          <a:p>
            <a:pPr lvl="1">
              <a:spcAft>
                <a:spcPts val="600"/>
              </a:spcAft>
            </a:pPr>
            <a:r>
              <a:rPr sz="1300" b="0">
                <a:solidFill>
                  <a:srgbClr val="222222"/>
                </a:solidFill>
              </a:rPr>
              <a:t>– gateway, platform, subscription, branding, email, admin</a:t>
            </a:r>
          </a:p>
          <a:p>
            <a:pPr>
              <a:spcAft>
                <a:spcPts val="600"/>
              </a:spcAft>
            </a:pPr>
            <a:r>
              <a:rPr sz="1500" b="1">
                <a:solidFill>
                  <a:srgbClr val="1F497D"/>
                </a:solidFill>
              </a:rPr>
              <a:t>• KiteClass — modular monolith:</a:t>
            </a:r>
          </a:p>
          <a:p>
            <a:pPr lvl="1">
              <a:spcAft>
                <a:spcPts val="600"/>
              </a:spcAft>
            </a:pPr>
            <a:r>
              <a:rPr sz="1300" b="0">
                <a:solidFill>
                  <a:srgbClr val="222222"/>
                </a:solidFill>
              </a:rPr>
              <a:t>– kiteclass-core (domain giáo dục gắn kết chặt) + kiteclass-frontend (Next.js)</a:t>
            </a:r>
          </a:p>
          <a:p>
            <a:pPr>
              <a:spcAft>
                <a:spcPts val="600"/>
              </a:spcAft>
            </a:pPr>
            <a:r>
              <a:rPr sz="1500" b="0">
                <a:solidFill>
                  <a:srgbClr val="222222"/>
                </a:solidFill>
              </a:rPr>
              <a:t>• Backend: Java 21 LTS + Spring Boot 3.5, Spring Security 6, JPA/Hibernate 6, MapStruct</a:t>
            </a:r>
          </a:p>
          <a:p>
            <a:pPr>
              <a:spcAft>
                <a:spcPts val="600"/>
              </a:spcAft>
            </a:pPr>
            <a:r>
              <a:rPr sz="1500" b="0">
                <a:solidFill>
                  <a:srgbClr val="222222"/>
                </a:solidFill>
              </a:rPr>
              <a:t>• Dữ liệu &amp; hàng đợi: PostgreSQL 16 + RLS, Flyway 10, Redis 7, RabbitMQ 3.13, MinIO/S3</a:t>
            </a:r>
          </a:p>
          <a:p>
            <a:pPr>
              <a:spcAft>
                <a:spcPts val="600"/>
              </a:spcAft>
            </a:pPr>
            <a:r>
              <a:rPr sz="1500" b="0">
                <a:solidFill>
                  <a:srgbClr val="222222"/>
                </a:solidFill>
              </a:rPr>
              <a:t>• Frontend: TypeScript 5.7 + Next.js 15, React 19, Tailwind + Shadcn UI, TanStack Query</a:t>
            </a:r>
          </a:p>
          <a:p>
            <a:pPr>
              <a:spcAft>
                <a:spcPts val="600"/>
              </a:spcAft>
            </a:pPr>
            <a:r>
              <a:rPr sz="1500" b="0">
                <a:solidFill>
                  <a:srgbClr val="222222"/>
                </a:solidFill>
              </a:rPr>
              <a:t>• DevOps: Docker, Terraform, GitHub Actions OIDC, AWS ECR/SES/ALB, CloudWatch + CloudTrail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Đóng góp 3 — Trích cài đặt: JWT Auth Filter</a:t>
            </a:r>
          </a:p>
        </p:txBody>
      </p:sp>
      <p:sp>
        <p:nvSpPr>
          <p:cNvPr id="3" name="TextBox 2"/>
          <p:cNvSpPr txBox="1"/>
          <p:nvPr/>
        </p:nvSpPr>
        <p:spPr>
          <a:xfrm>
            <a:off x="640080" y="1554480"/>
            <a:ext cx="10881360" cy="4206240"/>
          </a:xfrm>
          <a:prstGeom prst="rect">
            <a:avLst/>
          </a:prstGeom>
          <a:solidFill>
            <a:srgbClr val="1E2939"/>
          </a:solidFill>
        </p:spPr>
        <p:txBody>
          <a:bodyPr wrap="square">
            <a:spAutoFit/>
          </a:bodyPr>
          <a:lstStyle/>
          <a:p>
            <a:r>
              <a:rPr sz="1250">
                <a:solidFill>
                  <a:srgbClr val="E6EDF3"/>
                </a:solidFill>
                <a:latin typeface="Consolas"/>
              </a:rPr>
              <a:t>// kitehub-gateway: xác thực JWT một lần ở edge</a:t>
            </a:r>
          </a:p>
          <a:p>
            <a:r>
              <a:rPr sz="1250">
                <a:solidFill>
                  <a:srgbClr val="E6EDF3"/>
                </a:solidFill>
                <a:latin typeface="Consolas"/>
              </a:rPr>
              <a:t>protected void doFilterInternal(...) {</a:t>
            </a:r>
          </a:p>
          <a:p>
            <a:r>
              <a:rPr sz="1250">
                <a:solidFill>
                  <a:srgbClr val="E6EDF3"/>
                </a:solidFill>
                <a:latin typeface="Consolas"/>
              </a:rPr>
              <a:t>  String token = extractBearerToken(request);</a:t>
            </a:r>
          </a:p>
          <a:p>
            <a:r>
              <a:rPr sz="1250">
                <a:solidFill>
                  <a:srgbClr val="E6EDF3"/>
                </a:solidFill>
                <a:latin typeface="Consolas"/>
              </a:rPr>
              <a:t>  if (token != null &amp;&amp; jwtUtil.validate(token)) {</a:t>
            </a:r>
          </a:p>
          <a:p>
            <a:r>
              <a:rPr sz="1250">
                <a:solidFill>
                  <a:srgbClr val="E6EDF3"/>
                </a:solidFill>
                <a:latin typeface="Consolas"/>
              </a:rPr>
              <a:t>    Claims claims = jwtUtil.parseClaims(token);</a:t>
            </a:r>
          </a:p>
          <a:p>
            <a:r>
              <a:rPr sz="1250">
                <a:solidFill>
                  <a:srgbClr val="E6EDF3"/>
                </a:solidFill>
                <a:latin typeface="Consolas"/>
              </a:rPr>
              <a:t>    String tenantId = claims.get("tenantId", String.class);</a:t>
            </a:r>
          </a:p>
          <a:p>
            <a:r>
              <a:rPr sz="1250">
                <a:solidFill>
                  <a:srgbClr val="E6EDF3"/>
                </a:solidFill>
                <a:latin typeface="Consolas"/>
              </a:rPr>
              <a:t>    String role     = claims.get("role", String.class);</a:t>
            </a:r>
          </a:p>
          <a:p>
            <a:r>
              <a:rPr sz="1250">
                <a:solidFill>
                  <a:srgbClr val="E6EDF3"/>
                </a:solidFill>
                <a:latin typeface="Consolas"/>
              </a:rPr>
              <a:t> </a:t>
            </a:r>
          </a:p>
          <a:p>
            <a:r>
              <a:rPr sz="1250">
                <a:solidFill>
                  <a:srgbClr val="E6EDF3"/>
                </a:solidFill>
                <a:latin typeface="Consolas"/>
              </a:rPr>
              <a:t>    // Truyền tenant context xuống downstream service</a:t>
            </a:r>
          </a:p>
          <a:p>
            <a:r>
              <a:rPr sz="1250">
                <a:solidFill>
                  <a:srgbClr val="E6EDF3"/>
                </a:solidFill>
                <a:latin typeface="Consolas"/>
              </a:rPr>
              <a:t>    request.setAttribute("X-Tenant-Id", tenantId);</a:t>
            </a:r>
          </a:p>
          <a:p>
            <a:r>
              <a:rPr sz="1250">
                <a:solidFill>
                  <a:srgbClr val="E6EDF3"/>
                </a:solidFill>
                <a:latin typeface="Consolas"/>
              </a:rPr>
              <a:t> </a:t>
            </a:r>
          </a:p>
          <a:p>
            <a:r>
              <a:rPr sz="1250">
                <a:solidFill>
                  <a:srgbClr val="E6EDF3"/>
                </a:solidFill>
                <a:latin typeface="Consolas"/>
              </a:rPr>
              <a:t>    var auth = new UsernamePasswordAuthenticationToken(</a:t>
            </a:r>
          </a:p>
          <a:p>
            <a:r>
              <a:rPr sz="1250">
                <a:solidFill>
                  <a:srgbClr val="E6EDF3"/>
                </a:solidFill>
                <a:latin typeface="Consolas"/>
              </a:rPr>
              <a:t>        claims.getSubject(), null,</a:t>
            </a:r>
          </a:p>
          <a:p>
            <a:r>
              <a:rPr sz="1250">
                <a:solidFill>
                  <a:srgbClr val="E6EDF3"/>
                </a:solidFill>
                <a:latin typeface="Consolas"/>
              </a:rPr>
              <a:t>        List.of(new SimpleGrantedAuthority("ROLE_" + role)));</a:t>
            </a:r>
          </a:p>
          <a:p>
            <a:r>
              <a:rPr sz="1250">
                <a:solidFill>
                  <a:srgbClr val="E6EDF3"/>
                </a:solidFill>
                <a:latin typeface="Consolas"/>
              </a:rPr>
              <a:t>    SecurityContextHolder.getContext().setAuthentication(auth);</a:t>
            </a:r>
          </a:p>
          <a:p>
            <a:r>
              <a:rPr sz="1250">
                <a:solidFill>
                  <a:srgbClr val="E6EDF3"/>
                </a:solidFill>
                <a:latin typeface="Consolas"/>
              </a:rPr>
              <a:t>  }</a:t>
            </a:r>
          </a:p>
          <a:p>
            <a:r>
              <a:rPr sz="1250">
                <a:solidFill>
                  <a:srgbClr val="E6EDF3"/>
                </a:solidFill>
                <a:latin typeface="Consolas"/>
              </a:rPr>
              <a:t>  filterChain.doFilter(request, response);</a:t>
            </a:r>
          </a:p>
          <a:p>
            <a:r>
              <a:rPr sz="1250">
                <a:solidFill>
                  <a:srgbClr val="E6EDF3"/>
                </a:solidFill>
                <a:latin typeface="Consolas"/>
              </a:rPr>
              <a:t>}</a:t>
            </a:r>
          </a:p>
        </p:txBody>
      </p:sp>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Xác thực JWT một lần ở gateway, truyền tenantId + role xuống dịch vụ — không lặp lại ở mỗi service.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Triển khai thực tế — AWS Singapore</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600" b="0">
                <a:solidFill>
                  <a:srgbClr val="222222"/>
                </a:solidFill>
              </a:rPr>
              <a:t>• Vùng ap-southeast-1: 2× EC2 t3.micro (backend + core/frontend) + RDS PostgreSQL db.t3.micro + S3</a:t>
            </a:r>
          </a:p>
          <a:p>
            <a:pPr>
              <a:spcAft>
                <a:spcPts val="600"/>
              </a:spcAft>
            </a:pPr>
            <a:r>
              <a:rPr sz="1600" b="0">
                <a:solidFill>
                  <a:srgbClr val="222222"/>
                </a:solidFill>
              </a:rPr>
              <a:t>• Cloudflare (DNS, CDN) → AWS ALB (HTTPS) → EC2; SES gửi email; ECR lưu Docker image</a:t>
            </a:r>
          </a:p>
          <a:p>
            <a:pPr>
              <a:spcAft>
                <a:spcPts val="600"/>
              </a:spcAft>
            </a:pPr>
            <a:r>
              <a:rPr sz="1600" b="1">
                <a:solidFill>
                  <a:srgbClr val="1F497D"/>
                </a:solidFill>
              </a:rPr>
              <a:t>• Lý do chọn AWS:</a:t>
            </a:r>
          </a:p>
          <a:p>
            <a:pPr lvl="1">
              <a:spcAft>
                <a:spcPts val="600"/>
              </a:spcAft>
            </a:pPr>
            <a:r>
              <a:rPr sz="1400" b="0">
                <a:solidFill>
                  <a:srgbClr val="222222"/>
                </a:solidFill>
              </a:rPr>
              <a:t>– Đăng ký ổn định cho người dùng Việt Nam; hệ sinh thái trưởng thành (ECR, SES, ALB, Secrets Manager)</a:t>
            </a:r>
          </a:p>
          <a:p>
            <a:pPr lvl="1">
              <a:spcAft>
                <a:spcPts val="600"/>
              </a:spcAft>
            </a:pPr>
            <a:r>
              <a:rPr sz="1400" b="0">
                <a:solidFill>
                  <a:srgbClr val="222222"/>
                </a:solidFill>
              </a:rPr>
              <a:t>– Free Tier 12 tháng cho phép chi phí hạ tầng gần như 0 ở giai đoạn hiện tại</a:t>
            </a:r>
          </a:p>
          <a:p>
            <a:pPr lvl="1">
              <a:spcAft>
                <a:spcPts val="600"/>
              </a:spcAft>
            </a:pPr>
            <a:r>
              <a:rPr sz="1400" b="0">
                <a:solidFill>
                  <a:srgbClr val="222222"/>
                </a:solidFill>
              </a:rPr>
              <a:t>– Chưa chạm ngưỡng PDPL Điều 28 (10k chủ thể) hay Nghị định 53 (1 triệu người dùng)</a:t>
            </a:r>
          </a:p>
          <a:p>
            <a:pPr>
              <a:spcAft>
                <a:spcPts val="600"/>
              </a:spcAft>
            </a:pPr>
            <a:r>
              <a:rPr sz="1600" b="1">
                <a:solidFill>
                  <a:srgbClr val="606060"/>
                </a:solidFill>
              </a:rPr>
              <a:t>• Phát triển sau: chuyển AWS Hà Nội Local Zone hoặc Viettel/VNG Cloud khi đạt ngưỡng lưu trữ trong nước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CI/CD và giám sát vận hành</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600" b="1">
                <a:solidFill>
                  <a:srgbClr val="1F497D"/>
                </a:solidFill>
              </a:rPr>
              <a:t>• CI/CD — GitHub Actions:</a:t>
            </a:r>
          </a:p>
          <a:p>
            <a:pPr lvl="1">
              <a:spcAft>
                <a:spcPts val="600"/>
              </a:spcAft>
            </a:pPr>
            <a:r>
              <a:rPr sz="1400" b="0">
                <a:solidFill>
                  <a:srgbClr val="222222"/>
                </a:solidFill>
              </a:rPr>
              <a:t>– OIDC role assumption — không lưu AWS access key tĩnh trong secrets</a:t>
            </a:r>
          </a:p>
          <a:p>
            <a:pPr lvl="1">
              <a:spcAft>
                <a:spcPts val="600"/>
              </a:spcAft>
            </a:pPr>
            <a:r>
              <a:rPr sz="1400" b="0">
                <a:solidFill>
                  <a:srgbClr val="222222"/>
                </a:solidFill>
              </a:rPr>
              <a:t>– Docker tag bất biến theo SHA commit; Terraform plan-trước-apply + xác nhận thủ công</a:t>
            </a:r>
          </a:p>
          <a:p>
            <a:pPr lvl="1">
              <a:spcAft>
                <a:spcPts val="600"/>
              </a:spcAft>
            </a:pPr>
            <a:r>
              <a:rPr sz="1400" b="0">
                <a:solidFill>
                  <a:srgbClr val="222222"/>
                </a:solidFill>
              </a:rPr>
              <a:t>– Mọi terraform apply phải có audit artifact kiểm tra trạng thái trước khi chạy</a:t>
            </a:r>
          </a:p>
          <a:p>
            <a:pPr>
              <a:spcAft>
                <a:spcPts val="600"/>
              </a:spcAft>
            </a:pPr>
            <a:r>
              <a:rPr sz="1600" b="1">
                <a:solidFill>
                  <a:srgbClr val="1F497D"/>
                </a:solidFill>
              </a:rPr>
              <a:t>• Giám sát 3 lớp:</a:t>
            </a:r>
          </a:p>
          <a:p>
            <a:pPr lvl="1">
              <a:spcAft>
                <a:spcPts val="600"/>
              </a:spcAft>
            </a:pPr>
            <a:r>
              <a:rPr sz="1400" b="0">
                <a:solidFill>
                  <a:srgbClr val="222222"/>
                </a:solidFill>
              </a:rPr>
              <a:t>– CloudTrail — audit mọi lời gọi AWS API (bật trước khi tạo tài nguyên production)</a:t>
            </a:r>
          </a:p>
          <a:p>
            <a:pPr lvl="1">
              <a:spcAft>
                <a:spcPts val="600"/>
              </a:spcAft>
            </a:pPr>
            <a:r>
              <a:rPr sz="1400" b="0">
                <a:solidFill>
                  <a:srgbClr val="222222"/>
                </a:solidFill>
              </a:rPr>
              <a:t>– CloudWatch — log JSON có cấu trúc + cảnh báo (CPU &gt;80%, ALB 5xx &gt;1%)</a:t>
            </a:r>
          </a:p>
          <a:p>
            <a:pPr lvl="1">
              <a:spcAft>
                <a:spcPts val="600"/>
              </a:spcAft>
            </a:pPr>
            <a:r>
              <a:rPr sz="1400" b="0">
                <a:solidFill>
                  <a:srgbClr val="222222"/>
                </a:solidFill>
              </a:rPr>
              <a:t>– Prometheus + Grafana — metric ứng dụng (độ trễ outbox, request, bộ nhớ JVM)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Phương pháp luận phát triển hướng chất lượng</a:t>
            </a:r>
          </a:p>
        </p:txBody>
      </p:sp>
      <p:graphicFrame>
        <p:nvGraphicFramePr>
          <p:cNvPr id="3" name="Table 2"/>
          <p:cNvGraphicFramePr>
            <a:graphicFrameLocks noGrp="1"/>
          </p:cNvGraphicFramePr>
          <p:nvPr/>
        </p:nvGraphicFramePr>
        <p:xfrm>
          <a:off x="548640" y="1737360"/>
          <a:ext cx="11155680" cy="1828800"/>
        </p:xfrm>
        <a:graphic>
          <a:graphicData uri="http://schemas.openxmlformats.org/drawingml/2006/table">
            <a:tbl>
              <a:tblPr firstRow="1" bandRow="1">
                <a:tableStyleId>{5C22544A-7EE6-4342-B048-85BDC9FD1C3A}</a:tableStyleId>
              </a:tblPr>
              <a:tblGrid>
                <a:gridCol w="2743200"/>
                <a:gridCol w="8412480"/>
              </a:tblGrid>
              <a:tr h="365760">
                <a:tc>
                  <a:txBody>
                    <a:bodyPr/>
                    <a:lstStyle/>
                    <a:p>
                      <a:r>
                        <a:rPr sz="1200" b="1">
                          <a:solidFill>
                            <a:srgbClr val="FFFFFF"/>
                          </a:solidFill>
                        </a:rPr>
                        <a:t>Trụ cột</a:t>
                      </a:r>
                    </a:p>
                  </a:txBody>
                  <a:tcPr marL="54864" marR="54864" marT="18288" marB="18288" anchor="ctr">
                    <a:solidFill>
                      <a:srgbClr val="1F497D"/>
                    </a:solidFill>
                  </a:tcPr>
                </a:tc>
                <a:tc>
                  <a:txBody>
                    <a:bodyPr/>
                    <a:lstStyle/>
                    <a:p>
                      <a:r>
                        <a:rPr sz="1200" b="1">
                          <a:solidFill>
                            <a:srgbClr val="FFFFFF"/>
                          </a:solidFill>
                        </a:rPr>
                        <a:t>Cách áp dụng</a:t>
                      </a:r>
                    </a:p>
                  </a:txBody>
                  <a:tcPr marL="54864" marR="54864" marT="18288" marB="18288" anchor="ctr">
                    <a:solidFill>
                      <a:srgbClr val="1F497D"/>
                    </a:solidFill>
                  </a:tcPr>
                </a:tc>
              </a:tr>
              <a:tr h="365760">
                <a:tc>
                  <a:txBody>
                    <a:bodyPr/>
                    <a:lstStyle/>
                    <a:p>
                      <a:r>
                        <a:rPr sz="1400"/>
                        <a:t>Vòng lặp ngắn</a:t>
                      </a:r>
                    </a:p>
                  </a:txBody>
                  <a:tcPr marL="54864" marR="54864" marT="18288" marB="18288" anchor="ctr">
                    <a:solidFill>
                      <a:srgbClr val="FFFFFF"/>
                    </a:solidFill>
                  </a:tcPr>
                </a:tc>
                <a:tc>
                  <a:txBody>
                    <a:bodyPr/>
                    <a:lstStyle/>
                    <a:p>
                      <a:r>
                        <a:rPr sz="1400"/>
                        <a:t>Mỗi chu kỳ 1–3 ngày với phạm vi và tiêu chí nghiệm thu rõ ràng</a:t>
                      </a:r>
                    </a:p>
                  </a:txBody>
                  <a:tcPr marL="54864" marR="54864" marT="18288" marB="18288" anchor="ctr">
                    <a:solidFill>
                      <a:srgbClr val="FFFFFF"/>
                    </a:solidFill>
                  </a:tcPr>
                </a:tc>
              </a:tr>
              <a:tr h="365760">
                <a:tc>
                  <a:txBody>
                    <a:bodyPr/>
                    <a:lstStyle/>
                    <a:p>
                      <a:r>
                        <a:rPr sz="1400"/>
                        <a:t>Kiểm thử trước</a:t>
                      </a:r>
                    </a:p>
                  </a:txBody>
                  <a:tcPr marL="54864" marR="54864" marT="18288" marB="18288" anchor="ctr">
                    <a:solidFill>
                      <a:srgbClr val="EEF3FA"/>
                    </a:solidFill>
                  </a:tcPr>
                </a:tc>
                <a:tc>
                  <a:txBody>
                    <a:bodyPr/>
                    <a:lstStyle/>
                    <a:p>
                      <a:r>
                        <a:rPr sz="1400"/>
                        <a:t>Unit + integration test viết trước/song song; mục tiêu coverage ≥70%</a:t>
                      </a:r>
                    </a:p>
                  </a:txBody>
                  <a:tcPr marL="54864" marR="54864" marT="18288" marB="18288" anchor="ctr">
                    <a:solidFill>
                      <a:srgbClr val="EEF3FA"/>
                    </a:solidFill>
                  </a:tcPr>
                </a:tc>
              </a:tr>
              <a:tr h="365760">
                <a:tc>
                  <a:txBody>
                    <a:bodyPr/>
                    <a:lstStyle/>
                    <a:p>
                      <a:r>
                        <a:rPr sz="1400"/>
                        <a:t>Đánh giá theo kỳ (audit)</a:t>
                      </a:r>
                    </a:p>
                  </a:txBody>
                  <a:tcPr marL="54864" marR="54864" marT="18288" marB="18288" anchor="ctr">
                    <a:solidFill>
                      <a:srgbClr val="FFFFFF"/>
                    </a:solidFill>
                  </a:tcPr>
                </a:tc>
                <a:tc>
                  <a:txBody>
                    <a:bodyPr/>
                    <a:lstStyle/>
                    <a:p>
                      <a:r>
                        <a:rPr sz="1400"/>
                        <a:t>Mỗi miền có chu kỳ audit: bảo mật / hiệu năng / nghiệp vụ / giao diện / vận hành</a:t>
                      </a:r>
                    </a:p>
                  </a:txBody>
                  <a:tcPr marL="54864" marR="54864" marT="18288" marB="18288" anchor="ctr">
                    <a:solidFill>
                      <a:srgbClr val="FFFFFF"/>
                    </a:solidFill>
                  </a:tcPr>
                </a:tc>
              </a:tr>
              <a:tr h="365760">
                <a:tc>
                  <a:txBody>
                    <a:bodyPr/>
                    <a:lstStyle/>
                    <a:p>
                      <a:r>
                        <a:rPr sz="1400"/>
                        <a:t>Chuẩn hóa quy tắc</a:t>
                      </a:r>
                    </a:p>
                  </a:txBody>
                  <a:tcPr marL="54864" marR="54864" marT="18288" marB="18288" anchor="ctr">
                    <a:solidFill>
                      <a:srgbClr val="EEF3FA"/>
                    </a:solidFill>
                  </a:tcPr>
                </a:tc>
                <a:tc>
                  <a:txBody>
                    <a:bodyPr/>
                    <a:lstStyle/>
                    <a:p>
                      <a:r>
                        <a:rPr sz="1400"/>
                        <a:t>Mỗi sai sót phát hiện → quy tắc + cơ chế kiểm tra tự động + kiểm thử lại</a:t>
                      </a:r>
                    </a:p>
                  </a:txBody>
                  <a:tcPr marL="54864" marR="54864" marT="18288" marB="18288" anchor="ctr">
                    <a:solidFill>
                      <a:srgbClr val="EEF3FA"/>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Cơ sở lý thuyết: Deming PDCA, Beck TDD, Poppendieck Lean, IEEE 730-2014 SQA.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Kết quả đánh giá — các chỉ số chính</a:t>
            </a:r>
          </a:p>
        </p:txBody>
      </p:sp>
      <p:graphicFrame>
        <p:nvGraphicFramePr>
          <p:cNvPr id="3" name="Table 2"/>
          <p:cNvGraphicFramePr>
            <a:graphicFrameLocks noGrp="1"/>
          </p:cNvGraphicFramePr>
          <p:nvPr/>
        </p:nvGraphicFramePr>
        <p:xfrm>
          <a:off x="548640" y="1691640"/>
          <a:ext cx="11155680" cy="1828800"/>
        </p:xfrm>
        <a:graphic>
          <a:graphicData uri="http://schemas.openxmlformats.org/drawingml/2006/table">
            <a:tbl>
              <a:tblPr firstRow="1" bandRow="1">
                <a:tableStyleId>{5C22544A-7EE6-4342-B048-85BDC9FD1C3A}</a:tableStyleId>
              </a:tblPr>
              <a:tblGrid>
                <a:gridCol w="1828800"/>
                <a:gridCol w="1554480"/>
                <a:gridCol w="1554480"/>
                <a:gridCol w="1005840"/>
                <a:gridCol w="5212080"/>
              </a:tblGrid>
              <a:tr h="365760">
                <a:tc>
                  <a:txBody>
                    <a:bodyPr/>
                    <a:lstStyle/>
                    <a:p>
                      <a:r>
                        <a:rPr sz="1200" b="1">
                          <a:solidFill>
                            <a:srgbClr val="FFFFFF"/>
                          </a:solidFill>
                        </a:rPr>
                        <a:t>Hạng mục</a:t>
                      </a:r>
                    </a:p>
                  </a:txBody>
                  <a:tcPr marL="54864" marR="54864" marT="18288" marB="18288" anchor="ctr">
                    <a:solidFill>
                      <a:srgbClr val="1F497D"/>
                    </a:solidFill>
                  </a:tcPr>
                </a:tc>
                <a:tc>
                  <a:txBody>
                    <a:bodyPr/>
                    <a:lstStyle/>
                    <a:p>
                      <a:r>
                        <a:rPr sz="1200" b="1">
                          <a:solidFill>
                            <a:srgbClr val="FFFFFF"/>
                          </a:solidFill>
                        </a:rPr>
                        <a:t>Baseline</a:t>
                      </a:r>
                    </a:p>
                  </a:txBody>
                  <a:tcPr marL="54864" marR="54864" marT="18288" marB="18288" anchor="ctr">
                    <a:solidFill>
                      <a:srgbClr val="1F497D"/>
                    </a:solidFill>
                  </a:tcPr>
                </a:tc>
                <a:tc>
                  <a:txBody>
                    <a:bodyPr/>
                    <a:lstStyle/>
                    <a:p>
                      <a:r>
                        <a:rPr sz="1200" b="1">
                          <a:solidFill>
                            <a:srgbClr val="FFFFFF"/>
                          </a:solidFill>
                        </a:rPr>
                        <a:t>Hiện tại</a:t>
                      </a:r>
                    </a:p>
                  </a:txBody>
                  <a:tcPr marL="54864" marR="54864" marT="18288" marB="18288" anchor="ctr">
                    <a:solidFill>
                      <a:srgbClr val="1F497D"/>
                    </a:solidFill>
                  </a:tcPr>
                </a:tc>
                <a:tc>
                  <a:txBody>
                    <a:bodyPr/>
                    <a:lstStyle/>
                    <a:p>
                      <a:r>
                        <a:rPr sz="1200" b="1">
                          <a:solidFill>
                            <a:srgbClr val="FFFFFF"/>
                          </a:solidFill>
                        </a:rPr>
                        <a:t>Tăng</a:t>
                      </a:r>
                    </a:p>
                  </a:txBody>
                  <a:tcPr marL="54864" marR="54864" marT="18288" marB="18288" anchor="ctr">
                    <a:solidFill>
                      <a:srgbClr val="1F497D"/>
                    </a:solidFill>
                  </a:tcPr>
                </a:tc>
                <a:tc>
                  <a:txBody>
                    <a:bodyPr/>
                    <a:lstStyle/>
                    <a:p>
                      <a:r>
                        <a:rPr sz="1200" b="1">
                          <a:solidFill>
                            <a:srgbClr val="FFFFFF"/>
                          </a:solidFill>
                        </a:rPr>
                        <a:t>Động lực cải tiến</a:t>
                      </a:r>
                    </a:p>
                  </a:txBody>
                  <a:tcPr marL="54864" marR="54864" marT="18288" marB="18288" anchor="ctr">
                    <a:solidFill>
                      <a:srgbClr val="1F497D"/>
                    </a:solidFill>
                  </a:tcPr>
                </a:tc>
              </a:tr>
              <a:tr h="365760">
                <a:tc>
                  <a:txBody>
                    <a:bodyPr/>
                    <a:lstStyle/>
                    <a:p>
                      <a:r>
                        <a:rPr sz="1250"/>
                        <a:t>Hiệu năng</a:t>
                      </a:r>
                    </a:p>
                  </a:txBody>
                  <a:tcPr marL="54864" marR="54864" marT="18288" marB="18288" anchor="ctr">
                    <a:solidFill>
                      <a:srgbClr val="FFFFFF"/>
                    </a:solidFill>
                  </a:tcPr>
                </a:tc>
                <a:tc>
                  <a:txBody>
                    <a:bodyPr/>
                    <a:lstStyle/>
                    <a:p>
                      <a:r>
                        <a:rPr sz="1250"/>
                        <a:t>81/100 B</a:t>
                      </a:r>
                    </a:p>
                  </a:txBody>
                  <a:tcPr marL="54864" marR="54864" marT="18288" marB="18288" anchor="ctr">
                    <a:solidFill>
                      <a:srgbClr val="FFFFFF"/>
                    </a:solidFill>
                  </a:tcPr>
                </a:tc>
                <a:tc>
                  <a:txBody>
                    <a:bodyPr/>
                    <a:lstStyle/>
                    <a:p>
                      <a:r>
                        <a:rPr sz="1250"/>
                        <a:t>86/100 B+</a:t>
                      </a:r>
                    </a:p>
                  </a:txBody>
                  <a:tcPr marL="54864" marR="54864" marT="18288" marB="18288" anchor="ctr">
                    <a:solidFill>
                      <a:srgbClr val="FFFFFF"/>
                    </a:solidFill>
                  </a:tcPr>
                </a:tc>
                <a:tc>
                  <a:txBody>
                    <a:bodyPr/>
                    <a:lstStyle/>
                    <a:p>
                      <a:r>
                        <a:rPr sz="1250"/>
                        <a:t>+5</a:t>
                      </a:r>
                    </a:p>
                  </a:txBody>
                  <a:tcPr marL="54864" marR="54864" marT="18288" marB="18288" anchor="ctr">
                    <a:solidFill>
                      <a:srgbClr val="FFFFFF"/>
                    </a:solidFill>
                  </a:tcPr>
                </a:tc>
                <a:tc>
                  <a:txBody>
                    <a:bodyPr/>
                    <a:lstStyle/>
                    <a:p>
                      <a:r>
                        <a:rPr sz="1250"/>
                        <a:t>RLS NULL force-fail, reset GUC, phân trang con trỏ</a:t>
                      </a:r>
                    </a:p>
                  </a:txBody>
                  <a:tcPr marL="54864" marR="54864" marT="18288" marB="18288" anchor="ctr">
                    <a:solidFill>
                      <a:srgbClr val="FFFFFF"/>
                    </a:solidFill>
                  </a:tcPr>
                </a:tc>
              </a:tr>
              <a:tr h="365760">
                <a:tc>
                  <a:txBody>
                    <a:bodyPr/>
                    <a:lstStyle/>
                    <a:p>
                      <a:r>
                        <a:rPr sz="1250"/>
                        <a:t>Bảo mật</a:t>
                      </a:r>
                    </a:p>
                  </a:txBody>
                  <a:tcPr marL="54864" marR="54864" marT="18288" marB="18288" anchor="ctr">
                    <a:solidFill>
                      <a:srgbClr val="EEF3FA"/>
                    </a:solidFill>
                  </a:tcPr>
                </a:tc>
                <a:tc>
                  <a:txBody>
                    <a:bodyPr/>
                    <a:lstStyle/>
                    <a:p>
                      <a:r>
                        <a:rPr sz="1250"/>
                        <a:t>76/100 C+</a:t>
                      </a:r>
                    </a:p>
                  </a:txBody>
                  <a:tcPr marL="54864" marR="54864" marT="18288" marB="18288" anchor="ctr">
                    <a:solidFill>
                      <a:srgbClr val="EEF3FA"/>
                    </a:solidFill>
                  </a:tcPr>
                </a:tc>
                <a:tc>
                  <a:txBody>
                    <a:bodyPr/>
                    <a:lstStyle/>
                    <a:p>
                      <a:r>
                        <a:rPr sz="1250"/>
                        <a:t>93/100 A</a:t>
                      </a:r>
                    </a:p>
                  </a:txBody>
                  <a:tcPr marL="54864" marR="54864" marT="18288" marB="18288" anchor="ctr">
                    <a:solidFill>
                      <a:srgbClr val="EEF3FA"/>
                    </a:solidFill>
                  </a:tcPr>
                </a:tc>
                <a:tc>
                  <a:txBody>
                    <a:bodyPr/>
                    <a:lstStyle/>
                    <a:p>
                      <a:r>
                        <a:rPr sz="1250"/>
                        <a:t>+17</a:t>
                      </a:r>
                    </a:p>
                  </a:txBody>
                  <a:tcPr marL="54864" marR="54864" marT="18288" marB="18288" anchor="ctr">
                    <a:solidFill>
                      <a:srgbClr val="EEF3FA"/>
                    </a:solidFill>
                  </a:tcPr>
                </a:tc>
                <a:tc>
                  <a:txBody>
                    <a:bodyPr/>
                    <a:lstStyle/>
                    <a:p>
                      <a:r>
                        <a:rPr sz="1250"/>
                        <a:t>Audit OWASP, audit_logs bất biến (V60), chặn bypass admin</a:t>
                      </a:r>
                    </a:p>
                  </a:txBody>
                  <a:tcPr marL="54864" marR="54864" marT="18288" marB="18288" anchor="ctr">
                    <a:solidFill>
                      <a:srgbClr val="EEF3FA"/>
                    </a:solidFill>
                  </a:tcPr>
                </a:tc>
              </a:tr>
              <a:tr h="365760">
                <a:tc>
                  <a:txBody>
                    <a:bodyPr/>
                    <a:lstStyle/>
                    <a:p>
                      <a:r>
                        <a:rPr sz="1250"/>
                        <a:t>Chất lượng</a:t>
                      </a:r>
                    </a:p>
                  </a:txBody>
                  <a:tcPr marL="54864" marR="54864" marT="18288" marB="18288" anchor="ctr">
                    <a:solidFill>
                      <a:srgbClr val="FFFFFF"/>
                    </a:solidFill>
                  </a:tcPr>
                </a:tc>
                <a:tc>
                  <a:txBody>
                    <a:bodyPr/>
                    <a:lstStyle/>
                    <a:p>
                      <a:r>
                        <a:rPr sz="1250"/>
                        <a:t>78/110 C+</a:t>
                      </a:r>
                    </a:p>
                  </a:txBody>
                  <a:tcPr marL="54864" marR="54864" marT="18288" marB="18288" anchor="ctr">
                    <a:solidFill>
                      <a:srgbClr val="FFFFFF"/>
                    </a:solidFill>
                  </a:tcPr>
                </a:tc>
                <a:tc>
                  <a:txBody>
                    <a:bodyPr/>
                    <a:lstStyle/>
                    <a:p>
                      <a:r>
                        <a:rPr sz="1250"/>
                        <a:t>90/110 B+</a:t>
                      </a:r>
                    </a:p>
                  </a:txBody>
                  <a:tcPr marL="54864" marR="54864" marT="18288" marB="18288" anchor="ctr">
                    <a:solidFill>
                      <a:srgbClr val="FFFFFF"/>
                    </a:solidFill>
                  </a:tcPr>
                </a:tc>
                <a:tc>
                  <a:txBody>
                    <a:bodyPr/>
                    <a:lstStyle/>
                    <a:p>
                      <a:r>
                        <a:rPr sz="1250"/>
                        <a:t>+12</a:t>
                      </a:r>
                    </a:p>
                  </a:txBody>
                  <a:tcPr marL="54864" marR="54864" marT="18288" marB="18288" anchor="ctr">
                    <a:solidFill>
                      <a:srgbClr val="FFFFFF"/>
                    </a:solidFill>
                  </a:tcPr>
                </a:tc>
                <a:tc>
                  <a:txBody>
                    <a:bodyPr/>
                    <a:lstStyle/>
                    <a:p>
                      <a:r>
                        <a:rPr sz="1250"/>
                        <a:t>Coverage test, giám sát, sẵn sàng vận hành</a:t>
                      </a:r>
                    </a:p>
                  </a:txBody>
                  <a:tcPr marL="54864" marR="54864" marT="18288" marB="18288" anchor="ctr">
                    <a:solidFill>
                      <a:srgbClr val="FFFFFF"/>
                    </a:solidFill>
                  </a:tcPr>
                </a:tc>
              </a:tr>
              <a:tr h="365760">
                <a:tc>
                  <a:txBody>
                    <a:bodyPr/>
                    <a:lstStyle/>
                    <a:p>
                      <a:r>
                        <a:rPr sz="1250"/>
                        <a:t>Tải (RPS)</a:t>
                      </a:r>
                    </a:p>
                  </a:txBody>
                  <a:tcPr marL="54864" marR="54864" marT="18288" marB="18288" anchor="ctr">
                    <a:solidFill>
                      <a:srgbClr val="EEF3FA"/>
                    </a:solidFill>
                  </a:tcPr>
                </a:tc>
                <a:tc>
                  <a:txBody>
                    <a:bodyPr/>
                    <a:lstStyle/>
                    <a:p>
                      <a:r>
                        <a:rPr sz="1250"/>
                        <a:t>—</a:t>
                      </a:r>
                    </a:p>
                  </a:txBody>
                  <a:tcPr marL="54864" marR="54864" marT="18288" marB="18288" anchor="ctr">
                    <a:solidFill>
                      <a:srgbClr val="EEF3FA"/>
                    </a:solidFill>
                  </a:tcPr>
                </a:tc>
                <a:tc>
                  <a:txBody>
                    <a:bodyPr/>
                    <a:lstStyle/>
                    <a:p>
                      <a:r>
                        <a:rPr sz="1250"/>
                        <a:t>≥100k</a:t>
                      </a:r>
                    </a:p>
                  </a:txBody>
                  <a:tcPr marL="54864" marR="54864" marT="18288" marB="18288" anchor="ctr">
                    <a:solidFill>
                      <a:srgbClr val="EEF3FA"/>
                    </a:solidFill>
                  </a:tcPr>
                </a:tc>
                <a:tc>
                  <a:txBody>
                    <a:bodyPr/>
                    <a:lstStyle/>
                    <a:p>
                      <a:r>
                        <a:rPr sz="1250"/>
                        <a:t>—</a:t>
                      </a:r>
                    </a:p>
                  </a:txBody>
                  <a:tcPr marL="54864" marR="54864" marT="18288" marB="18288" anchor="ctr">
                    <a:solidFill>
                      <a:srgbClr val="EEF3FA"/>
                    </a:solidFill>
                  </a:tcPr>
                </a:tc>
                <a:tc>
                  <a:txBody>
                    <a:bodyPr/>
                    <a:lstStyle/>
                    <a:p>
                      <a:r>
                        <a:rPr sz="1250"/>
                        <a:t>Kiểm thử tải Locust — dư địa cho cohort mời thử</a:t>
                      </a:r>
                    </a:p>
                  </a:txBody>
                  <a:tcPr marL="54864" marR="54864" marT="18288" marB="18288" anchor="ctr">
                    <a:solidFill>
                      <a:srgbClr val="EEF3FA"/>
                    </a:solidFill>
                  </a:tcPr>
                </a:tc>
              </a:tr>
            </a:tbl>
          </a:graphicData>
        </a:graphic>
      </p:graphicFrame>
      <p:sp>
        <p:nvSpPr>
          <p:cNvPr id="4" name="TextBox 3"/>
          <p:cNvSpPr txBox="1"/>
          <p:nvPr/>
        </p:nvSpPr>
        <p:spPr>
          <a:xfrm>
            <a:off x="640080" y="6309360"/>
            <a:ext cx="10881360" cy="457200"/>
          </a:xfrm>
          <a:prstGeom prst="rect">
            <a:avLst/>
          </a:prstGeom>
          <a:noFill/>
        </p:spPr>
        <p:txBody>
          <a:bodyPr wrap="none">
            <a:spAutoFit/>
          </a:bodyPr>
          <a:lstStyle/>
          <a:p>
            <a:r>
              <a:rPr sz="1100" i="1">
                <a:solidFill>
                  <a:srgbClr val="606060"/>
                </a:solidFill>
              </a:rPr>
              <a:t>Mỗi điểm số gắn audit report có evidence block trong báo cáo Chương 4 — không phải tự nhận định.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1F497D"/>
                </a:solidFill>
              </a:rPr>
              <a:t>Demo trực tiếp</a:t>
            </a:r>
          </a:p>
        </p:txBody>
      </p:sp>
      <p:sp>
        <p:nvSpPr>
          <p:cNvPr id="3" name="Text Placeholder 2"/>
          <p:cNvSpPr>
            <a:spLocks noGrp="1"/>
          </p:cNvSpPr>
          <p:nvPr>
            <p:ph type="body" idx="1"/>
          </p:nvPr>
        </p:nvSpPr>
        <p:spPr/>
        <p:txBody>
          <a:bodyPr/>
          <a:lstStyle/>
          <a:p>
            <a:r>
              <a:rPr sz="1600"/>
              <a:t>Luồng: khách tham quan → đăng ký onboarding → wizard tạo tenant → chứng minh cô lập đa-tenant</a:t>
            </a:r>
          </a:p>
          <a:p>
            <a:r>
              <a:rPr sz="1600"/>
              <a:t>Dự phòng: video backup nếu có sự cố mạng/hạ tầng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Hạn chế thừa nhận và hướng phát triển</a:t>
            </a:r>
          </a:p>
        </p:txBody>
      </p:sp>
      <p:sp>
        <p:nvSpPr>
          <p:cNvPr id="3" name="TextBox 2"/>
          <p:cNvSpPr txBox="1"/>
          <p:nvPr/>
        </p:nvSpPr>
        <p:spPr>
          <a:xfrm>
            <a:off x="640080" y="1463040"/>
            <a:ext cx="10881360" cy="4754880"/>
          </a:xfrm>
          <a:prstGeom prst="rect">
            <a:avLst/>
          </a:prstGeom>
          <a:noFill/>
        </p:spPr>
        <p:txBody>
          <a:bodyPr wrap="square">
            <a:spAutoFit/>
          </a:bodyPr>
          <a:lstStyle/>
          <a:p>
            <a:pPr>
              <a:spcAft>
                <a:spcPts val="600"/>
              </a:spcAft>
            </a:pPr>
            <a:r>
              <a:rPr sz="1600" b="1">
                <a:solidFill>
                  <a:srgbClr val="C0504D"/>
                </a:solidFill>
              </a:rPr>
              <a:t>• Hạn chế hiện tại:</a:t>
            </a:r>
          </a:p>
          <a:p>
            <a:pPr lvl="1">
              <a:spcAft>
                <a:spcPts val="600"/>
              </a:spcAft>
            </a:pPr>
            <a:r>
              <a:rPr sz="1400" b="0">
                <a:solidFill>
                  <a:srgbClr val="222222"/>
                </a:solidFill>
              </a:rPr>
              <a:t>– Hạ tầng 2× t3.micro bộ nhớ hạn chế; chưa có failover đa vùng sẵn sàng (multi-AZ)</a:t>
            </a:r>
          </a:p>
          <a:p>
            <a:pPr lvl="1">
              <a:spcAft>
                <a:spcPts val="600"/>
              </a:spcAft>
            </a:pPr>
            <a:r>
              <a:rPr sz="1400" b="0">
                <a:solidFill>
                  <a:srgbClr val="222222"/>
                </a:solidFill>
              </a:rPr>
              <a:t>– Chưa lưu trữ dữ liệu trong nước — kích hoạt chuyển vùng khi vượt ngưỡng người dùng</a:t>
            </a:r>
          </a:p>
          <a:p>
            <a:pPr lvl="1">
              <a:spcAft>
                <a:spcPts val="600"/>
              </a:spcAft>
            </a:pPr>
            <a:r>
              <a:rPr sz="1400" b="0">
                <a:solidFill>
                  <a:srgbClr val="222222"/>
                </a:solidFill>
              </a:rPr>
              <a:t>– Quality gate AI dùng bộ lọc của provider; chưa tự huấn luyện bộ phân loại brand-fit</a:t>
            </a:r>
          </a:p>
          <a:p>
            <a:pPr lvl="1">
              <a:spcAft>
                <a:spcPts val="600"/>
              </a:spcAft>
            </a:pPr>
            <a:r>
              <a:rPr sz="1400" b="0">
                <a:solidFill>
                  <a:srgbClr val="222222"/>
                </a:solidFill>
              </a:rPr>
              <a:t>– Chưa có ứng dụng di động native — người dùng truy cập qua web responsive</a:t>
            </a:r>
          </a:p>
          <a:p>
            <a:pPr>
              <a:spcAft>
                <a:spcPts val="600"/>
              </a:spcAft>
            </a:pPr>
            <a:r>
              <a:rPr sz="1600" b="1">
                <a:solidFill>
                  <a:srgbClr val="16A34A"/>
                </a:solidFill>
              </a:rPr>
              <a:t>• Hướng phát triển sau:</a:t>
            </a:r>
          </a:p>
          <a:p>
            <a:pPr lvl="1">
              <a:spcAft>
                <a:spcPts val="600"/>
              </a:spcAft>
            </a:pPr>
            <a:r>
              <a:rPr sz="1400" b="0">
                <a:solidFill>
                  <a:srgbClr val="222222"/>
                </a:solidFill>
              </a:rPr>
              <a:t>– Mở đăng ký công khai, nâng cấp hạ tầng, kích hoạt cổng thanh toán MoMo/VNPay</a:t>
            </a:r>
          </a:p>
          <a:p>
            <a:pPr lvl="1">
              <a:spcAft>
                <a:spcPts val="600"/>
              </a:spcAft>
            </a:pPr>
            <a:r>
              <a:rPr sz="1400" b="0">
                <a:solidFill>
                  <a:srgbClr val="222222"/>
                </a:solidFill>
              </a:rPr>
              <a:t>– Tích hợp hóa đơn điện tử (MISA MeInvoice), kênh Zalo OA, mở rộng khối K-12 sau khi có legal counsel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Kết luận</a:t>
            </a:r>
          </a:p>
        </p:txBody>
      </p:sp>
      <p:sp>
        <p:nvSpPr>
          <p:cNvPr id="3" name="TextBox 2"/>
          <p:cNvSpPr txBox="1"/>
          <p:nvPr/>
        </p:nvSpPr>
        <p:spPr>
          <a:xfrm>
            <a:off x="640080" y="1645920"/>
            <a:ext cx="10881360" cy="4754880"/>
          </a:xfrm>
          <a:prstGeom prst="rect">
            <a:avLst/>
          </a:prstGeom>
          <a:noFill/>
        </p:spPr>
        <p:txBody>
          <a:bodyPr wrap="square">
            <a:spAutoFit/>
          </a:bodyPr>
          <a:lstStyle/>
          <a:p>
            <a:pPr>
              <a:spcAft>
                <a:spcPts val="600"/>
              </a:spcAft>
            </a:pPr>
            <a:r>
              <a:rPr sz="1800" b="1">
                <a:solidFill>
                  <a:srgbClr val="1F497D"/>
                </a:solidFill>
              </a:rPr>
              <a:t>• Ba đóng góp chính của đề tài:</a:t>
            </a:r>
          </a:p>
          <a:p>
            <a:pPr lvl="1">
              <a:spcAft>
                <a:spcPts val="600"/>
              </a:spcAft>
            </a:pPr>
            <a:r>
              <a:rPr sz="1600" b="0">
                <a:solidFill>
                  <a:srgbClr val="222222"/>
                </a:solidFill>
              </a:rPr>
              <a:t>– Kỹ thuật AI Branding tự động — sinh bộ nhận diện thương hiệu chi phí thấp, bất đồng bộ</a:t>
            </a:r>
          </a:p>
          <a:p>
            <a:pPr lvl="1">
              <a:spcAft>
                <a:spcPts val="600"/>
              </a:spcAft>
            </a:pPr>
            <a:r>
              <a:rPr sz="1600" b="0">
                <a:solidFill>
                  <a:srgbClr val="222222"/>
                </a:solidFill>
              </a:rPr>
              <a:t>– Kiến trúc đa-tenant cô lập bằng PostgreSQL RLS — bảo mật nhiều lớp, mở rộng tốt</a:t>
            </a:r>
          </a:p>
          <a:p>
            <a:pPr lvl="1">
              <a:spcAft>
                <a:spcPts val="600"/>
              </a:spcAft>
            </a:pPr>
            <a:r>
              <a:rPr sz="1600" b="0">
                <a:solidFill>
                  <a:srgbClr val="222222"/>
                </a:solidFill>
              </a:rPr>
              <a:t>– Phương pháp luận phát triển hướng chất lượng — audit có evidence, chuẩn hóa quy tắc</a:t>
            </a:r>
          </a:p>
          <a:p>
            <a:pPr>
              <a:spcAft>
                <a:spcPts val="600"/>
              </a:spcAft>
            </a:pPr>
            <a:r>
              <a:rPr sz="1800" b="0">
                <a:solidFill>
                  <a:srgbClr val="222222"/>
                </a:solidFill>
              </a:rPr>
              <a:t>• Sản phẩm đã triển khai thực tế trên AWS, đạt các ngưỡng đánh giá hiệu năng/bảo mật/chất lượng</a:t>
            </a:r>
          </a:p>
          <a:p>
            <a:pPr>
              <a:spcAft>
                <a:spcPts val="600"/>
              </a:spcAft>
            </a:pPr>
            <a:r>
              <a:rPr sz="1800" b="1">
                <a:solidFill>
                  <a:srgbClr val="1F497D"/>
                </a:solidFill>
              </a:rPr>
              <a:t>• Em xin chân thành cảm ơn thầy Nguyễn Đức Dư và quý hội đồng — sẵn sàng trả lời câu hỏi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 Slide dự phòng cho phần hỏi đáp</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A1 — So sánh 4 phương pháp sinh ảnh</a:t>
            </a:r>
          </a:p>
        </p:txBody>
      </p:sp>
      <p:graphicFrame>
        <p:nvGraphicFramePr>
          <p:cNvPr id="3" name="Table 2"/>
          <p:cNvGraphicFramePr>
            <a:graphicFrameLocks noGrp="1"/>
          </p:cNvGraphicFramePr>
          <p:nvPr/>
        </p:nvGraphicFramePr>
        <p:xfrm>
          <a:off x="548640" y="1737360"/>
          <a:ext cx="11155680" cy="1828800"/>
        </p:xfrm>
        <a:graphic>
          <a:graphicData uri="http://schemas.openxmlformats.org/drawingml/2006/table">
            <a:tbl>
              <a:tblPr firstRow="1" bandRow="1">
                <a:tableStyleId>{5C22544A-7EE6-4342-B048-85BDC9FD1C3A}</a:tableStyleId>
              </a:tblPr>
              <a:tblGrid>
                <a:gridCol w="2468880"/>
                <a:gridCol w="2011680"/>
                <a:gridCol w="1737360"/>
                <a:gridCol w="1645920"/>
                <a:gridCol w="1280160"/>
                <a:gridCol w="2011680"/>
              </a:tblGrid>
              <a:tr h="365760">
                <a:tc>
                  <a:txBody>
                    <a:bodyPr/>
                    <a:lstStyle/>
                    <a:p>
                      <a:r>
                        <a:rPr sz="1200" b="1">
                          <a:solidFill>
                            <a:srgbClr val="FFFFFF"/>
                          </a:solidFill>
                        </a:rPr>
                        <a:t>Mô hình</a:t>
                      </a:r>
                    </a:p>
                  </a:txBody>
                  <a:tcPr marL="54864" marR="54864" marT="18288" marB="18288" anchor="ctr">
                    <a:solidFill>
                      <a:srgbClr val="1F497D"/>
                    </a:solidFill>
                  </a:tcPr>
                </a:tc>
                <a:tc>
                  <a:txBody>
                    <a:bodyPr/>
                    <a:lstStyle/>
                    <a:p>
                      <a:r>
                        <a:rPr sz="1200" b="1">
                          <a:solidFill>
                            <a:srgbClr val="FFFFFF"/>
                          </a:solidFill>
                        </a:rPr>
                        <a:t>Provider</a:t>
                      </a:r>
                    </a:p>
                  </a:txBody>
                  <a:tcPr marL="54864" marR="54864" marT="18288" marB="18288" anchor="ctr">
                    <a:solidFill>
                      <a:srgbClr val="1F497D"/>
                    </a:solidFill>
                  </a:tcPr>
                </a:tc>
                <a:tc>
                  <a:txBody>
                    <a:bodyPr/>
                    <a:lstStyle/>
                    <a:p>
                      <a:r>
                        <a:rPr sz="1200" b="1">
                          <a:solidFill>
                            <a:srgbClr val="FFFFFF"/>
                          </a:solidFill>
                        </a:rPr>
                        <a:t>Chi phí/ảnh</a:t>
                      </a:r>
                    </a:p>
                  </a:txBody>
                  <a:tcPr marL="54864" marR="54864" marT="18288" marB="18288" anchor="ctr">
                    <a:solidFill>
                      <a:srgbClr val="1F497D"/>
                    </a:solidFill>
                  </a:tcPr>
                </a:tc>
                <a:tc>
                  <a:txBody>
                    <a:bodyPr/>
                    <a:lstStyle/>
                    <a:p>
                      <a:r>
                        <a:rPr sz="1200" b="1">
                          <a:solidFill>
                            <a:srgbClr val="FFFFFF"/>
                          </a:solidFill>
                        </a:rPr>
                        <a:t>Chất lượng</a:t>
                      </a:r>
                    </a:p>
                  </a:txBody>
                  <a:tcPr marL="54864" marR="54864" marT="18288" marB="18288" anchor="ctr">
                    <a:solidFill>
                      <a:srgbClr val="1F497D"/>
                    </a:solidFill>
                  </a:tcPr>
                </a:tc>
                <a:tc>
                  <a:txBody>
                    <a:bodyPr/>
                    <a:lstStyle/>
                    <a:p>
                      <a:r>
                        <a:rPr sz="1200" b="1">
                          <a:solidFill>
                            <a:srgbClr val="FFFFFF"/>
                          </a:solidFill>
                        </a:rPr>
                        <a:t>Độ trễ</a:t>
                      </a:r>
                    </a:p>
                  </a:txBody>
                  <a:tcPr marL="54864" marR="54864" marT="18288" marB="18288" anchor="ctr">
                    <a:solidFill>
                      <a:srgbClr val="1F497D"/>
                    </a:solidFill>
                  </a:tcPr>
                </a:tc>
                <a:tc>
                  <a:txBody>
                    <a:bodyPr/>
                    <a:lstStyle/>
                    <a:p>
                      <a:r>
                        <a:rPr sz="1200" b="1">
                          <a:solidFill>
                            <a:srgbClr val="FFFFFF"/>
                          </a:solidFill>
                        </a:rPr>
                        <a:t>Quyết định</a:t>
                      </a:r>
                    </a:p>
                  </a:txBody>
                  <a:tcPr marL="54864" marR="54864" marT="18288" marB="18288" anchor="ctr">
                    <a:solidFill>
                      <a:srgbClr val="1F497D"/>
                    </a:solidFill>
                  </a:tcPr>
                </a:tc>
              </a:tr>
              <a:tr h="365760">
                <a:tc>
                  <a:txBody>
                    <a:bodyPr/>
                    <a:lstStyle/>
                    <a:p>
                      <a:r>
                        <a:rPr sz="1250"/>
                        <a:t>Stable Diffusion XL</a:t>
                      </a:r>
                    </a:p>
                  </a:txBody>
                  <a:tcPr marL="54864" marR="54864" marT="18288" marB="18288" anchor="ctr">
                    <a:solidFill>
                      <a:srgbClr val="FFFFFF"/>
                    </a:solidFill>
                  </a:tcPr>
                </a:tc>
                <a:tc>
                  <a:txBody>
                    <a:bodyPr/>
                    <a:lstStyle/>
                    <a:p>
                      <a:r>
                        <a:rPr sz="1250"/>
                        <a:t>Replicate</a:t>
                      </a:r>
                    </a:p>
                  </a:txBody>
                  <a:tcPr marL="54864" marR="54864" marT="18288" marB="18288" anchor="ctr">
                    <a:solidFill>
                      <a:srgbClr val="FFFFFF"/>
                    </a:solidFill>
                  </a:tcPr>
                </a:tc>
                <a:tc>
                  <a:txBody>
                    <a:bodyPr/>
                    <a:lstStyle/>
                    <a:p>
                      <a:r>
                        <a:rPr sz="1250"/>
                        <a:t>~0,0012 USD</a:t>
                      </a:r>
                    </a:p>
                  </a:txBody>
                  <a:tcPr marL="54864" marR="54864" marT="18288" marB="18288" anchor="ctr">
                    <a:solidFill>
                      <a:srgbClr val="FFFFFF"/>
                    </a:solidFill>
                  </a:tcPr>
                </a:tc>
                <a:tc>
                  <a:txBody>
                    <a:bodyPr/>
                    <a:lstStyle/>
                    <a:p>
                      <a:r>
                        <a:rPr sz="1250"/>
                        <a:t>Cao</a:t>
                      </a:r>
                    </a:p>
                  </a:txBody>
                  <a:tcPr marL="54864" marR="54864" marT="18288" marB="18288" anchor="ctr">
                    <a:solidFill>
                      <a:srgbClr val="FFFFFF"/>
                    </a:solidFill>
                  </a:tcPr>
                </a:tc>
                <a:tc>
                  <a:txBody>
                    <a:bodyPr/>
                    <a:lstStyle/>
                    <a:p>
                      <a:r>
                        <a:rPr sz="1250"/>
                        <a:t>4–8s</a:t>
                      </a:r>
                    </a:p>
                  </a:txBody>
                  <a:tcPr marL="54864" marR="54864" marT="18288" marB="18288" anchor="ctr">
                    <a:solidFill>
                      <a:srgbClr val="FFFFFF"/>
                    </a:solidFill>
                  </a:tcPr>
                </a:tc>
                <a:tc>
                  <a:txBody>
                    <a:bodyPr/>
                    <a:lstStyle/>
                    <a:p>
                      <a:r>
                        <a:rPr sz="1250"/>
                        <a:t>Áp dụng chính</a:t>
                      </a:r>
                    </a:p>
                  </a:txBody>
                  <a:tcPr marL="54864" marR="54864" marT="18288" marB="18288" anchor="ctr">
                    <a:solidFill>
                      <a:srgbClr val="FFFFFF"/>
                    </a:solidFill>
                  </a:tcPr>
                </a:tc>
              </a:tr>
              <a:tr h="365760">
                <a:tc>
                  <a:txBody>
                    <a:bodyPr/>
                    <a:lstStyle/>
                    <a:p>
                      <a:r>
                        <a:rPr sz="1250"/>
                        <a:t>SDXL Turbo</a:t>
                      </a:r>
                    </a:p>
                  </a:txBody>
                  <a:tcPr marL="54864" marR="54864" marT="18288" marB="18288" anchor="ctr">
                    <a:solidFill>
                      <a:srgbClr val="EEF3FA"/>
                    </a:solidFill>
                  </a:tcPr>
                </a:tc>
                <a:tc>
                  <a:txBody>
                    <a:bodyPr/>
                    <a:lstStyle/>
                    <a:p>
                      <a:r>
                        <a:rPr sz="1250"/>
                        <a:t>Hugging Face</a:t>
                      </a:r>
                    </a:p>
                  </a:txBody>
                  <a:tcPr marL="54864" marR="54864" marT="18288" marB="18288" anchor="ctr">
                    <a:solidFill>
                      <a:srgbClr val="EEF3FA"/>
                    </a:solidFill>
                  </a:tcPr>
                </a:tc>
                <a:tc>
                  <a:txBody>
                    <a:bodyPr/>
                    <a:lstStyle/>
                    <a:p>
                      <a:r>
                        <a:rPr sz="1250"/>
                        <a:t>Free tier</a:t>
                      </a:r>
                    </a:p>
                  </a:txBody>
                  <a:tcPr marL="54864" marR="54864" marT="18288" marB="18288" anchor="ctr">
                    <a:solidFill>
                      <a:srgbClr val="EEF3FA"/>
                    </a:solidFill>
                  </a:tcPr>
                </a:tc>
                <a:tc>
                  <a:txBody>
                    <a:bodyPr/>
                    <a:lstStyle/>
                    <a:p>
                      <a:r>
                        <a:rPr sz="1250"/>
                        <a:t>Khá</a:t>
                      </a:r>
                    </a:p>
                  </a:txBody>
                  <a:tcPr marL="54864" marR="54864" marT="18288" marB="18288" anchor="ctr">
                    <a:solidFill>
                      <a:srgbClr val="EEF3FA"/>
                    </a:solidFill>
                  </a:tcPr>
                </a:tc>
                <a:tc>
                  <a:txBody>
                    <a:bodyPr/>
                    <a:lstStyle/>
                    <a:p>
                      <a:r>
                        <a:rPr sz="1250"/>
                        <a:t>1–2s</a:t>
                      </a:r>
                    </a:p>
                  </a:txBody>
                  <a:tcPr marL="54864" marR="54864" marT="18288" marB="18288" anchor="ctr">
                    <a:solidFill>
                      <a:srgbClr val="EEF3FA"/>
                    </a:solidFill>
                  </a:tcPr>
                </a:tc>
                <a:tc>
                  <a:txBody>
                    <a:bodyPr/>
                    <a:lstStyle/>
                    <a:p>
                      <a:r>
                        <a:rPr sz="1250"/>
                        <a:t>Dự phòng</a:t>
                      </a:r>
                    </a:p>
                  </a:txBody>
                  <a:tcPr marL="54864" marR="54864" marT="18288" marB="18288" anchor="ctr">
                    <a:solidFill>
                      <a:srgbClr val="EEF3FA"/>
                    </a:solidFill>
                  </a:tcPr>
                </a:tc>
              </a:tr>
              <a:tr h="365760">
                <a:tc>
                  <a:txBody>
                    <a:bodyPr/>
                    <a:lstStyle/>
                    <a:p>
                      <a:r>
                        <a:rPr sz="1250"/>
                        <a:t>DALL-E 3</a:t>
                      </a:r>
                    </a:p>
                  </a:txBody>
                  <a:tcPr marL="54864" marR="54864" marT="18288" marB="18288" anchor="ctr">
                    <a:solidFill>
                      <a:srgbClr val="FFFFFF"/>
                    </a:solidFill>
                  </a:tcPr>
                </a:tc>
                <a:tc>
                  <a:txBody>
                    <a:bodyPr/>
                    <a:lstStyle/>
                    <a:p>
                      <a:r>
                        <a:rPr sz="1250"/>
                        <a:t>OpenAI</a:t>
                      </a:r>
                    </a:p>
                  </a:txBody>
                  <a:tcPr marL="54864" marR="54864" marT="18288" marB="18288" anchor="ctr">
                    <a:solidFill>
                      <a:srgbClr val="FFFFFF"/>
                    </a:solidFill>
                  </a:tcPr>
                </a:tc>
                <a:tc>
                  <a:txBody>
                    <a:bodyPr/>
                    <a:lstStyle/>
                    <a:p>
                      <a:r>
                        <a:rPr sz="1250"/>
                        <a:t>~0,04 USD</a:t>
                      </a:r>
                    </a:p>
                  </a:txBody>
                  <a:tcPr marL="54864" marR="54864" marT="18288" marB="18288" anchor="ctr">
                    <a:solidFill>
                      <a:srgbClr val="FFFFFF"/>
                    </a:solidFill>
                  </a:tcPr>
                </a:tc>
                <a:tc>
                  <a:txBody>
                    <a:bodyPr/>
                    <a:lstStyle/>
                    <a:p>
                      <a:r>
                        <a:rPr sz="1250"/>
                        <a:t>Rất cao</a:t>
                      </a:r>
                    </a:p>
                  </a:txBody>
                  <a:tcPr marL="54864" marR="54864" marT="18288" marB="18288" anchor="ctr">
                    <a:solidFill>
                      <a:srgbClr val="FFFFFF"/>
                    </a:solidFill>
                  </a:tcPr>
                </a:tc>
                <a:tc>
                  <a:txBody>
                    <a:bodyPr/>
                    <a:lstStyle/>
                    <a:p>
                      <a:r>
                        <a:rPr sz="1250"/>
                        <a:t>8–12s</a:t>
                      </a:r>
                    </a:p>
                  </a:txBody>
                  <a:tcPr marL="54864" marR="54864" marT="18288" marB="18288" anchor="ctr">
                    <a:solidFill>
                      <a:srgbClr val="FFFFFF"/>
                    </a:solidFill>
                  </a:tcPr>
                </a:tc>
                <a:tc>
                  <a:txBody>
                    <a:bodyPr/>
                    <a:lstStyle/>
                    <a:p>
                      <a:r>
                        <a:rPr sz="1250"/>
                        <a:t>Đắt gấp ~30 lần</a:t>
                      </a:r>
                    </a:p>
                  </a:txBody>
                  <a:tcPr marL="54864" marR="54864" marT="18288" marB="18288" anchor="ctr">
                    <a:solidFill>
                      <a:srgbClr val="FFFFFF"/>
                    </a:solidFill>
                  </a:tcPr>
                </a:tc>
              </a:tr>
              <a:tr h="365760">
                <a:tc>
                  <a:txBody>
                    <a:bodyPr/>
                    <a:lstStyle/>
                    <a:p>
                      <a:r>
                        <a:rPr sz="1250"/>
                        <a:t>Midjourney v6</a:t>
                      </a:r>
                    </a:p>
                  </a:txBody>
                  <a:tcPr marL="54864" marR="54864" marT="18288" marB="18288" anchor="ctr">
                    <a:solidFill>
                      <a:srgbClr val="EEF3FA"/>
                    </a:solidFill>
                  </a:tcPr>
                </a:tc>
                <a:tc>
                  <a:txBody>
                    <a:bodyPr/>
                    <a:lstStyle/>
                    <a:p>
                      <a:r>
                        <a:rPr sz="1250"/>
                        <a:t>—</a:t>
                      </a:r>
                    </a:p>
                  </a:txBody>
                  <a:tcPr marL="54864" marR="54864" marT="18288" marB="18288" anchor="ctr">
                    <a:solidFill>
                      <a:srgbClr val="EEF3FA"/>
                    </a:solidFill>
                  </a:tcPr>
                </a:tc>
                <a:tc>
                  <a:txBody>
                    <a:bodyPr/>
                    <a:lstStyle/>
                    <a:p>
                      <a:r>
                        <a:rPr sz="1250"/>
                        <a:t>—</a:t>
                      </a:r>
                    </a:p>
                  </a:txBody>
                  <a:tcPr marL="54864" marR="54864" marT="18288" marB="18288" anchor="ctr">
                    <a:solidFill>
                      <a:srgbClr val="EEF3FA"/>
                    </a:solidFill>
                  </a:tcPr>
                </a:tc>
                <a:tc>
                  <a:txBody>
                    <a:bodyPr/>
                    <a:lstStyle/>
                    <a:p>
                      <a:r>
                        <a:rPr sz="1250"/>
                        <a:t>Rất cao</a:t>
                      </a:r>
                    </a:p>
                  </a:txBody>
                  <a:tcPr marL="54864" marR="54864" marT="18288" marB="18288" anchor="ctr">
                    <a:solidFill>
                      <a:srgbClr val="EEF3FA"/>
                    </a:solidFill>
                  </a:tcPr>
                </a:tc>
                <a:tc>
                  <a:txBody>
                    <a:bodyPr/>
                    <a:lstStyle/>
                    <a:p>
                      <a:r>
                        <a:rPr sz="1250"/>
                        <a:t>—</a:t>
                      </a:r>
                    </a:p>
                  </a:txBody>
                  <a:tcPr marL="54864" marR="54864" marT="18288" marB="18288" anchor="ctr">
                    <a:solidFill>
                      <a:srgbClr val="EEF3FA"/>
                    </a:solidFill>
                  </a:tcPr>
                </a:tc>
                <a:tc>
                  <a:txBody>
                    <a:bodyPr/>
                    <a:lstStyle/>
                    <a:p>
                      <a:r>
                        <a:rPr sz="1250"/>
                        <a:t>Không có API công khai</a:t>
                      </a:r>
                    </a:p>
                  </a:txBody>
                  <a:tcPr marL="54864" marR="54864" marT="18288" marB="18288" anchor="ctr">
                    <a:solidFill>
                      <a:srgbClr val="EEF3FA"/>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A2 — PDPL 2023: điều luật → tính năng</a:t>
            </a:r>
          </a:p>
        </p:txBody>
      </p:sp>
      <p:graphicFrame>
        <p:nvGraphicFramePr>
          <p:cNvPr id="3" name="Table 2"/>
          <p:cNvGraphicFramePr>
            <a:graphicFrameLocks noGrp="1"/>
          </p:cNvGraphicFramePr>
          <p:nvPr/>
        </p:nvGraphicFramePr>
        <p:xfrm>
          <a:off x="548640" y="1737360"/>
          <a:ext cx="11155680" cy="2194560"/>
        </p:xfrm>
        <a:graphic>
          <a:graphicData uri="http://schemas.openxmlformats.org/drawingml/2006/table">
            <a:tbl>
              <a:tblPr firstRow="1" bandRow="1">
                <a:tableStyleId>{5C22544A-7EE6-4342-B048-85BDC9FD1C3A}</a:tableStyleId>
              </a:tblPr>
              <a:tblGrid>
                <a:gridCol w="1280160"/>
                <a:gridCol w="4206240"/>
                <a:gridCol w="5669280"/>
              </a:tblGrid>
              <a:tr h="365760">
                <a:tc>
                  <a:txBody>
                    <a:bodyPr/>
                    <a:lstStyle/>
                    <a:p>
                      <a:r>
                        <a:rPr sz="1200" b="1">
                          <a:solidFill>
                            <a:srgbClr val="FFFFFF"/>
                          </a:solidFill>
                        </a:rPr>
                        <a:t>Điều</a:t>
                      </a:r>
                    </a:p>
                  </a:txBody>
                  <a:tcPr marL="54864" marR="54864" marT="18288" marB="18288" anchor="ctr">
                    <a:solidFill>
                      <a:srgbClr val="1F497D"/>
                    </a:solidFill>
                  </a:tcPr>
                </a:tc>
                <a:tc>
                  <a:txBody>
                    <a:bodyPr/>
                    <a:lstStyle/>
                    <a:p>
                      <a:r>
                        <a:rPr sz="1200" b="1">
                          <a:solidFill>
                            <a:srgbClr val="FFFFFF"/>
                          </a:solidFill>
                        </a:rPr>
                        <a:t>Yêu cầu</a:t>
                      </a:r>
                    </a:p>
                  </a:txBody>
                  <a:tcPr marL="54864" marR="54864" marT="18288" marB="18288" anchor="ctr">
                    <a:solidFill>
                      <a:srgbClr val="1F497D"/>
                    </a:solidFill>
                  </a:tcPr>
                </a:tc>
                <a:tc>
                  <a:txBody>
                    <a:bodyPr/>
                    <a:lstStyle/>
                    <a:p>
                      <a:r>
                        <a:rPr sz="1200" b="1">
                          <a:solidFill>
                            <a:srgbClr val="FFFFFF"/>
                          </a:solidFill>
                        </a:rPr>
                        <a:t>Cách hiện thực</a:t>
                      </a:r>
                    </a:p>
                  </a:txBody>
                  <a:tcPr marL="54864" marR="54864" marT="18288" marB="18288" anchor="ctr">
                    <a:solidFill>
                      <a:srgbClr val="1F497D"/>
                    </a:solidFill>
                  </a:tcPr>
                </a:tc>
              </a:tr>
              <a:tr h="365760">
                <a:tc>
                  <a:txBody>
                    <a:bodyPr/>
                    <a:lstStyle/>
                    <a:p>
                      <a:r>
                        <a:rPr sz="1250"/>
                        <a:t>Điều 9</a:t>
                      </a:r>
                    </a:p>
                  </a:txBody>
                  <a:tcPr marL="54864" marR="54864" marT="18288" marB="18288" anchor="ctr">
                    <a:solidFill>
                      <a:srgbClr val="FFFFFF"/>
                    </a:solidFill>
                  </a:tcPr>
                </a:tc>
                <a:tc>
                  <a:txBody>
                    <a:bodyPr/>
                    <a:lstStyle/>
                    <a:p>
                      <a:r>
                        <a:rPr sz="1250"/>
                        <a:t>Quyền truy cập dữ liệu của chủ thể</a:t>
                      </a:r>
                    </a:p>
                  </a:txBody>
                  <a:tcPr marL="54864" marR="54864" marT="18288" marB="18288" anchor="ctr">
                    <a:solidFill>
                      <a:srgbClr val="FFFFFF"/>
                    </a:solidFill>
                  </a:tcPr>
                </a:tc>
                <a:tc>
                  <a:txBody>
                    <a:bodyPr/>
                    <a:lstStyle/>
                    <a:p>
                      <a:r>
                        <a:rPr sz="1250"/>
                        <a:t>Endpoint DSAR + dashboard phụ huynh</a:t>
                      </a:r>
                    </a:p>
                  </a:txBody>
                  <a:tcPr marL="54864" marR="54864" marT="18288" marB="18288" anchor="ctr">
                    <a:solidFill>
                      <a:srgbClr val="FFFFFF"/>
                    </a:solidFill>
                  </a:tcPr>
                </a:tc>
              </a:tr>
              <a:tr h="365760">
                <a:tc>
                  <a:txBody>
                    <a:bodyPr/>
                    <a:lstStyle/>
                    <a:p>
                      <a:r>
                        <a:rPr sz="1250"/>
                        <a:t>Điều 11</a:t>
                      </a:r>
                    </a:p>
                  </a:txBody>
                  <a:tcPr marL="54864" marR="54864" marT="18288" marB="18288" anchor="ctr">
                    <a:solidFill>
                      <a:srgbClr val="EEF3FA"/>
                    </a:solidFill>
                  </a:tcPr>
                </a:tc>
                <a:tc>
                  <a:txBody>
                    <a:bodyPr/>
                    <a:lstStyle/>
                    <a:p>
                      <a:r>
                        <a:rPr sz="1250"/>
                        <a:t>Audit log bất biến, chống sửa</a:t>
                      </a:r>
                    </a:p>
                  </a:txBody>
                  <a:tcPr marL="54864" marR="54864" marT="18288" marB="18288" anchor="ctr">
                    <a:solidFill>
                      <a:srgbClr val="EEF3FA"/>
                    </a:solidFill>
                  </a:tcPr>
                </a:tc>
                <a:tc>
                  <a:txBody>
                    <a:bodyPr/>
                    <a:lstStyle/>
                    <a:p>
                      <a:r>
                        <a:rPr sz="1250"/>
                        <a:t>Migration V60 — admin_audit_logs không cho UPDATE/DELETE</a:t>
                      </a:r>
                    </a:p>
                  </a:txBody>
                  <a:tcPr marL="54864" marR="54864" marT="18288" marB="18288" anchor="ctr">
                    <a:solidFill>
                      <a:srgbClr val="EEF3FA"/>
                    </a:solidFill>
                  </a:tcPr>
                </a:tc>
              </a:tr>
              <a:tr h="365760">
                <a:tc>
                  <a:txBody>
                    <a:bodyPr/>
                    <a:lstStyle/>
                    <a:p>
                      <a:r>
                        <a:rPr sz="1250"/>
                        <a:t>Điều 16</a:t>
                      </a:r>
                    </a:p>
                  </a:txBody>
                  <a:tcPr marL="54864" marR="54864" marT="18288" marB="18288" anchor="ctr">
                    <a:solidFill>
                      <a:srgbClr val="FFFFFF"/>
                    </a:solidFill>
                  </a:tcPr>
                </a:tc>
                <a:tc>
                  <a:txBody>
                    <a:bodyPr/>
                    <a:lstStyle/>
                    <a:p>
                      <a:r>
                        <a:rPr sz="1250"/>
                        <a:t>Consent cụ thể theo từng mục đích</a:t>
                      </a:r>
                    </a:p>
                  </a:txBody>
                  <a:tcPr marL="54864" marR="54864" marT="18288" marB="18288" anchor="ctr">
                    <a:solidFill>
                      <a:srgbClr val="FFFFFF"/>
                    </a:solidFill>
                  </a:tcPr>
                </a:tc>
                <a:tc>
                  <a:txBody>
                    <a:bodyPr/>
                    <a:lstStyle/>
                    <a:p>
                      <a:r>
                        <a:rPr sz="1250"/>
                        <a:t>Bảng consent_record + luồng thu hồi</a:t>
                      </a:r>
                    </a:p>
                  </a:txBody>
                  <a:tcPr marL="54864" marR="54864" marT="18288" marB="18288" anchor="ctr">
                    <a:solidFill>
                      <a:srgbClr val="FFFFFF"/>
                    </a:solidFill>
                  </a:tcPr>
                </a:tc>
              </a:tr>
              <a:tr h="365760">
                <a:tc>
                  <a:txBody>
                    <a:bodyPr/>
                    <a:lstStyle/>
                    <a:p>
                      <a:r>
                        <a:rPr sz="1250"/>
                        <a:t>Điều 28</a:t>
                      </a:r>
                    </a:p>
                  </a:txBody>
                  <a:tcPr marL="54864" marR="54864" marT="18288" marB="18288" anchor="ctr">
                    <a:solidFill>
                      <a:srgbClr val="EEF3FA"/>
                    </a:solidFill>
                  </a:tcPr>
                </a:tc>
                <a:tc>
                  <a:txBody>
                    <a:bodyPr/>
                    <a:lstStyle/>
                    <a:p>
                      <a:r>
                        <a:rPr sz="1250"/>
                        <a:t>DPO khi &gt;10k chủ thể</a:t>
                      </a:r>
                    </a:p>
                  </a:txBody>
                  <a:tcPr marL="54864" marR="54864" marT="18288" marB="18288" anchor="ctr">
                    <a:solidFill>
                      <a:srgbClr val="EEF3FA"/>
                    </a:solidFill>
                  </a:tcPr>
                </a:tc>
                <a:tc>
                  <a:txBody>
                    <a:bodyPr/>
                    <a:lstStyle/>
                    <a:p>
                      <a:r>
                        <a:rPr sz="1250"/>
                        <a:t>Hiện &lt;1000 chủ thể — chưa kích hoạt; có lộ trình</a:t>
                      </a:r>
                    </a:p>
                  </a:txBody>
                  <a:tcPr marL="54864" marR="54864" marT="18288" marB="18288" anchor="ctr">
                    <a:solidFill>
                      <a:srgbClr val="EEF3FA"/>
                    </a:solidFill>
                  </a:tcPr>
                </a:tc>
              </a:tr>
              <a:tr h="365760">
                <a:tc>
                  <a:txBody>
                    <a:bodyPr/>
                    <a:lstStyle/>
                    <a:p>
                      <a:r>
                        <a:rPr sz="1250"/>
                        <a:t>Điều 30</a:t>
                      </a:r>
                    </a:p>
                  </a:txBody>
                  <a:tcPr marL="54864" marR="54864" marT="18288" marB="18288" anchor="ctr">
                    <a:solidFill>
                      <a:srgbClr val="FFFFFF"/>
                    </a:solidFill>
                  </a:tcPr>
                </a:tc>
                <a:tc>
                  <a:txBody>
                    <a:bodyPr/>
                    <a:lstStyle/>
                    <a:p>
                      <a:r>
                        <a:rPr sz="1250"/>
                        <a:t>Báo vi phạm trong 72h</a:t>
                      </a:r>
                    </a:p>
                  </a:txBody>
                  <a:tcPr marL="54864" marR="54864" marT="18288" marB="18288" anchor="ctr">
                    <a:solidFill>
                      <a:srgbClr val="FFFFFF"/>
                    </a:solidFill>
                  </a:tcPr>
                </a:tc>
                <a:tc>
                  <a:txBody>
                    <a:bodyPr/>
                    <a:lstStyle/>
                    <a:p>
                      <a:r>
                        <a:rPr sz="1250"/>
                        <a:t>Quy trình incident response + cảnh báo CloudWatch SNS</a:t>
                      </a:r>
                    </a:p>
                  </a:txBody>
                  <a:tcPr marL="54864" marR="54864" marT="18288" marB="18288"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A3 — Luồng xác thực và truy vấn</a:t>
            </a:r>
          </a:p>
        </p:txBody>
      </p:sp>
      <p:sp>
        <p:nvSpPr>
          <p:cNvPr id="3" name="TextBox 2"/>
          <p:cNvSpPr txBox="1"/>
          <p:nvPr/>
        </p:nvSpPr>
        <p:spPr>
          <a:xfrm>
            <a:off x="640080" y="1645920"/>
            <a:ext cx="10881360" cy="4754880"/>
          </a:xfrm>
          <a:prstGeom prst="rect">
            <a:avLst/>
          </a:prstGeom>
          <a:noFill/>
        </p:spPr>
        <p:txBody>
          <a:bodyPr wrap="square">
            <a:spAutoFit/>
          </a:bodyPr>
          <a:lstStyle/>
          <a:p>
            <a:pPr>
              <a:spcAft>
                <a:spcPts val="600"/>
              </a:spcAft>
            </a:pPr>
            <a:r>
              <a:rPr sz="1700" b="0">
                <a:solidFill>
                  <a:srgbClr val="222222"/>
                </a:solidFill>
              </a:rPr>
              <a:t>• Người dùng đăng nhập (email + mật khẩu) → Frontend gọi POST /api/auth/login</a:t>
            </a:r>
          </a:p>
          <a:p>
            <a:pPr>
              <a:spcAft>
                <a:spcPts val="600"/>
              </a:spcAft>
            </a:pPr>
            <a:r>
              <a:rPr sz="1700" b="0">
                <a:solidFill>
                  <a:srgbClr val="222222"/>
                </a:solidFill>
              </a:rPr>
              <a:t>• Gateway xác thực, dịch vụ trả JWT chứa tenantId + role; set HttpOnly cookie</a:t>
            </a:r>
          </a:p>
          <a:p>
            <a:pPr>
              <a:spcAft>
                <a:spcPts val="600"/>
              </a:spcAft>
            </a:pPr>
            <a:r>
              <a:rPr sz="1700" b="0">
                <a:solidFill>
                  <a:srgbClr val="222222"/>
                </a:solidFill>
              </a:rPr>
              <a:t>• Request có cookie → Gateway verify JWT, trích tenantId, forward kèm header X-Tenant-Id</a:t>
            </a:r>
          </a:p>
          <a:p>
            <a:pPr>
              <a:spcAft>
                <a:spcPts val="600"/>
              </a:spcAft>
            </a:pPr>
            <a:r>
              <a:rPr sz="1700" b="0">
                <a:solidFill>
                  <a:srgbClr val="222222"/>
                </a:solidFill>
              </a:rPr>
              <a:t>• Dịch vụ set app.current_tenant_id rồi truy vấn → Postgres tự lọc theo RLS policy</a:t>
            </a:r>
          </a:p>
          <a:p>
            <a:pPr>
              <a:spcAft>
                <a:spcPts val="600"/>
              </a:spcAft>
            </a:pPr>
            <a:r>
              <a:rPr sz="1700" b="1">
                <a:solidFill>
                  <a:srgbClr val="16A34A"/>
                </a:solidFill>
              </a:rPr>
              <a:t>• Kết quả chỉ chứa dữ liệu của đúng tenant — không có WHERE tenant_id viết tay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A4 — Phân tích chi phí</a:t>
            </a:r>
          </a:p>
        </p:txBody>
      </p:sp>
      <p:graphicFrame>
        <p:nvGraphicFramePr>
          <p:cNvPr id="3" name="Table 2"/>
          <p:cNvGraphicFramePr>
            <a:graphicFrameLocks noGrp="1"/>
          </p:cNvGraphicFramePr>
          <p:nvPr/>
        </p:nvGraphicFramePr>
        <p:xfrm>
          <a:off x="548640" y="1737360"/>
          <a:ext cx="11155680" cy="2194560"/>
        </p:xfrm>
        <a:graphic>
          <a:graphicData uri="http://schemas.openxmlformats.org/drawingml/2006/table">
            <a:tbl>
              <a:tblPr firstRow="1" bandRow="1">
                <a:tableStyleId>{5C22544A-7EE6-4342-B048-85BDC9FD1C3A}</a:tableStyleId>
              </a:tblPr>
              <a:tblGrid>
                <a:gridCol w="3108960"/>
                <a:gridCol w="2743200"/>
                <a:gridCol w="5303520"/>
              </a:tblGrid>
              <a:tr h="365760">
                <a:tc>
                  <a:txBody>
                    <a:bodyPr/>
                    <a:lstStyle/>
                    <a:p>
                      <a:r>
                        <a:rPr sz="1200" b="1">
                          <a:solidFill>
                            <a:srgbClr val="FFFFFF"/>
                          </a:solidFill>
                        </a:rPr>
                        <a:t>Hạng mục</a:t>
                      </a:r>
                    </a:p>
                  </a:txBody>
                  <a:tcPr marL="54864" marR="54864" marT="18288" marB="18288" anchor="ctr">
                    <a:solidFill>
                      <a:srgbClr val="1F497D"/>
                    </a:solidFill>
                  </a:tcPr>
                </a:tc>
                <a:tc>
                  <a:txBody>
                    <a:bodyPr/>
                    <a:lstStyle/>
                    <a:p>
                      <a:r>
                        <a:rPr sz="1200" b="1">
                          <a:solidFill>
                            <a:srgbClr val="FFFFFF"/>
                          </a:solidFill>
                        </a:rPr>
                        <a:t>Chi phí hiện tại</a:t>
                      </a:r>
                    </a:p>
                  </a:txBody>
                  <a:tcPr marL="54864" marR="54864" marT="18288" marB="18288" anchor="ctr">
                    <a:solidFill>
                      <a:srgbClr val="1F497D"/>
                    </a:solidFill>
                  </a:tcPr>
                </a:tc>
                <a:tc>
                  <a:txBody>
                    <a:bodyPr/>
                    <a:lstStyle/>
                    <a:p>
                      <a:r>
                        <a:rPr sz="1200" b="1">
                          <a:solidFill>
                            <a:srgbClr val="FFFFFF"/>
                          </a:solidFill>
                        </a:rPr>
                        <a:t>Ghi chú</a:t>
                      </a:r>
                    </a:p>
                  </a:txBody>
                  <a:tcPr marL="54864" marR="54864" marT="18288" marB="18288" anchor="ctr">
                    <a:solidFill>
                      <a:srgbClr val="1F497D"/>
                    </a:solidFill>
                  </a:tcPr>
                </a:tc>
              </a:tr>
              <a:tr h="365760">
                <a:tc>
                  <a:txBody>
                    <a:bodyPr/>
                    <a:lstStyle/>
                    <a:p>
                      <a:r>
                        <a:rPr sz="1300"/>
                        <a:t>AWS Free Tier (12 tháng)</a:t>
                      </a:r>
                    </a:p>
                  </a:txBody>
                  <a:tcPr marL="54864" marR="54864" marT="18288" marB="18288" anchor="ctr">
                    <a:solidFill>
                      <a:srgbClr val="FFFFFF"/>
                    </a:solidFill>
                  </a:tcPr>
                </a:tc>
                <a:tc>
                  <a:txBody>
                    <a:bodyPr/>
                    <a:lstStyle/>
                    <a:p>
                      <a:r>
                        <a:rPr sz="1300"/>
                        <a:t>0 USD/tháng</a:t>
                      </a:r>
                    </a:p>
                  </a:txBody>
                  <a:tcPr marL="54864" marR="54864" marT="18288" marB="18288" anchor="ctr">
                    <a:solidFill>
                      <a:srgbClr val="FFFFFF"/>
                    </a:solidFill>
                  </a:tcPr>
                </a:tc>
                <a:tc>
                  <a:txBody>
                    <a:bodyPr/>
                    <a:lstStyle/>
                    <a:p>
                      <a:r>
                        <a:rPr sz="1300"/>
                        <a:t>2× t3.micro + RDS db.t3.micro + 5GB S3</a:t>
                      </a:r>
                    </a:p>
                  </a:txBody>
                  <a:tcPr marL="54864" marR="54864" marT="18288" marB="18288" anchor="ctr">
                    <a:solidFill>
                      <a:srgbClr val="FFFFFF"/>
                    </a:solidFill>
                  </a:tcPr>
                </a:tc>
              </a:tr>
              <a:tr h="365760">
                <a:tc>
                  <a:txBody>
                    <a:bodyPr/>
                    <a:lstStyle/>
                    <a:p>
                      <a:r>
                        <a:rPr sz="1300"/>
                        <a:t>AWS SES email</a:t>
                      </a:r>
                    </a:p>
                  </a:txBody>
                  <a:tcPr marL="54864" marR="54864" marT="18288" marB="18288" anchor="ctr">
                    <a:solidFill>
                      <a:srgbClr val="EEF3FA"/>
                    </a:solidFill>
                  </a:tcPr>
                </a:tc>
                <a:tc>
                  <a:txBody>
                    <a:bodyPr/>
                    <a:lstStyle/>
                    <a:p>
                      <a:r>
                        <a:rPr sz="1300"/>
                        <a:t>0 USD/tháng</a:t>
                      </a:r>
                    </a:p>
                  </a:txBody>
                  <a:tcPr marL="54864" marR="54864" marT="18288" marB="18288" anchor="ctr">
                    <a:solidFill>
                      <a:srgbClr val="EEF3FA"/>
                    </a:solidFill>
                  </a:tcPr>
                </a:tc>
                <a:tc>
                  <a:txBody>
                    <a:bodyPr/>
                    <a:lstStyle/>
                    <a:p>
                      <a:r>
                        <a:rPr sz="1300"/>
                        <a:t>62k email/tháng miễn phí khi gửi từ EC2</a:t>
                      </a:r>
                    </a:p>
                  </a:txBody>
                  <a:tcPr marL="54864" marR="54864" marT="18288" marB="18288" anchor="ctr">
                    <a:solidFill>
                      <a:srgbClr val="EEF3FA"/>
                    </a:solidFill>
                  </a:tcPr>
                </a:tc>
              </a:tr>
              <a:tr h="365760">
                <a:tc>
                  <a:txBody>
                    <a:bodyPr/>
                    <a:lstStyle/>
                    <a:p>
                      <a:r>
                        <a:rPr sz="1300"/>
                        <a:t>AI Branding (Replicate)</a:t>
                      </a:r>
                    </a:p>
                  </a:txBody>
                  <a:tcPr marL="54864" marR="54864" marT="18288" marB="18288" anchor="ctr">
                    <a:solidFill>
                      <a:srgbClr val="FFFFFF"/>
                    </a:solidFill>
                  </a:tcPr>
                </a:tc>
                <a:tc>
                  <a:txBody>
                    <a:bodyPr/>
                    <a:lstStyle/>
                    <a:p>
                      <a:r>
                        <a:rPr sz="1300"/>
                        <a:t>~0,0036 USD/tenant</a:t>
                      </a:r>
                    </a:p>
                  </a:txBody>
                  <a:tcPr marL="54864" marR="54864" marT="18288" marB="18288" anchor="ctr">
                    <a:solidFill>
                      <a:srgbClr val="FFFFFF"/>
                    </a:solidFill>
                  </a:tcPr>
                </a:tc>
                <a:tc>
                  <a:txBody>
                    <a:bodyPr/>
                    <a:lstStyle/>
                    <a:p>
                      <a:r>
                        <a:rPr sz="1300"/>
                        <a:t>3 ảnh × 0,0012 USD</a:t>
                      </a:r>
                    </a:p>
                  </a:txBody>
                  <a:tcPr marL="54864" marR="54864" marT="18288" marB="18288" anchor="ctr">
                    <a:solidFill>
                      <a:srgbClr val="FFFFFF"/>
                    </a:solidFill>
                  </a:tcPr>
                </a:tc>
              </a:tr>
              <a:tr h="365760">
                <a:tc>
                  <a:txBody>
                    <a:bodyPr/>
                    <a:lstStyle/>
                    <a:p>
                      <a:r>
                        <a:rPr sz="1300"/>
                        <a:t>Cloudflare DNS + CDN</a:t>
                      </a:r>
                    </a:p>
                  </a:txBody>
                  <a:tcPr marL="54864" marR="54864" marT="18288" marB="18288" anchor="ctr">
                    <a:solidFill>
                      <a:srgbClr val="EEF3FA"/>
                    </a:solidFill>
                  </a:tcPr>
                </a:tc>
                <a:tc>
                  <a:txBody>
                    <a:bodyPr/>
                    <a:lstStyle/>
                    <a:p>
                      <a:r>
                        <a:rPr sz="1300"/>
                        <a:t>0 USD/tháng</a:t>
                      </a:r>
                    </a:p>
                  </a:txBody>
                  <a:tcPr marL="54864" marR="54864" marT="18288" marB="18288" anchor="ctr">
                    <a:solidFill>
                      <a:srgbClr val="EEF3FA"/>
                    </a:solidFill>
                  </a:tcPr>
                </a:tc>
                <a:tc>
                  <a:txBody>
                    <a:bodyPr/>
                    <a:lstStyle/>
                    <a:p>
                      <a:r>
                        <a:rPr sz="1300"/>
                        <a:t>Gói Free đủ dùng</a:t>
                      </a:r>
                    </a:p>
                  </a:txBody>
                  <a:tcPr marL="54864" marR="54864" marT="18288" marB="18288" anchor="ctr">
                    <a:solidFill>
                      <a:srgbClr val="EEF3FA"/>
                    </a:solidFill>
                  </a:tcPr>
                </a:tc>
              </a:tr>
              <a:tr h="365760">
                <a:tc>
                  <a:txBody>
                    <a:bodyPr/>
                    <a:lstStyle/>
                    <a:p>
                      <a:r>
                        <a:rPr sz="1300"/>
                        <a:t>Tên miền kitehub.me</a:t>
                      </a:r>
                    </a:p>
                  </a:txBody>
                  <a:tcPr marL="54864" marR="54864" marT="18288" marB="18288" anchor="ctr">
                    <a:solidFill>
                      <a:srgbClr val="FFFFFF"/>
                    </a:solidFill>
                  </a:tcPr>
                </a:tc>
                <a:tc>
                  <a:txBody>
                    <a:bodyPr/>
                    <a:lstStyle/>
                    <a:p>
                      <a:r>
                        <a:rPr sz="1300"/>
                        <a:t>~9 USD/năm</a:t>
                      </a:r>
                    </a:p>
                  </a:txBody>
                  <a:tcPr marL="54864" marR="54864" marT="18288" marB="18288" anchor="ctr">
                    <a:solidFill>
                      <a:srgbClr val="FFFFFF"/>
                    </a:solidFill>
                  </a:tcPr>
                </a:tc>
                <a:tc>
                  <a:txBody>
                    <a:bodyPr/>
                    <a:lstStyle/>
                    <a:p>
                      <a:r>
                        <a:rPr sz="1300"/>
                        <a:t>Gia hạn hàng năm</a:t>
                      </a:r>
                    </a:p>
                  </a:txBody>
                  <a:tcPr marL="54864" marR="54864" marT="18288" marB="18288"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A5 — Phân khúc và persona mục tiêu</a:t>
            </a:r>
          </a:p>
        </p:txBody>
      </p:sp>
      <p:sp>
        <p:nvSpPr>
          <p:cNvPr id="3" name="TextBox 2"/>
          <p:cNvSpPr txBox="1"/>
          <p:nvPr/>
        </p:nvSpPr>
        <p:spPr>
          <a:xfrm>
            <a:off x="640080" y="1645920"/>
            <a:ext cx="10881360" cy="4754880"/>
          </a:xfrm>
          <a:prstGeom prst="rect">
            <a:avLst/>
          </a:prstGeom>
          <a:noFill/>
        </p:spPr>
        <p:txBody>
          <a:bodyPr wrap="square">
            <a:spAutoFit/>
          </a:bodyPr>
          <a:lstStyle/>
          <a:p>
            <a:pPr>
              <a:spcAft>
                <a:spcPts val="600"/>
              </a:spcAft>
            </a:pPr>
            <a:r>
              <a:rPr sz="1700" b="0">
                <a:solidFill>
                  <a:srgbClr val="222222"/>
                </a:solidFill>
              </a:rPr>
              <a:t>• Định vị: trung tâm dạy thêm vừa-nhỏ (1–10 chi nhánh, 100–2000 học viên)</a:t>
            </a:r>
          </a:p>
          <a:p>
            <a:pPr>
              <a:spcAft>
                <a:spcPts val="600"/>
              </a:spcAft>
            </a:pPr>
            <a:r>
              <a:rPr sz="1700" b="1">
                <a:solidFill>
                  <a:srgbClr val="1F497D"/>
                </a:solidFill>
              </a:rPr>
              <a:t>• Persona chính hiện tại:</a:t>
            </a:r>
          </a:p>
          <a:p>
            <a:pPr lvl="1">
              <a:spcAft>
                <a:spcPts val="600"/>
              </a:spcAft>
            </a:pPr>
            <a:r>
              <a:rPr sz="1500" b="0">
                <a:solidFill>
                  <a:srgbClr val="222222"/>
                </a:solidFill>
              </a:rPr>
              <a:t>– P1 — Giáo viên độc lập (1–50 học viên, tự quản lý)</a:t>
            </a:r>
          </a:p>
          <a:p>
            <a:pPr lvl="1">
              <a:spcAft>
                <a:spcPts val="600"/>
              </a:spcAft>
            </a:pPr>
            <a:r>
              <a:rPr sz="1500" b="0">
                <a:solidFill>
                  <a:srgbClr val="222222"/>
                </a:solidFill>
              </a:rPr>
              <a:t>– P2 — Chủ trung tâm (1–10 chi nhánh, 100–2000 học viên)</a:t>
            </a:r>
          </a:p>
          <a:p>
            <a:pPr lvl="1">
              <a:spcAft>
                <a:spcPts val="600"/>
              </a:spcAft>
            </a:pPr>
            <a:r>
              <a:rPr sz="1500" b="0">
                <a:solidFill>
                  <a:srgbClr val="222222"/>
                </a:solidFill>
              </a:rPr>
              <a:t>– P3 — Quản lý vận hành cấp chi nhánh</a:t>
            </a:r>
          </a:p>
          <a:p>
            <a:pPr>
              <a:spcAft>
                <a:spcPts val="600"/>
              </a:spcAft>
            </a:pPr>
            <a:r>
              <a:rPr sz="1700" b="1">
                <a:solidFill>
                  <a:srgbClr val="606060"/>
                </a:solidFill>
              </a:rPr>
              <a:t>• Persona phát triển sau: phụ huynh, học viên (giao diện riêng)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A6 — Lộ trình mời tenant thực tế</a:t>
            </a:r>
          </a:p>
        </p:txBody>
      </p:sp>
      <p:sp>
        <p:nvSpPr>
          <p:cNvPr id="3" name="TextBox 2"/>
          <p:cNvSpPr txBox="1"/>
          <p:nvPr/>
        </p:nvSpPr>
        <p:spPr>
          <a:xfrm>
            <a:off x="640080" y="1645920"/>
            <a:ext cx="10881360" cy="4754880"/>
          </a:xfrm>
          <a:prstGeom prst="rect">
            <a:avLst/>
          </a:prstGeom>
          <a:noFill/>
        </p:spPr>
        <p:txBody>
          <a:bodyPr wrap="square">
            <a:spAutoFit/>
          </a:bodyPr>
          <a:lstStyle/>
          <a:p>
            <a:pPr>
              <a:spcAft>
                <a:spcPts val="600"/>
              </a:spcAft>
            </a:pPr>
            <a:r>
              <a:rPr sz="1700" b="0">
                <a:solidFill>
                  <a:srgbClr val="222222"/>
                </a:solidFill>
              </a:rPr>
              <a:t>• Tuần 1–2: tiếp cận 10–15 trung tâm tiềm năng qua mạng lưới giáo viên</a:t>
            </a:r>
          </a:p>
          <a:p>
            <a:pPr>
              <a:spcAft>
                <a:spcPts val="600"/>
              </a:spcAft>
            </a:pPr>
            <a:r>
              <a:rPr sz="1700" b="0">
                <a:solidFill>
                  <a:srgbClr val="222222"/>
                </a:solidFill>
              </a:rPr>
              <a:t>• Tuần 3–4: onboarding 4–5 trung tâm — chủ trung tâm tự setup qua wizard</a:t>
            </a:r>
          </a:p>
          <a:p>
            <a:pPr>
              <a:spcAft>
                <a:spcPts val="600"/>
              </a:spcAft>
            </a:pPr>
            <a:r>
              <a:rPr sz="1700" b="0">
                <a:solidFill>
                  <a:srgbClr val="222222"/>
                </a:solidFill>
              </a:rPr>
              <a:t>• Tuần 5–7: vận hành thực tế — quản lý học viên, điểm danh, thanh toán</a:t>
            </a:r>
          </a:p>
          <a:p>
            <a:pPr>
              <a:spcAft>
                <a:spcPts val="600"/>
              </a:spcAft>
            </a:pPr>
            <a:r>
              <a:rPr sz="1700" b="0">
                <a:solidFill>
                  <a:srgbClr val="222222"/>
                </a:solidFill>
              </a:rPr>
              <a:t>• Tuần 8–9: phỏng vấn feedback + thu xác nhận đánh giá có chữ ký, đóng cohort</a:t>
            </a:r>
          </a:p>
          <a:p>
            <a:pPr>
              <a:spcAft>
                <a:spcPts val="600"/>
              </a:spcAft>
            </a:pPr>
            <a:r>
              <a:rPr sz="1700" b="1">
                <a:solidFill>
                  <a:srgbClr val="16A34A"/>
                </a:solidFill>
              </a:rPr>
              <a:t>• Mục tiêu: ≥4 trung tâm ký xác nhận đã dùng thực tế — phụ lục đánh giá Chương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